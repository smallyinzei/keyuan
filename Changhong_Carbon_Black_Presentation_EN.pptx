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33F"/>
                </a:solidFill>
                <a:latin typeface="Calibri"/>
              </a:defRPr>
            </a:pPr>
            <a:r>
              <a:rPr sz="1400" b="0" i="0" u="none" strike="noStrike">
                <a:solidFill>
                  <a:srgbClr val="10233F"/>
                </a:solidFill>
                <a:latin typeface="Calibri"/>
              </a:rPr>
              <a:t>Annual capacity by base (thousand MT)</a:t>
            </a:r>
          </a:p>
        </c:rich>
      </c:tx>
      <c:layout/>
      <c:overlay val="0"/>
    </c:title>
    <c:autoTitleDeleted val="0"/>
    <c:plotArea>
      <c:layout/>
      <c:barChart>
        <c:barDir val="col"/>
        <c:grouping val="clustered"/>
        <c:varyColors val="0"/>
        <c:ser>
          <c:idx val="0"/>
          <c:order val="0"/>
          <c:tx>
            <c:strRef>
              <c:f>Sheet1!$B$1</c:f>
              <c:strCache>
                <c:ptCount val="1"/>
                <c:pt idx="0">
                  <c:v>In operation (2026)</c:v>
                </c:pt>
              </c:strCache>
            </c:strRef>
          </c:tx>
          <c:spPr>
            <a:solidFill>
              <a:srgbClr val="0B4DA2"/>
            </a:solidFill>
            <a:effectLst/>
          </c:spPr>
          <c:invertIfNegative val="0"/>
          <c:dLbls>
            <c:numFmt formatCode="#,##0" sourceLinked="0"/>
            <c:txPr>
              <a:bodyPr/>
              <a:lstStyle/>
              <a:p>
                <a:pPr>
                  <a:defRPr b="1" i="0" strike="noStrike" sz="1200" u="none">
                    <a:solidFill>
                      <a:srgbClr val="1023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Ningbo</c:v>
                  </c:pt>
                  <c:pt idx="1">
                    <c:v>Shengzhou</c:v>
                  </c:pt>
                  <c:pt idx="2">
                    <c:v>Fangchenggang</c:v>
                  </c:pt>
                </c:lvl>
              </c:multiLvlStrCache>
            </c:multiLvlStrRef>
          </c:cat>
          <c:val>
            <c:numRef>
              <c:f>Sheet1!$B$2:$B$4</c:f>
              <c:numCache>
                <c:formatCode>General</c:formatCode>
                <c:ptCount val="3"/>
                <c:pt idx="0">
                  <c:v>80</c:v>
                </c:pt>
                <c:pt idx="1">
                  <c:v>120</c:v>
                </c:pt>
                <c:pt idx="2">
                  <c:v>150</c:v>
                </c:pt>
              </c:numCache>
            </c:numRef>
          </c:val>
        </c:ser>
        <c:ser>
          <c:idx val="1"/>
          <c:order val="1"/>
          <c:tx>
            <c:strRef>
              <c:f>Sheet1!$C$1</c:f>
              <c:strCache>
                <c:ptCount val="1"/>
                <c:pt idx="0">
                  <c:v>Planned total</c:v>
                </c:pt>
              </c:strCache>
            </c:strRef>
          </c:tx>
          <c:spPr>
            <a:solidFill>
              <a:srgbClr val="8DB8EC"/>
            </a:solidFill>
            <a:effectLst/>
          </c:spPr>
          <c:invertIfNegative val="0"/>
          <c:dLbls>
            <c:numFmt formatCode="#,##0" sourceLinked="0"/>
            <c:txPr>
              <a:bodyPr/>
              <a:lstStyle/>
              <a:p>
                <a:pPr>
                  <a:defRPr b="1" i="0" strike="noStrike" sz="1200" u="none">
                    <a:solidFill>
                      <a:srgbClr val="1023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Ningbo</c:v>
                  </c:pt>
                  <c:pt idx="1">
                    <c:v>Shengzhou</c:v>
                  </c:pt>
                  <c:pt idx="2">
                    <c:v>Fangchenggang</c:v>
                  </c:pt>
                </c:lvl>
              </c:multiLvlStrCache>
            </c:multiLvlStrRef>
          </c:cat>
          <c:val>
            <c:numRef>
              <c:f>Sheet1!$C$2:$C$4</c:f>
              <c:numCache>
                <c:formatCode>General</c:formatCode>
                <c:ptCount val="3"/>
                <c:pt idx="0">
                  <c:v>80</c:v>
                </c:pt>
                <c:pt idx="1">
                  <c:v>400</c:v>
                </c:pt>
                <c:pt idx="2">
                  <c:v>520</c:v>
                </c:pt>
              </c:numCache>
            </c:numRef>
          </c:val>
        </c:ser>
        <c:dLbls>
          <c:numFmt formatCode="#,##0" sourceLinked="0"/>
          <c:txPr>
            <a:bodyPr/>
            <a:lstStyle/>
            <a:p>
              <a:pPr>
                <a:defRPr b="1" i="0" strike="noStrike" sz="1200" u="none">
                  <a:solidFill>
                    <a:srgbClr val="10233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0233F"/>
                </a:solidFill>
                <a:latin typeface="Calibri"/>
              </a:defRPr>
            </a:pPr>
            <a:endParaRPr lang="en-US"/>
          </a:p>
        </c:txPr>
        <c:crossAx val="2094734552"/>
        <c:crosses val="autoZero"/>
        <c:auto val="1"/>
        <c:lblAlgn val="ctr"/>
        <c:noMultiLvlLbl val="1"/>
      </c:catAx>
      <c:valAx>
        <c:axId val="2094734552"/>
        <c:scaling>
          <c:orientation val="minMax"/>
          <c:max val="6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thank you for your time. I am Xuzhe Gao from the carbon black team at Zhejiang Changhong Biological Material. Today I will introduce Changhong Carbon Black: who we are, what makes our carbon black different, our main grades, and how we can start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today. First, a short profile of our company and production bases. Second, why our carbon black is different. Third, the product range, grade by grade. Finally, how a new customer moves from samples to regular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who we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Zhejiang Changhong Biological Material Co., Ltd., the producer behind Changhong Carbon Black. We are China’s first carbon black producer to use aromatic-rich oil as feedstock, and our process removes feedstock impurities, so heavy metals test as not detected. We produce a full range of hard and soft blacks at three bases in Zhejiang and Guangxi, with 350,000 tonnes a year in operation and a total planned capacity of one million tonnes. Our customers are tire makers, rubber goods producers, cable and optical-fibre jacket makers, and plastics compounders.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bases. Ningbo, in Zhejiang: 80,000 tonnes a year of N330 and N326, just five kilometres from Ningbo port. Shengzhou, also in Zhejiang: 120,000 tonnes of N330 and N326, with further hard-black grades planned. And Fangchenggang, in Guangxi: our largest base at 150,000 tonnes, making N220, N330, N326, N550 and N660, 35 kilometres from the port and 275 kilometres by road from Hanoi.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keeps growing. From 350,000 tonnes a year in operation today, the plan takes total capacity to one million tonnes, mainly at Shengzhou and Fangchenggang. The expansion adds the hard blacks N220, N234 and N375 at Shengzhou, the soft black N774 at Fangchenggang, and specialty fibre-grade and conductive blacks. For customers this means more grades from one supplier and multi-base supply of the core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Changhong Carbon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on feedstock and process. First, we were the first in China to make carbon black from aromatic-rich oil; our process removes feedstock impurities, so heavy metals test as not detected. Second, energy recovery: steam and tail gas from our carbon black units replace natural gas and purchased steam in neighbouring plants, which keeps our energy use and costs down. Third, the feedstock base: China produced around five million tonnes of ethylene tar in 2024 and eight to twelve million tonnes of FCC slurry oil a year, petrochemical feedstocks that broaden supply beyond coal 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internal controls are tighter than both the national standard and common industry practice. 45-micron sieve residue is controlled within 300 ppm, against a national limit of 1,000 ppm and an industry norm of 500. Heating loss is controlled at 0.8 percent, against 2.5 percent in the national standard. Our N326 reaches 113 percent tint strength, above the 108 percent industry average, which means a deeper, purer black. Heavy metals are not detected, and every lot ships with a 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Our Ningbo base is five kilometres from Ningbo port, with container routes worldwide. Our Fangchenggang base is 35 kilometres from Fangchenggang port and also ships from Qinzhou, with direct sea freight across Southeast Asia, and it is 275 kilometres by road from Hanoi. ASEAN customers can use a Form E or RCEP certificate of origin for preferential duty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carbon black, the wider Changhong business gives customers a one-stop option. Tire makers can source SSBR and LCBR synthetic rubber from Changhong High-Tech together with our carbon black. Cable and optical-fibre customers can source our PBT and calcium carbonate alongside carbon black for shielded jackets. And because each carbon black base runs next to other production units, by-products are used on site, which keeps production 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product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places our five core grades by iodine number, which reflects particle size and reinforcement, and by OAN, which reflects structure. Moving right means finer particles: more reinforcement and abrasion resistance, but more heat build-up; that is N220. Moving up means higher structure: faster extrusion and higher modulus; that is N550. N330 sits in the balanced middle, N326 is the low-structure version of N330, and N660 is the coarse, economical soft black.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N220 is the highest-reinforcing grade in our standard range: ISAF under ASTM, produced at our Fangchenggang base. Iodine number around 121 g/kg, OAN around 114, tint strength around 116. Its core value is abrasion resistance: in passenger, truck and OTR tread compounds it gives a clear gain in tread life over N330. Against the finer N110 and N115, it runs cooler and disperses more easily, so it is the practical balance between wear and processing. Beyond tires, it suits conveyor belt covers, solid tires and premium footwear soles that need high wear resistance and a deep black. Our N220 holds heating loss within 0.8 percent, ash within 0.7 percent and 45-micron sieve residue within 300 ppm, heavy metals are not detected, and every lot comes with a COA. If your tread compound already uses N220, we can send samples for a side-by-side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N330 is the most widely used reinforcing carbon black in the world, HAF under ASTM, and we produce it at all three of our bases. Iodine number around 82 g/kg, OAN around 102, tint around 104. Its strength is balance: good tensile, tear, abrasion and processing all at once, which is why it runs in tread, carcass, sidewall, conveyor belts, hoses and general rubber goods, the base grade in almost every formulation book. For you that means quick qualification with no reformulation. On quality, heating loss is held within 0.8 percent, ash within 0.7 percent and 45-micron sieve residue within 300 ppm, heavy metals are not detected, and every lot comes with a COA. Three bases mean the most secure supply. We quote FOB or CIF to your port. The most direct way to see lot-to-lot consistency is a trial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N550 is the classic fast-extrusion grade among semi-reinforcing blacks, FEF under ASTM, produced at our Fangchenggang base in Guangxi. Iodine number around 43 g/kg, OAN around 121, the highest structure in our range. The high structure pays off in processing: fast extrusion, low die swell, smooth extrudate and stable dimensions. The coarser particle and low surface area pay off in performance: low heat build-up, low compound viscosity and good flex life, with heating loss held within 0.8 percent and ash within 0.5 percent. That is why it goes into tire innerliners, sidewalls and carcass, and into hoses, seals, cable sheathing and anti-vibration parts. It takes high loadings, so compounds stay cost-efficient. Fangchenggang is 35 kilometres from the port, so containers ship by sea straight to Southeast Asia, and ASEAN customers can claim preferential duty. COA with every lot, quoted FOB or CIF.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grades complete the core range. N326 is a low-structure HAF: with OAN around 72 it gives high tensile and tear strength at a lower modulus, which suits steel-cord skim and bead compounds; our N326 reaches 113 percent tint strength, against a 108 percent industry average. N660 is the general-purpose soft black: coarser than N550, with lower heat build-up, higher loadings and lower cost, for innerliners, carcass, hoses, seals and profiles. A simple rule: N550 for extrusion precision, N660 for cost and low heat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summarises where each grade fits. The first question is always which compound or tire component it is for. Treads call for N220; carcass and sidewall for N330 and N550; innerliners for N550 and N660; steel-cord skim and bead compounds for N326. The final choice depends on your compound and process, and we are glad to review your current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technical data sheet for our five core grades, with Chinese GB/T test methods. If you ask for ASTM equivalents: iodine D1510, OAN D2414, COAN D3493, tint D3265, heating loss D1509, ash D1506, sieve residue D1514, fines D1508, pellet hardness D5230, pH D1512 and pour density D1513. Packing is 25 kg bags or 500 and 1,000 kg jumbo bags.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we can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is simple. Share your current grade, compound and specification, and we propose the matching grade with our TDS and recent COA data. We then send samples with a COA for lab evaluation and a side-by-side comparison. A trial order confirms lot-to-lot consistency in production, and then we move to regular container shipments from Ningbo or the Beibu Gulf, with a COA for every lot. We pack in 25 kg bags or 500 and 1,000 kg jumbo bags, quote FOB, CFR or CIF, and accept T/T or L/C subject to credit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your questions. My contact details are on this slide; email or WhatsApp both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COVER-image-3.jpe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CONTENTS-image-3.jpe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image-1004-3.png"/><Relationship Id="rId4" Type="http://schemas.openxmlformats.org/officeDocument/2006/relationships/image" Target="../media/CONTENT-image-4.jpe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keyuan/fe094a75-461e-584f-b109-946f5642fe8f/scratchpad/build/img/logo_sroch.png">    </p:cNvPr>
          <p:cNvPicPr>
            <a:picLocks noChangeAspect="1"/>
          </p:cNvPicPr>
          <p:nvPr/>
        </p:nvPicPr>
        <p:blipFill>
          <a:blip r:embed="rId1"/>
          <a:stretch>
            <a:fillRect/>
          </a:stretch>
        </p:blipFill>
        <p:spPr>
          <a:xfrm>
            <a:off x="9514332" y="265176"/>
            <a:ext cx="670255" cy="667512"/>
          </a:xfrm>
          <a:prstGeom prst="rect">
            <a:avLst/>
          </a:prstGeom>
        </p:spPr>
      </p:pic>
      <p:sp>
        <p:nvSpPr>
          <p:cNvPr id="3" name="Shape 0"/>
          <p:cNvSpPr/>
          <p:nvPr/>
        </p:nvSpPr>
        <p:spPr>
          <a:xfrm>
            <a:off x="10401300" y="414223"/>
            <a:ext cx="19202" cy="379476"/>
          </a:xfrm>
          <a:prstGeom prst="rect">
            <a:avLst/>
          </a:prstGeom>
          <a:solidFill>
            <a:srgbClr val="1A1A1A"/>
          </a:solidFill>
          <a:ln w="12700">
            <a:solidFill>
              <a:srgbClr val="1A1A1A"/>
            </a:solidFill>
            <a:prstDash val="solid"/>
          </a:ln>
        </p:spPr>
      </p:sp>
      <p:pic>
        <p:nvPicPr>
          <p:cNvPr id="4" name="Image 1" descr="/tmp/claude-0/-home-user-keyuan/fe094a75-461e-584f-b109-946f5642fe8f/scratchpad/build/img/logo_keyuan.png">    </p:cNvPr>
          <p:cNvPicPr>
            <a:picLocks noChangeAspect="1"/>
          </p:cNvPicPr>
          <p:nvPr/>
        </p:nvPicPr>
        <p:blipFill>
          <a:blip r:embed="rId2"/>
          <a:stretch>
            <a:fillRect/>
          </a:stretch>
        </p:blipFill>
        <p:spPr>
          <a:xfrm>
            <a:off x="10681106" y="271577"/>
            <a:ext cx="1264615" cy="5943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keyuan/fe094a75-461e-584f-b109-946f5642fe8f/scratchpad/build/img/logo_sroch.png">    </p:cNvPr>
          <p:cNvPicPr>
            <a:picLocks noChangeAspect="1"/>
          </p:cNvPicPr>
          <p:nvPr/>
        </p:nvPicPr>
        <p:blipFill>
          <a:blip r:embed="rId1"/>
          <a:stretch>
            <a:fillRect/>
          </a:stretch>
        </p:blipFill>
        <p:spPr>
          <a:xfrm>
            <a:off x="9514332" y="265176"/>
            <a:ext cx="670255" cy="667512"/>
          </a:xfrm>
          <a:prstGeom prst="rect">
            <a:avLst/>
          </a:prstGeom>
        </p:spPr>
      </p:pic>
      <p:sp>
        <p:nvSpPr>
          <p:cNvPr id="3" name="Shape 0"/>
          <p:cNvSpPr/>
          <p:nvPr/>
        </p:nvSpPr>
        <p:spPr>
          <a:xfrm>
            <a:off x="10401300" y="414223"/>
            <a:ext cx="19202" cy="379476"/>
          </a:xfrm>
          <a:prstGeom prst="rect">
            <a:avLst/>
          </a:prstGeom>
          <a:solidFill>
            <a:srgbClr val="1A1A1A"/>
          </a:solidFill>
          <a:ln w="12700">
            <a:solidFill>
              <a:srgbClr val="1A1A1A"/>
            </a:solidFill>
            <a:prstDash val="solid"/>
          </a:ln>
        </p:spPr>
      </p:sp>
      <p:pic>
        <p:nvPicPr>
          <p:cNvPr id="4" name="Image 1" descr="/tmp/claude-0/-home-user-keyuan/fe094a75-461e-584f-b109-946f5642fe8f/scratchpad/build/img/logo_keyuan.png">    </p:cNvPr>
          <p:cNvPicPr>
            <a:picLocks noChangeAspect="1"/>
          </p:cNvPicPr>
          <p:nvPr/>
        </p:nvPicPr>
        <p:blipFill>
          <a:blip r:embed="rId2"/>
          <a:stretch>
            <a:fillRect/>
          </a:stretch>
        </p:blipFill>
        <p:spPr>
          <a:xfrm>
            <a:off x="10681106" y="271577"/>
            <a:ext cx="1264615" cy="5943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keyuan/fe094a75-461e-584f-b109-946f5642fe8f/scratchpad/build/img/badge.png">    </p:cNvPr>
          <p:cNvPicPr>
            <a:picLocks noChangeAspect="1"/>
          </p:cNvPicPr>
          <p:nvPr/>
        </p:nvPicPr>
        <p:blipFill>
          <a:blip r:embed="rId1"/>
          <a:stretch>
            <a:fillRect/>
          </a:stretch>
        </p:blipFill>
        <p:spPr>
          <a:xfrm>
            <a:off x="265176" y="170993"/>
            <a:ext cx="2438705" cy="1088136"/>
          </a:xfrm>
          <a:prstGeom prst="rect">
            <a:avLst/>
          </a:prstGeom>
        </p:spPr>
      </p:pic>
      <p:pic>
        <p:nvPicPr>
          <p:cNvPr id="3" name="Image 1" descr="/tmp/claude-0/-home-user-keyuan/fe094a75-461e-584f-b109-946f5642fe8f/scratchpad/build/img/logo_sroch.png">    </p:cNvPr>
          <p:cNvPicPr>
            <a:picLocks noChangeAspect="1"/>
          </p:cNvPicPr>
          <p:nvPr/>
        </p:nvPicPr>
        <p:blipFill>
          <a:blip r:embed="rId2"/>
          <a:stretch>
            <a:fillRect/>
          </a:stretch>
        </p:blipFill>
        <p:spPr>
          <a:xfrm>
            <a:off x="9514332" y="265176"/>
            <a:ext cx="670255" cy="667512"/>
          </a:xfrm>
          <a:prstGeom prst="rect">
            <a:avLst/>
          </a:prstGeom>
        </p:spPr>
      </p:pic>
      <p:sp>
        <p:nvSpPr>
          <p:cNvPr id="4" name="Shape 0"/>
          <p:cNvSpPr/>
          <p:nvPr/>
        </p:nvSpPr>
        <p:spPr>
          <a:xfrm>
            <a:off x="10401300" y="414223"/>
            <a:ext cx="19202" cy="379476"/>
          </a:xfrm>
          <a:prstGeom prst="rect">
            <a:avLst/>
          </a:prstGeom>
          <a:solidFill>
            <a:srgbClr val="1A1A1A"/>
          </a:solidFill>
          <a:ln w="12700">
            <a:solidFill>
              <a:srgbClr val="1A1A1A"/>
            </a:solidFill>
            <a:prstDash val="solid"/>
          </a:ln>
        </p:spPr>
      </p:sp>
      <p:pic>
        <p:nvPicPr>
          <p:cNvPr id="5" name="Image 2" descr="/tmp/claude-0/-home-user-keyuan/fe094a75-461e-584f-b109-946f5642fe8f/scratchpad/build/img/logo_keyuan.png">    </p:cNvPr>
          <p:cNvPicPr>
            <a:picLocks noChangeAspect="1"/>
          </p:cNvPicPr>
          <p:nvPr/>
        </p:nvPicPr>
        <p:blipFill>
          <a:blip r:embed="rId3"/>
          <a:stretch>
            <a:fillRect/>
          </a:stretch>
        </p:blipFill>
        <p:spPr>
          <a:xfrm>
            <a:off x="10681106" y="271577"/>
            <a:ext cx="1264615" cy="594360"/>
          </a:xfrm>
          <a:prstGeom prst="rect">
            <a:avLst/>
          </a:prstGeom>
        </p:spPr>
      </p:pic>
      <p:sp>
        <p:nvSpPr>
          <p:cNvPr id="6" name="Text 1"/>
          <p:cNvSpPr/>
          <p:nvPr>
            <p:ph idx="104" type="title" hasCustomPrompt="1"/>
          </p:nvPr>
        </p:nvSpPr>
        <p:spPr>
          <a:xfrm>
            <a:off x="786384" y="182880"/>
            <a:ext cx="8503920" cy="621792"/>
          </a:xfrm>
          <a:prstGeom prst="rect">
            <a:avLst/>
          </a:prstGeom>
          <a:noFill/>
          <a:ln/>
        </p:spPr>
        <p:txBody>
          <a:bodyPr wrap="square" rtlCol="0"/>
          <a:lstStyle>
            <a:lvl1pPr algn="l" indent="0" marL="0">
              <a:buNone/>
              <a:defRPr lang="en-US" sz="2800" b="1" dirty="0">
                <a:solidFill>
                  <a:srgbClr val="10233F"/>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2926080" y="320040"/>
            <a:ext cx="6336792" cy="1920240"/>
          </a:xfrm>
          <a:prstGeom prst="rect">
            <a:avLst/>
          </a:prstGeom>
          <a:noFill/>
          <a:ln/>
        </p:spPr>
        <p:txBody>
          <a:bodyPr wrap="square" lIns="0" tIns="0" rIns="0" bIns="0" rtlCol="0" anchor="ctr"/>
          <a:lstStyle/>
          <a:p>
            <a:pPr algn="ctr" indent="0" marL="0">
              <a:buNone/>
            </a:pPr>
            <a:r>
              <a:rPr lang="en-US" sz="15000" b="1" dirty="0">
                <a:ln w="15875">
                  <a:solidFill>
                    <a:srgbClr val="C3D3E6"/>
                  </a:solidFill>
                </a:ln>
                <a:solidFill>
                  <a:srgbClr val="FFFFFF">
                    <a:alpha val="12000"/>
                  </a:srgbClr>
                </a:solidFill>
                <a:latin typeface="Arial" pitchFamily="34" charset="0"/>
                <a:ea typeface="Arial" pitchFamily="34" charset="-122"/>
                <a:cs typeface="Arial" pitchFamily="34" charset="-120"/>
              </a:rPr>
              <a:t>2026</a:t>
            </a:r>
            <a:endParaRPr lang="en-US" sz="15000" dirty="0"/>
          </a:p>
        </p:txBody>
      </p:sp>
      <p:sp>
        <p:nvSpPr>
          <p:cNvPr id="3" name="Text 1"/>
          <p:cNvSpPr txBox="1"/>
          <p:nvPr/>
        </p:nvSpPr>
        <p:spPr>
          <a:xfrm>
            <a:off x="822960" y="2011680"/>
            <a:ext cx="10543032" cy="1097280"/>
          </a:xfrm>
          <a:prstGeom prst="rect">
            <a:avLst/>
          </a:prstGeom>
          <a:noFill/>
          <a:ln/>
        </p:spPr>
        <p:txBody>
          <a:bodyPr wrap="square" lIns="0" tIns="0" rIns="0" bIns="0" rtlCol="0" anchor="ctr"/>
          <a:lstStyle/>
          <a:p>
            <a:pPr algn="ctr" indent="0" marL="0">
              <a:buNone/>
            </a:pPr>
            <a:r>
              <a:rPr lang="en-US" sz="62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Changhong Carbon Black</a:t>
            </a:r>
            <a:endParaRPr lang="en-US" sz="6200" dirty="0"/>
          </a:p>
        </p:txBody>
      </p:sp>
      <p:sp>
        <p:nvSpPr>
          <p:cNvPr id="4" name="Text 2"/>
          <p:cNvSpPr txBox="1"/>
          <p:nvPr/>
        </p:nvSpPr>
        <p:spPr>
          <a:xfrm>
            <a:off x="1280160" y="3063240"/>
            <a:ext cx="9628632" cy="502920"/>
          </a:xfrm>
          <a:prstGeom prst="rect">
            <a:avLst/>
          </a:prstGeom>
          <a:noFill/>
          <a:ln/>
        </p:spPr>
        <p:txBody>
          <a:bodyPr wrap="square" lIns="0" tIns="0" rIns="0" bIns="0" rtlCol="0" anchor="ctr"/>
          <a:lstStyle/>
          <a:p>
            <a:pPr algn="ctr" indent="0" marL="0">
              <a:buNone/>
            </a:pPr>
            <a:r>
              <a:rPr lang="en-US" sz="2100" b="1" dirty="0">
                <a:solidFill>
                  <a:srgbClr val="10233F"/>
                </a:solidFill>
                <a:effectLst>
                  <a:glow rad="101600">
                    <a:srgbClr val="FFFFFF">
                      <a:alpha val="90000"/>
                    </a:srgbClr>
                  </a:glow>
                </a:effectLst>
                <a:latin typeface="Calibri" pitchFamily="34" charset="0"/>
                <a:ea typeface="Calibri" pitchFamily="34" charset="-122"/>
                <a:cs typeface="Calibri" pitchFamily="34" charset="-120"/>
              </a:rPr>
              <a:t>Reinforcing and semi-reinforcing furnace blacks for tires and rubber goods</a:t>
            </a:r>
            <a:endParaRPr lang="en-US" sz="2100" dirty="0"/>
          </a:p>
        </p:txBody>
      </p:sp>
      <p:sp>
        <p:nvSpPr>
          <p:cNvPr id="5" name="Text 3"/>
          <p:cNvSpPr txBox="1"/>
          <p:nvPr/>
        </p:nvSpPr>
        <p:spPr>
          <a:xfrm>
            <a:off x="1280160" y="3566160"/>
            <a:ext cx="9628632" cy="411480"/>
          </a:xfrm>
          <a:prstGeom prst="rect">
            <a:avLst/>
          </a:prstGeom>
          <a:noFill/>
          <a:ln/>
        </p:spPr>
        <p:txBody>
          <a:bodyPr wrap="square" lIns="0" tIns="0" rIns="0" bIns="0" rtlCol="0" anchor="ctr"/>
          <a:lstStyle/>
          <a:p>
            <a:pPr algn="ctr" indent="0" marL="0">
              <a:buNone/>
            </a:pPr>
            <a:r>
              <a:rPr lang="en-US" sz="1600" dirty="0">
                <a:solidFill>
                  <a:srgbClr val="10233F"/>
                </a:solidFill>
                <a:effectLst>
                  <a:glow rad="101600">
                    <a:srgbClr val="FFFFFF">
                      <a:alpha val="90000"/>
                    </a:srgbClr>
                  </a:glow>
                </a:effectLst>
                <a:latin typeface="Calibri" pitchFamily="34" charset="0"/>
                <a:ea typeface="Calibri" pitchFamily="34" charset="-122"/>
                <a:cs typeface="Calibri" pitchFamily="34" charset="-120"/>
              </a:rPr>
              <a:t>Zhejiang Changhong Biological Material Co., Ltd.</a:t>
            </a:r>
            <a:endParaRPr lang="en-US" sz="1600" dirty="0"/>
          </a:p>
        </p:txBody>
      </p:sp>
      <p:sp>
        <p:nvSpPr>
          <p:cNvPr id="6" name="Text 4"/>
          <p:cNvSpPr txBox="1"/>
          <p:nvPr/>
        </p:nvSpPr>
        <p:spPr>
          <a:xfrm>
            <a:off x="2194560" y="4434840"/>
            <a:ext cx="7799832"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www.changhongpolymer.com      gaoxz@kygroup.ltd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3355848" y="502920"/>
            <a:ext cx="5486400" cy="1005840"/>
          </a:xfrm>
          <a:prstGeom prst="rect">
            <a:avLst/>
          </a:prstGeom>
          <a:noFill/>
          <a:ln/>
        </p:spPr>
        <p:txBody>
          <a:bodyPr wrap="square" lIns="0" tIns="0" rIns="0" bIns="0" rtlCol="0" anchor="ctr"/>
          <a:lstStyle/>
          <a:p>
            <a:pPr algn="ctr" indent="0" marL="0">
              <a:buNone/>
            </a:pPr>
            <a:r>
              <a:rPr lang="en-US" sz="54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Contents</a:t>
            </a:r>
            <a:endParaRPr lang="en-US" sz="5400" dirty="0"/>
          </a:p>
        </p:txBody>
      </p:sp>
      <p:sp>
        <p:nvSpPr>
          <p:cNvPr id="3" name="Shape 1"/>
          <p:cNvSpPr/>
          <p:nvPr/>
        </p:nvSpPr>
        <p:spPr>
          <a:xfrm>
            <a:off x="731520" y="1874520"/>
            <a:ext cx="2468880" cy="2788920"/>
          </a:xfrm>
          <a:prstGeom prst="rect">
            <a:avLst/>
          </a:prstGeom>
          <a:solidFill>
            <a:srgbClr val="FFFFFF">
              <a:alpha val="78000"/>
            </a:srgbClr>
          </a:solidFill>
          <a:ln w="9525">
            <a:solidFill>
              <a:srgbClr val="FFFFFF">
                <a:alpha val="70000"/>
              </a:srgbClr>
            </a:solidFill>
            <a:prstDash val="solid"/>
          </a:ln>
          <a:effectLst>
            <a:outerShdw sx="100000" sy="100000" kx="0" ky="0" algn="bl" rotWithShape="0" blurRad="127000" dist="38100" dir="5400000">
              <a:srgbClr val="0B2A55">
                <a:alpha val="18000"/>
              </a:srgbClr>
            </a:outerShdw>
          </a:effectLst>
        </p:spPr>
      </p:sp>
      <p:sp>
        <p:nvSpPr>
          <p:cNvPr id="4" name="Text 2"/>
          <p:cNvSpPr txBox="1"/>
          <p:nvPr/>
        </p:nvSpPr>
        <p:spPr>
          <a:xfrm>
            <a:off x="731520" y="2286000"/>
            <a:ext cx="2468880" cy="822960"/>
          </a:xfrm>
          <a:prstGeom prst="rect">
            <a:avLst/>
          </a:prstGeom>
          <a:noFill/>
          <a:ln/>
        </p:spPr>
        <p:txBody>
          <a:bodyPr wrap="square" lIns="0" tIns="0" rIns="0" bIns="0" rtlCol="0" anchor="ctr"/>
          <a:lstStyle/>
          <a:p>
            <a:pPr algn="ctr" indent="0" marL="0">
              <a:buNone/>
            </a:pPr>
            <a:r>
              <a:rPr lang="en-US" sz="4400" b="1" dirty="0">
                <a:solidFill>
                  <a:srgbClr val="0B4DA2"/>
                </a:solidFill>
                <a:latin typeface="Cambria" pitchFamily="34" charset="0"/>
                <a:ea typeface="Cambria" pitchFamily="34" charset="-122"/>
                <a:cs typeface="Cambria" pitchFamily="34" charset="-120"/>
              </a:rPr>
              <a:t>01</a:t>
            </a:r>
            <a:endParaRPr lang="en-US" sz="4400" dirty="0"/>
          </a:p>
        </p:txBody>
      </p:sp>
      <p:sp>
        <p:nvSpPr>
          <p:cNvPr id="5" name="Text 3"/>
          <p:cNvSpPr txBox="1"/>
          <p:nvPr/>
        </p:nvSpPr>
        <p:spPr>
          <a:xfrm>
            <a:off x="914400" y="3200400"/>
            <a:ext cx="2103120" cy="1005840"/>
          </a:xfrm>
          <a:prstGeom prst="rect">
            <a:avLst/>
          </a:prstGeom>
          <a:noFill/>
          <a:ln/>
        </p:spPr>
        <p:txBody>
          <a:bodyPr wrap="square" lIns="0" tIns="0" rIns="0" bIns="0" rtlCol="0" anchor="t"/>
          <a:lstStyle/>
          <a:p>
            <a:pPr algn="ctr" indent="0" marL="0">
              <a:buNone/>
            </a:pPr>
            <a:r>
              <a:rPr lang="en-US" sz="2000" b="1" dirty="0">
                <a:solidFill>
                  <a:srgbClr val="10233F"/>
                </a:solidFill>
                <a:latin typeface="Cambria" pitchFamily="34" charset="0"/>
                <a:ea typeface="Cambria" pitchFamily="34" charset="-122"/>
                <a:cs typeface="Cambria" pitchFamily="34" charset="-120"/>
              </a:rPr>
              <a:t>Who We Are</a:t>
            </a:r>
            <a:endParaRPr lang="en-US" sz="2000" dirty="0"/>
          </a:p>
        </p:txBody>
      </p:sp>
      <p:sp>
        <p:nvSpPr>
          <p:cNvPr id="6" name="Shape 4"/>
          <p:cNvSpPr/>
          <p:nvPr/>
        </p:nvSpPr>
        <p:spPr>
          <a:xfrm>
            <a:off x="3483864" y="1874520"/>
            <a:ext cx="2468880" cy="2788920"/>
          </a:xfrm>
          <a:prstGeom prst="rect">
            <a:avLst/>
          </a:prstGeom>
          <a:solidFill>
            <a:srgbClr val="FFFFFF">
              <a:alpha val="78000"/>
            </a:srgbClr>
          </a:solidFill>
          <a:ln w="9525">
            <a:solidFill>
              <a:srgbClr val="FFFFFF">
                <a:alpha val="70000"/>
              </a:srgbClr>
            </a:solidFill>
            <a:prstDash val="solid"/>
          </a:ln>
          <a:effectLst>
            <a:outerShdw sx="100000" sy="100000" kx="0" ky="0" algn="bl" rotWithShape="0" blurRad="127000" dist="38100" dir="5400000">
              <a:srgbClr val="0B2A55">
                <a:alpha val="18000"/>
              </a:srgbClr>
            </a:outerShdw>
          </a:effectLst>
        </p:spPr>
      </p:sp>
      <p:sp>
        <p:nvSpPr>
          <p:cNvPr id="7" name="Text 5"/>
          <p:cNvSpPr txBox="1"/>
          <p:nvPr/>
        </p:nvSpPr>
        <p:spPr>
          <a:xfrm>
            <a:off x="3483864" y="2286000"/>
            <a:ext cx="2468880" cy="822960"/>
          </a:xfrm>
          <a:prstGeom prst="rect">
            <a:avLst/>
          </a:prstGeom>
          <a:noFill/>
          <a:ln/>
        </p:spPr>
        <p:txBody>
          <a:bodyPr wrap="square" lIns="0" tIns="0" rIns="0" bIns="0" rtlCol="0" anchor="ctr"/>
          <a:lstStyle/>
          <a:p>
            <a:pPr algn="ctr" indent="0" marL="0">
              <a:buNone/>
            </a:pPr>
            <a:r>
              <a:rPr lang="en-US" sz="4400" b="1" dirty="0">
                <a:solidFill>
                  <a:srgbClr val="0B4DA2"/>
                </a:solidFill>
                <a:latin typeface="Cambria" pitchFamily="34" charset="0"/>
                <a:ea typeface="Cambria" pitchFamily="34" charset="-122"/>
                <a:cs typeface="Cambria" pitchFamily="34" charset="-120"/>
              </a:rPr>
              <a:t>02</a:t>
            </a:r>
            <a:endParaRPr lang="en-US" sz="4400" dirty="0"/>
          </a:p>
        </p:txBody>
      </p:sp>
      <p:sp>
        <p:nvSpPr>
          <p:cNvPr id="8" name="Text 6"/>
          <p:cNvSpPr txBox="1"/>
          <p:nvPr/>
        </p:nvSpPr>
        <p:spPr>
          <a:xfrm>
            <a:off x="3666744" y="3200400"/>
            <a:ext cx="2103120" cy="1005840"/>
          </a:xfrm>
          <a:prstGeom prst="rect">
            <a:avLst/>
          </a:prstGeom>
          <a:noFill/>
          <a:ln/>
        </p:spPr>
        <p:txBody>
          <a:bodyPr wrap="square" lIns="0" tIns="0" rIns="0" bIns="0" rtlCol="0" anchor="t"/>
          <a:lstStyle/>
          <a:p>
            <a:pPr algn="ctr" indent="0" marL="0">
              <a:buNone/>
            </a:pPr>
            <a:r>
              <a:rPr lang="en-US" sz="2000" b="1" dirty="0">
                <a:solidFill>
                  <a:srgbClr val="10233F"/>
                </a:solidFill>
                <a:latin typeface="Cambria" pitchFamily="34" charset="0"/>
                <a:ea typeface="Cambria" pitchFamily="34" charset="-122"/>
                <a:cs typeface="Cambria" pitchFamily="34" charset="-120"/>
              </a:rPr>
              <a:t>Why Changhong Carbon Black</a:t>
            </a:r>
            <a:endParaRPr lang="en-US" sz="2000" dirty="0"/>
          </a:p>
        </p:txBody>
      </p:sp>
      <p:sp>
        <p:nvSpPr>
          <p:cNvPr id="9" name="Shape 7"/>
          <p:cNvSpPr/>
          <p:nvPr/>
        </p:nvSpPr>
        <p:spPr>
          <a:xfrm>
            <a:off x="6236208" y="1874520"/>
            <a:ext cx="2468880" cy="2788920"/>
          </a:xfrm>
          <a:prstGeom prst="rect">
            <a:avLst/>
          </a:prstGeom>
          <a:solidFill>
            <a:srgbClr val="FFFFFF">
              <a:alpha val="78000"/>
            </a:srgbClr>
          </a:solidFill>
          <a:ln w="9525">
            <a:solidFill>
              <a:srgbClr val="FFFFFF">
                <a:alpha val="70000"/>
              </a:srgbClr>
            </a:solidFill>
            <a:prstDash val="solid"/>
          </a:ln>
          <a:effectLst>
            <a:outerShdw sx="100000" sy="100000" kx="0" ky="0" algn="bl" rotWithShape="0" blurRad="127000" dist="38100" dir="5400000">
              <a:srgbClr val="0B2A55">
                <a:alpha val="18000"/>
              </a:srgbClr>
            </a:outerShdw>
          </a:effectLst>
        </p:spPr>
      </p:sp>
      <p:sp>
        <p:nvSpPr>
          <p:cNvPr id="10" name="Text 8"/>
          <p:cNvSpPr txBox="1"/>
          <p:nvPr/>
        </p:nvSpPr>
        <p:spPr>
          <a:xfrm>
            <a:off x="6236208" y="2286000"/>
            <a:ext cx="2468880" cy="822960"/>
          </a:xfrm>
          <a:prstGeom prst="rect">
            <a:avLst/>
          </a:prstGeom>
          <a:noFill/>
          <a:ln/>
        </p:spPr>
        <p:txBody>
          <a:bodyPr wrap="square" lIns="0" tIns="0" rIns="0" bIns="0" rtlCol="0" anchor="ctr"/>
          <a:lstStyle/>
          <a:p>
            <a:pPr algn="ctr" indent="0" marL="0">
              <a:buNone/>
            </a:pPr>
            <a:r>
              <a:rPr lang="en-US" sz="4400" b="1" dirty="0">
                <a:solidFill>
                  <a:srgbClr val="0B4DA2"/>
                </a:solidFill>
                <a:latin typeface="Cambria" pitchFamily="34" charset="0"/>
                <a:ea typeface="Cambria" pitchFamily="34" charset="-122"/>
                <a:cs typeface="Cambria" pitchFamily="34" charset="-120"/>
              </a:rPr>
              <a:t>03</a:t>
            </a:r>
            <a:endParaRPr lang="en-US" sz="4400" dirty="0"/>
          </a:p>
        </p:txBody>
      </p:sp>
      <p:sp>
        <p:nvSpPr>
          <p:cNvPr id="11" name="Text 9"/>
          <p:cNvSpPr txBox="1"/>
          <p:nvPr/>
        </p:nvSpPr>
        <p:spPr>
          <a:xfrm>
            <a:off x="6419088" y="3200400"/>
            <a:ext cx="2103120" cy="1005840"/>
          </a:xfrm>
          <a:prstGeom prst="rect">
            <a:avLst/>
          </a:prstGeom>
          <a:noFill/>
          <a:ln/>
        </p:spPr>
        <p:txBody>
          <a:bodyPr wrap="square" lIns="0" tIns="0" rIns="0" bIns="0" rtlCol="0" anchor="t"/>
          <a:lstStyle/>
          <a:p>
            <a:pPr algn="ctr" indent="0" marL="0">
              <a:buNone/>
            </a:pPr>
            <a:r>
              <a:rPr lang="en-US" sz="2000" b="1" dirty="0">
                <a:solidFill>
                  <a:srgbClr val="10233F"/>
                </a:solidFill>
                <a:latin typeface="Cambria" pitchFamily="34" charset="0"/>
                <a:ea typeface="Cambria" pitchFamily="34" charset="-122"/>
                <a:cs typeface="Cambria" pitchFamily="34" charset="-120"/>
              </a:rPr>
              <a:t>Product Portfolio</a:t>
            </a:r>
            <a:endParaRPr lang="en-US" sz="2000" dirty="0"/>
          </a:p>
        </p:txBody>
      </p:sp>
      <p:sp>
        <p:nvSpPr>
          <p:cNvPr id="12" name="Shape 10"/>
          <p:cNvSpPr/>
          <p:nvPr/>
        </p:nvSpPr>
        <p:spPr>
          <a:xfrm>
            <a:off x="8988552" y="1874520"/>
            <a:ext cx="2468880" cy="2788920"/>
          </a:xfrm>
          <a:prstGeom prst="rect">
            <a:avLst/>
          </a:prstGeom>
          <a:solidFill>
            <a:srgbClr val="FFFFFF">
              <a:alpha val="78000"/>
            </a:srgbClr>
          </a:solidFill>
          <a:ln w="9525">
            <a:solidFill>
              <a:srgbClr val="FFFFFF">
                <a:alpha val="70000"/>
              </a:srgbClr>
            </a:solidFill>
            <a:prstDash val="solid"/>
          </a:ln>
          <a:effectLst>
            <a:outerShdw sx="100000" sy="100000" kx="0" ky="0" algn="bl" rotWithShape="0" blurRad="127000" dist="38100" dir="5400000">
              <a:srgbClr val="0B2A55">
                <a:alpha val="18000"/>
              </a:srgbClr>
            </a:outerShdw>
          </a:effectLst>
        </p:spPr>
      </p:sp>
      <p:sp>
        <p:nvSpPr>
          <p:cNvPr id="13" name="Text 11"/>
          <p:cNvSpPr txBox="1"/>
          <p:nvPr/>
        </p:nvSpPr>
        <p:spPr>
          <a:xfrm>
            <a:off x="8988552" y="2286000"/>
            <a:ext cx="2468880" cy="822960"/>
          </a:xfrm>
          <a:prstGeom prst="rect">
            <a:avLst/>
          </a:prstGeom>
          <a:noFill/>
          <a:ln/>
        </p:spPr>
        <p:txBody>
          <a:bodyPr wrap="square" lIns="0" tIns="0" rIns="0" bIns="0" rtlCol="0" anchor="ctr"/>
          <a:lstStyle/>
          <a:p>
            <a:pPr algn="ctr" indent="0" marL="0">
              <a:buNone/>
            </a:pPr>
            <a:r>
              <a:rPr lang="en-US" sz="4400" b="1" dirty="0">
                <a:solidFill>
                  <a:srgbClr val="0B4DA2"/>
                </a:solidFill>
                <a:latin typeface="Cambria" pitchFamily="34" charset="0"/>
                <a:ea typeface="Cambria" pitchFamily="34" charset="-122"/>
                <a:cs typeface="Cambria" pitchFamily="34" charset="-120"/>
              </a:rPr>
              <a:t>04</a:t>
            </a:r>
            <a:endParaRPr lang="en-US" sz="4400" dirty="0"/>
          </a:p>
        </p:txBody>
      </p:sp>
      <p:sp>
        <p:nvSpPr>
          <p:cNvPr id="14" name="Text 12"/>
          <p:cNvSpPr txBox="1"/>
          <p:nvPr/>
        </p:nvSpPr>
        <p:spPr>
          <a:xfrm>
            <a:off x="9171432" y="3200400"/>
            <a:ext cx="2103120" cy="1005840"/>
          </a:xfrm>
          <a:prstGeom prst="rect">
            <a:avLst/>
          </a:prstGeom>
          <a:noFill/>
          <a:ln/>
        </p:spPr>
        <p:txBody>
          <a:bodyPr wrap="square" lIns="0" tIns="0" rIns="0" bIns="0" rtlCol="0" anchor="t"/>
          <a:lstStyle/>
          <a:p>
            <a:pPr algn="ctr" indent="0" marL="0">
              <a:buNone/>
            </a:pPr>
            <a:r>
              <a:rPr lang="en-US" sz="2000" b="1" dirty="0">
                <a:solidFill>
                  <a:srgbClr val="10233F"/>
                </a:solidFill>
                <a:latin typeface="Cambria" pitchFamily="34" charset="0"/>
                <a:ea typeface="Cambria" pitchFamily="34" charset="-122"/>
                <a:cs typeface="Cambria" pitchFamily="34" charset="-120"/>
              </a:rPr>
              <a:t>Working With Us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3355848" y="502920"/>
            <a:ext cx="5486400" cy="2377440"/>
          </a:xfrm>
          <a:prstGeom prst="rect">
            <a:avLst/>
          </a:prstGeom>
          <a:noFill/>
          <a:ln/>
        </p:spPr>
        <p:txBody>
          <a:bodyPr wrap="square" lIns="0" tIns="0" rIns="0" bIns="0" rtlCol="0" anchor="ctr"/>
          <a:lstStyle/>
          <a:p>
            <a:pPr algn="ctr" indent="0" marL="0">
              <a:buNone/>
            </a:pPr>
            <a:r>
              <a:rPr lang="en-US" sz="19000" b="1" dirty="0">
                <a:ln w="25400">
                  <a:solidFill>
                    <a:srgbClr val="D5E1EE"/>
                  </a:solidFill>
                </a:ln>
                <a:solidFill>
                  <a:srgbClr val="FFFFFF">
                    <a:alpha val="30000"/>
                  </a:srgbClr>
                </a:solidFill>
                <a:latin typeface="Arial" pitchFamily="34" charset="0"/>
                <a:ea typeface="Arial" pitchFamily="34" charset="-122"/>
                <a:cs typeface="Arial" pitchFamily="34" charset="-120"/>
              </a:rPr>
              <a:t>01</a:t>
            </a:r>
            <a:endParaRPr lang="en-US" sz="19000" dirty="0"/>
          </a:p>
        </p:txBody>
      </p:sp>
      <p:sp>
        <p:nvSpPr>
          <p:cNvPr id="3" name="Text 1"/>
          <p:cNvSpPr txBox="1"/>
          <p:nvPr/>
        </p:nvSpPr>
        <p:spPr>
          <a:xfrm>
            <a:off x="822960" y="2331720"/>
            <a:ext cx="10543032" cy="1097280"/>
          </a:xfrm>
          <a:prstGeom prst="rect">
            <a:avLst/>
          </a:prstGeom>
          <a:noFill/>
          <a:ln/>
        </p:spPr>
        <p:txBody>
          <a:bodyPr wrap="square" lIns="0" tIns="0" rIns="0" bIns="0" rtlCol="0" anchor="ctr"/>
          <a:lstStyle/>
          <a:p>
            <a:pPr algn="ctr" indent="0" marL="0">
              <a:lnSpc>
                <a:spcPct val="95000"/>
              </a:lnSpc>
              <a:buNone/>
            </a:pPr>
            <a:r>
              <a:rPr lang="en-US" sz="60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Who We Are</a:t>
            </a:r>
            <a:endParaRPr lang="en-US" sz="6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Company Snapshot</a:t>
            </a:r>
            <a:endParaRPr lang="en-US" sz="2800" dirty="0"/>
          </a:p>
        </p:txBody>
      </p:sp>
      <p:pic>
        <p:nvPicPr>
          <p:cNvPr id="3" name="Image 0" descr="/tmp/claude-0/-home-user-keyuan/fe094a75-461e-584f-b109-946f5642fe8f/scratchpad/build/img/photo_refinery_tall.png">    </p:cNvPr>
          <p:cNvPicPr>
            <a:picLocks noChangeAspect="1"/>
          </p:cNvPicPr>
          <p:nvPr/>
        </p:nvPicPr>
        <p:blipFill>
          <a:blip r:embed="rId1"/>
          <a:stretch>
            <a:fillRect/>
          </a:stretch>
        </p:blipFill>
        <p:spPr>
          <a:xfrm>
            <a:off x="548640" y="1325880"/>
            <a:ext cx="3291840" cy="4846320"/>
          </a:xfrm>
          <a:prstGeom prst="rect">
            <a:avLst/>
          </a:prstGeom>
          <a:effectLst>
            <a:outerShdw sx="100000" sy="100000" kx="0" ky="0" algn="bl" rotWithShape="0" blurRad="127000" dist="38100" dir="5400000">
              <a:srgbClr val="0B2A55">
                <a:alpha val="18000"/>
              </a:srgbClr>
            </a:outerShdw>
          </a:effectLst>
        </p:spPr>
      </p:pic>
      <p:sp>
        <p:nvSpPr>
          <p:cNvPr id="4" name="Shape 1"/>
          <p:cNvSpPr/>
          <p:nvPr/>
        </p:nvSpPr>
        <p:spPr>
          <a:xfrm>
            <a:off x="4069080" y="1325880"/>
            <a:ext cx="4206240" cy="4846320"/>
          </a:xfrm>
          <a:prstGeom prst="roundRect">
            <a:avLst>
              <a:gd name="adj" fmla="val 3043"/>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5" name="Text 2"/>
          <p:cNvSpPr txBox="1"/>
          <p:nvPr/>
        </p:nvSpPr>
        <p:spPr>
          <a:xfrm>
            <a:off x="4343400" y="1572768"/>
            <a:ext cx="3703320" cy="731520"/>
          </a:xfrm>
          <a:prstGeom prst="rect">
            <a:avLst/>
          </a:prstGeom>
          <a:noFill/>
          <a:ln/>
        </p:spPr>
        <p:txBody>
          <a:bodyPr wrap="square" lIns="0" tIns="0" rIns="0" bIns="0" rtlCol="0" anchor="t"/>
          <a:lstStyle/>
          <a:p>
            <a:pPr algn="l" indent="0" marL="0">
              <a:buNone/>
            </a:pPr>
            <a:r>
              <a:rPr lang="en-US" sz="2000" b="1" dirty="0">
                <a:solidFill>
                  <a:srgbClr val="0B4DA2"/>
                </a:solidFill>
                <a:latin typeface="Arial" pitchFamily="34" charset="0"/>
                <a:ea typeface="Arial" pitchFamily="34" charset="-122"/>
                <a:cs typeface="Arial" pitchFamily="34" charset="-120"/>
              </a:rPr>
              <a:t>Zhejiang Changhong Biological Material Co., Ltd.</a:t>
            </a:r>
            <a:endParaRPr lang="en-US" sz="2000" dirty="0"/>
          </a:p>
        </p:txBody>
      </p:sp>
      <p:sp>
        <p:nvSpPr>
          <p:cNvPr id="6" name="Text 3"/>
          <p:cNvSpPr txBox="1"/>
          <p:nvPr/>
        </p:nvSpPr>
        <p:spPr>
          <a:xfrm>
            <a:off x="4343400" y="2377440"/>
            <a:ext cx="3703320" cy="365760"/>
          </a:xfrm>
          <a:prstGeom prst="rect">
            <a:avLst/>
          </a:prstGeom>
          <a:noFill/>
          <a:ln/>
        </p:spPr>
        <p:txBody>
          <a:bodyPr wrap="square" lIns="0" tIns="0" rIns="0" bIns="0" rtlCol="0" anchor="t"/>
          <a:lstStyle/>
          <a:p>
            <a:pPr algn="l" indent="0" marL="0">
              <a:buNone/>
            </a:pPr>
            <a:r>
              <a:rPr lang="en-US" sz="1500" b="1" i="1" dirty="0">
                <a:solidFill>
                  <a:srgbClr val="E8453C"/>
                </a:solidFill>
                <a:latin typeface="Calibri" pitchFamily="34" charset="0"/>
                <a:ea typeface="Calibri" pitchFamily="34" charset="-122"/>
                <a:cs typeface="Calibri" pitchFamily="34" charset="-120"/>
              </a:rPr>
              <a:t>The producer behind Changhong Carbon Black</a:t>
            </a:r>
            <a:endParaRPr lang="en-US" sz="1500" dirty="0"/>
          </a:p>
        </p:txBody>
      </p:sp>
      <p:sp>
        <p:nvSpPr>
          <p:cNvPr id="7" name="Text 4"/>
          <p:cNvSpPr txBox="1"/>
          <p:nvPr/>
        </p:nvSpPr>
        <p:spPr>
          <a:xfrm>
            <a:off x="4343400" y="2971800"/>
            <a:ext cx="3703320" cy="3063240"/>
          </a:xfrm>
          <a:prstGeom prst="rect">
            <a:avLst/>
          </a:prstGeom>
          <a:noFill/>
          <a:ln/>
        </p:spPr>
        <p:txBody>
          <a:bodyPr wrap="square" lIns="0" tIns="0" rIns="0" bIns="0" rtlCol="0" anchor="t"/>
          <a:lstStyle/>
          <a:p>
            <a:pPr marL="203200" indent="-203200">
              <a:spcAft>
                <a:spcPts val="1600"/>
              </a:spcAft>
              <a:buSzPct val="100000"/>
              <a:buChar char="•"/>
            </a:pPr>
            <a:r>
              <a:rPr lang="en-US" sz="1550" dirty="0">
                <a:solidFill>
                  <a:srgbClr val="1F2937"/>
                </a:solidFill>
                <a:latin typeface="Calibri" pitchFamily="34" charset="0"/>
                <a:ea typeface="Calibri" pitchFamily="34" charset="-122"/>
                <a:cs typeface="Calibri" pitchFamily="34" charset="-120"/>
              </a:rPr>
              <a:t>China’s first producer of carbon black made from aromatic-rich oil</a:t>
            </a:r>
            <a:endParaRPr lang="en-US" sz="1550" dirty="0"/>
          </a:p>
          <a:p>
            <a:pPr marL="203200" indent="-203200">
              <a:spcAft>
                <a:spcPts val="1600"/>
              </a:spcAft>
              <a:buSzPct val="100000"/>
              <a:buChar char="•"/>
            </a:pPr>
            <a:r>
              <a:rPr lang="en-US" sz="1550" dirty="0">
                <a:solidFill>
                  <a:srgbClr val="1F2937"/>
                </a:solidFill>
                <a:latin typeface="Calibri" pitchFamily="34" charset="0"/>
                <a:ea typeface="Calibri" pitchFamily="34" charset="-122"/>
                <a:cs typeface="Calibri" pitchFamily="34" charset="-120"/>
              </a:rPr>
              <a:t>Proprietary process removes feedstock impurities — heavy metals not detected</a:t>
            </a:r>
            <a:endParaRPr lang="en-US" sz="1550" dirty="0"/>
          </a:p>
          <a:p>
            <a:pPr marL="203200" indent="-203200">
              <a:spcAft>
                <a:spcPts val="1600"/>
              </a:spcAft>
              <a:buSzPct val="100000"/>
              <a:buChar char="•"/>
            </a:pPr>
            <a:r>
              <a:rPr lang="en-US" sz="1550" dirty="0">
                <a:solidFill>
                  <a:srgbClr val="1F2937"/>
                </a:solidFill>
                <a:latin typeface="Calibri" pitchFamily="34" charset="0"/>
                <a:ea typeface="Calibri" pitchFamily="34" charset="-122"/>
                <a:cs typeface="Calibri" pitchFamily="34" charset="-120"/>
              </a:rPr>
              <a:t>Full range of hard and soft blacks from three bases in Zhejiang and Guangxi</a:t>
            </a:r>
            <a:endParaRPr lang="en-US" sz="1550" dirty="0"/>
          </a:p>
          <a:p>
            <a:pPr marL="203200" indent="-203200">
              <a:spcAft>
                <a:spcPts val="1600"/>
              </a:spcAft>
              <a:buSzPct val="100000"/>
              <a:buChar char="•"/>
            </a:pPr>
            <a:r>
              <a:rPr lang="en-US" sz="1550" dirty="0">
                <a:solidFill>
                  <a:srgbClr val="1F2937"/>
                </a:solidFill>
                <a:latin typeface="Calibri" pitchFamily="34" charset="0"/>
                <a:ea typeface="Calibri" pitchFamily="34" charset="-122"/>
                <a:cs typeface="Calibri" pitchFamily="34" charset="-120"/>
              </a:rPr>
              <a:t>Serving tires, rubber goods, cable and optical-fibre jackets, and plastics modification</a:t>
            </a:r>
            <a:endParaRPr lang="en-US" sz="1550" dirty="0"/>
          </a:p>
        </p:txBody>
      </p:sp>
      <p:sp>
        <p:nvSpPr>
          <p:cNvPr id="8" name="Shape 5"/>
          <p:cNvSpPr/>
          <p:nvPr/>
        </p:nvSpPr>
        <p:spPr>
          <a:xfrm>
            <a:off x="8503920" y="1325880"/>
            <a:ext cx="3136392" cy="1481328"/>
          </a:xfrm>
          <a:prstGeom prst="roundRect">
            <a:avLst>
              <a:gd name="adj" fmla="val 8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9" name="Text 6"/>
          <p:cNvSpPr txBox="1"/>
          <p:nvPr/>
        </p:nvSpPr>
        <p:spPr>
          <a:xfrm>
            <a:off x="8686800" y="1463040"/>
            <a:ext cx="2788920" cy="594360"/>
          </a:xfrm>
          <a:prstGeom prst="rect">
            <a:avLst/>
          </a:prstGeom>
          <a:noFill/>
          <a:ln/>
        </p:spPr>
        <p:txBody>
          <a:bodyPr wrap="square" lIns="0" tIns="0" rIns="0" bIns="0" rtlCol="0" anchor="ctr"/>
          <a:lstStyle/>
          <a:p>
            <a:pPr algn="l" indent="0" marL="0">
              <a:buNone/>
            </a:pPr>
            <a:r>
              <a:rPr lang="en-US" sz="3000" b="1" dirty="0">
                <a:solidFill>
                  <a:srgbClr val="0B4DA2"/>
                </a:solidFill>
                <a:latin typeface="Arial" pitchFamily="34" charset="0"/>
                <a:ea typeface="Arial" pitchFamily="34" charset="-122"/>
                <a:cs typeface="Arial" pitchFamily="34" charset="-120"/>
              </a:rPr>
              <a:t>3</a:t>
            </a:r>
            <a:endParaRPr lang="en-US" sz="3000" dirty="0"/>
          </a:p>
        </p:txBody>
      </p:sp>
      <p:sp>
        <p:nvSpPr>
          <p:cNvPr id="10" name="Text 7"/>
          <p:cNvSpPr txBox="1"/>
          <p:nvPr/>
        </p:nvSpPr>
        <p:spPr>
          <a:xfrm>
            <a:off x="8686800" y="2075688"/>
            <a:ext cx="2788920" cy="320040"/>
          </a:xfrm>
          <a:prstGeom prst="rect">
            <a:avLst/>
          </a:prstGeom>
          <a:noFill/>
          <a:ln/>
        </p:spPr>
        <p:txBody>
          <a:bodyPr wrap="square" lIns="0" tIns="0" rIns="0" bIns="0" rtlCol="0" anchor="t"/>
          <a:lstStyle/>
          <a:p>
            <a:pPr algn="l" indent="0" marL="0">
              <a:buNone/>
            </a:pPr>
            <a:r>
              <a:rPr lang="en-US" sz="1400" b="1" dirty="0">
                <a:solidFill>
                  <a:srgbClr val="10233F"/>
                </a:solidFill>
                <a:latin typeface="Calibri" pitchFamily="34" charset="0"/>
                <a:ea typeface="Calibri" pitchFamily="34" charset="-122"/>
                <a:cs typeface="Calibri" pitchFamily="34" charset="-120"/>
              </a:rPr>
              <a:t>production bases</a:t>
            </a:r>
            <a:endParaRPr lang="en-US" sz="1400" dirty="0"/>
          </a:p>
        </p:txBody>
      </p:sp>
      <p:sp>
        <p:nvSpPr>
          <p:cNvPr id="11" name="Text 8"/>
          <p:cNvSpPr txBox="1"/>
          <p:nvPr/>
        </p:nvSpPr>
        <p:spPr>
          <a:xfrm>
            <a:off x="8686800" y="2368296"/>
            <a:ext cx="2788920" cy="320040"/>
          </a:xfrm>
          <a:prstGeom prst="rect">
            <a:avLst/>
          </a:prstGeom>
          <a:noFill/>
          <a:ln/>
        </p:spPr>
        <p:txBody>
          <a:bodyPr wrap="square" lIns="0" tIns="0" rIns="0" bIns="0" rtlCol="0" anchor="t"/>
          <a:lstStyle/>
          <a:p>
            <a:pPr algn="l" indent="0" marL="0">
              <a:buNone/>
            </a:pPr>
            <a:r>
              <a:rPr lang="en-US" sz="1150" dirty="0">
                <a:solidFill>
                  <a:srgbClr val="5B6B7F"/>
                </a:solidFill>
                <a:latin typeface="Calibri" pitchFamily="34" charset="0"/>
                <a:ea typeface="Calibri" pitchFamily="34" charset="-122"/>
                <a:cs typeface="Calibri" pitchFamily="34" charset="-120"/>
              </a:rPr>
              <a:t>Ningbo · Shengzhou · Fangchenggang</a:t>
            </a:r>
            <a:endParaRPr lang="en-US" sz="1150" dirty="0"/>
          </a:p>
        </p:txBody>
      </p:sp>
      <p:sp>
        <p:nvSpPr>
          <p:cNvPr id="12" name="Shape 9"/>
          <p:cNvSpPr/>
          <p:nvPr/>
        </p:nvSpPr>
        <p:spPr>
          <a:xfrm>
            <a:off x="8503920" y="3008376"/>
            <a:ext cx="3136392" cy="1481328"/>
          </a:xfrm>
          <a:prstGeom prst="roundRect">
            <a:avLst>
              <a:gd name="adj" fmla="val 8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3" name="Text 10"/>
          <p:cNvSpPr txBox="1"/>
          <p:nvPr/>
        </p:nvSpPr>
        <p:spPr>
          <a:xfrm>
            <a:off x="8686800" y="3145536"/>
            <a:ext cx="2788920" cy="594360"/>
          </a:xfrm>
          <a:prstGeom prst="rect">
            <a:avLst/>
          </a:prstGeom>
          <a:noFill/>
          <a:ln/>
        </p:spPr>
        <p:txBody>
          <a:bodyPr wrap="square" lIns="0" tIns="0" rIns="0" bIns="0" rtlCol="0" anchor="ctr"/>
          <a:lstStyle/>
          <a:p>
            <a:pPr algn="l" indent="0" marL="0">
              <a:buNone/>
            </a:pPr>
            <a:r>
              <a:rPr lang="en-US" sz="3000" b="1" dirty="0">
                <a:solidFill>
                  <a:srgbClr val="0B4DA2"/>
                </a:solidFill>
                <a:latin typeface="Arial" pitchFamily="34" charset="0"/>
                <a:ea typeface="Arial" pitchFamily="34" charset="-122"/>
                <a:cs typeface="Arial" pitchFamily="34" charset="-120"/>
              </a:rPr>
              <a:t>350,000 MT</a:t>
            </a:r>
            <a:endParaRPr lang="en-US" sz="3000" dirty="0"/>
          </a:p>
        </p:txBody>
      </p:sp>
      <p:sp>
        <p:nvSpPr>
          <p:cNvPr id="14" name="Text 11"/>
          <p:cNvSpPr txBox="1"/>
          <p:nvPr/>
        </p:nvSpPr>
        <p:spPr>
          <a:xfrm>
            <a:off x="8686800" y="3758184"/>
            <a:ext cx="2788920" cy="320040"/>
          </a:xfrm>
          <a:prstGeom prst="rect">
            <a:avLst/>
          </a:prstGeom>
          <a:noFill/>
          <a:ln/>
        </p:spPr>
        <p:txBody>
          <a:bodyPr wrap="square" lIns="0" tIns="0" rIns="0" bIns="0" rtlCol="0" anchor="t"/>
          <a:lstStyle/>
          <a:p>
            <a:pPr algn="l" indent="0" marL="0">
              <a:buNone/>
            </a:pPr>
            <a:r>
              <a:rPr lang="en-US" sz="1400" b="1" dirty="0">
                <a:solidFill>
                  <a:srgbClr val="10233F"/>
                </a:solidFill>
                <a:latin typeface="Calibri" pitchFamily="34" charset="0"/>
                <a:ea typeface="Calibri" pitchFamily="34" charset="-122"/>
                <a:cs typeface="Calibri" pitchFamily="34" charset="-120"/>
              </a:rPr>
              <a:t>annual capacity in operation</a:t>
            </a:r>
            <a:endParaRPr lang="en-US" sz="1400" dirty="0"/>
          </a:p>
        </p:txBody>
      </p:sp>
      <p:sp>
        <p:nvSpPr>
          <p:cNvPr id="15" name="Text 12"/>
          <p:cNvSpPr txBox="1"/>
          <p:nvPr/>
        </p:nvSpPr>
        <p:spPr>
          <a:xfrm>
            <a:off x="8686800" y="4050792"/>
            <a:ext cx="2788920" cy="320040"/>
          </a:xfrm>
          <a:prstGeom prst="rect">
            <a:avLst/>
          </a:prstGeom>
          <a:noFill/>
          <a:ln/>
        </p:spPr>
        <p:txBody>
          <a:bodyPr wrap="square" lIns="0" tIns="0" rIns="0" bIns="0" rtlCol="0" anchor="t"/>
          <a:lstStyle/>
          <a:p>
            <a:pPr algn="l" indent="0" marL="0">
              <a:buNone/>
            </a:pPr>
            <a:r>
              <a:rPr lang="en-US" sz="1150" dirty="0">
                <a:solidFill>
                  <a:srgbClr val="5B6B7F"/>
                </a:solidFill>
                <a:latin typeface="Calibri" pitchFamily="34" charset="0"/>
                <a:ea typeface="Calibri" pitchFamily="34" charset="-122"/>
                <a:cs typeface="Calibri" pitchFamily="34" charset="-120"/>
              </a:rPr>
              <a:t>2026</a:t>
            </a:r>
            <a:endParaRPr lang="en-US" sz="1150" dirty="0"/>
          </a:p>
        </p:txBody>
      </p:sp>
      <p:sp>
        <p:nvSpPr>
          <p:cNvPr id="16" name="Shape 13"/>
          <p:cNvSpPr/>
          <p:nvPr/>
        </p:nvSpPr>
        <p:spPr>
          <a:xfrm>
            <a:off x="8503920" y="4690872"/>
            <a:ext cx="3136392" cy="1481328"/>
          </a:xfrm>
          <a:prstGeom prst="roundRect">
            <a:avLst>
              <a:gd name="adj" fmla="val 8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7" name="Text 14"/>
          <p:cNvSpPr txBox="1"/>
          <p:nvPr/>
        </p:nvSpPr>
        <p:spPr>
          <a:xfrm>
            <a:off x="8686800" y="4828032"/>
            <a:ext cx="2788920" cy="594360"/>
          </a:xfrm>
          <a:prstGeom prst="rect">
            <a:avLst/>
          </a:prstGeom>
          <a:noFill/>
          <a:ln/>
        </p:spPr>
        <p:txBody>
          <a:bodyPr wrap="square" lIns="0" tIns="0" rIns="0" bIns="0" rtlCol="0" anchor="ctr"/>
          <a:lstStyle/>
          <a:p>
            <a:pPr algn="l" indent="0" marL="0">
              <a:buNone/>
            </a:pPr>
            <a:r>
              <a:rPr lang="en-US" sz="3000" b="1" dirty="0">
                <a:solidFill>
                  <a:srgbClr val="E8453C"/>
                </a:solidFill>
                <a:latin typeface="Arial" pitchFamily="34" charset="0"/>
                <a:ea typeface="Arial" pitchFamily="34" charset="-122"/>
                <a:cs typeface="Arial" pitchFamily="34" charset="-120"/>
              </a:rPr>
              <a:t>1,000,000 MT</a:t>
            </a:r>
            <a:endParaRPr lang="en-US" sz="3000" dirty="0"/>
          </a:p>
        </p:txBody>
      </p:sp>
      <p:sp>
        <p:nvSpPr>
          <p:cNvPr id="18" name="Text 15"/>
          <p:cNvSpPr txBox="1"/>
          <p:nvPr/>
        </p:nvSpPr>
        <p:spPr>
          <a:xfrm>
            <a:off x="8686800" y="5440680"/>
            <a:ext cx="2788920" cy="320040"/>
          </a:xfrm>
          <a:prstGeom prst="rect">
            <a:avLst/>
          </a:prstGeom>
          <a:noFill/>
          <a:ln/>
        </p:spPr>
        <p:txBody>
          <a:bodyPr wrap="square" lIns="0" tIns="0" rIns="0" bIns="0" rtlCol="0" anchor="t"/>
          <a:lstStyle/>
          <a:p>
            <a:pPr algn="l" indent="0" marL="0">
              <a:buNone/>
            </a:pPr>
            <a:r>
              <a:rPr lang="en-US" sz="1400" b="1" dirty="0">
                <a:solidFill>
                  <a:srgbClr val="10233F"/>
                </a:solidFill>
                <a:latin typeface="Calibri" pitchFamily="34" charset="0"/>
                <a:ea typeface="Calibri" pitchFamily="34" charset="-122"/>
                <a:cs typeface="Calibri" pitchFamily="34" charset="-120"/>
              </a:rPr>
              <a:t>total planned capacity</a:t>
            </a:r>
            <a:endParaRPr lang="en-US" sz="1400" dirty="0"/>
          </a:p>
        </p:txBody>
      </p:sp>
      <p:sp>
        <p:nvSpPr>
          <p:cNvPr id="19" name="Text 16"/>
          <p:cNvSpPr txBox="1"/>
          <p:nvPr/>
        </p:nvSpPr>
        <p:spPr>
          <a:xfrm>
            <a:off x="8686800" y="5733288"/>
            <a:ext cx="2788920" cy="320040"/>
          </a:xfrm>
          <a:prstGeom prst="rect">
            <a:avLst/>
          </a:prstGeom>
          <a:noFill/>
          <a:ln/>
        </p:spPr>
        <p:txBody>
          <a:bodyPr wrap="square" lIns="0" tIns="0" rIns="0" bIns="0" rtlCol="0" anchor="t"/>
          <a:lstStyle/>
          <a:p>
            <a:pPr algn="l" indent="0" marL="0">
              <a:buNone/>
            </a:pPr>
            <a:r>
              <a:rPr lang="en-US" sz="1150" dirty="0">
                <a:solidFill>
                  <a:srgbClr val="5B6B7F"/>
                </a:solidFill>
                <a:latin typeface="Calibri" pitchFamily="34" charset="0"/>
                <a:ea typeface="Calibri" pitchFamily="34" charset="-122"/>
                <a:cs typeface="Calibri" pitchFamily="34" charset="-120"/>
              </a:rPr>
              <a:t>hard and soft blacks, plus specialty grades</a:t>
            </a:r>
            <a:endParaRPr lang="en-US" sz="115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Three Production Bases</a:t>
            </a:r>
            <a:endParaRPr lang="en-US" sz="2800" dirty="0"/>
          </a:p>
        </p:txBody>
      </p:sp>
      <p:pic>
        <p:nvPicPr>
          <p:cNvPr id="3" name="Image 0" descr="/tmp/claude-0/-home-user-keyuan/fe094a75-461e-584f-b109-946f5642fe8f/scratchpad/build/img/china_map.png">    </p:cNvPr>
          <p:cNvPicPr>
            <a:picLocks noChangeAspect="1"/>
          </p:cNvPicPr>
          <p:nvPr/>
        </p:nvPicPr>
        <p:blipFill>
          <a:blip r:embed="rId1"/>
          <a:stretch>
            <a:fillRect/>
          </a:stretch>
        </p:blipFill>
        <p:spPr>
          <a:xfrm>
            <a:off x="411480" y="1325880"/>
            <a:ext cx="6400800" cy="4023877"/>
          </a:xfrm>
          <a:prstGeom prst="rect">
            <a:avLst/>
          </a:prstGeom>
        </p:spPr>
      </p:pic>
      <p:pic>
        <p:nvPicPr>
          <p:cNvPr id="4" name="Image 1" descr="/tmp/claude-0/-home-user-keyuan/fe094a75-461e-584f-b109-946f5642fe8f/scratchpad/build/img/pin_blue.png">    </p:cNvPr>
          <p:cNvPicPr>
            <a:picLocks noChangeAspect="1"/>
          </p:cNvPicPr>
          <p:nvPr/>
        </p:nvPicPr>
        <p:blipFill>
          <a:blip r:embed="rId2"/>
          <a:stretch>
            <a:fillRect/>
          </a:stretch>
        </p:blipFill>
        <p:spPr>
          <a:xfrm>
            <a:off x="4198193" y="3463171"/>
            <a:ext cx="384048" cy="498348"/>
          </a:xfrm>
          <a:prstGeom prst="rect">
            <a:avLst/>
          </a:prstGeom>
        </p:spPr>
      </p:pic>
      <p:pic>
        <p:nvPicPr>
          <p:cNvPr id="5" name="Image 2" descr="/tmp/claude-0/-home-user-keyuan/fe094a75-461e-584f-b109-946f5642fe8f/scratchpad/build/img/pin_blue.png">    </p:cNvPr>
          <p:cNvPicPr>
            <a:picLocks noChangeAspect="1"/>
          </p:cNvPicPr>
          <p:nvPr/>
        </p:nvPicPr>
        <p:blipFill>
          <a:blip r:embed="rId3"/>
          <a:stretch>
            <a:fillRect/>
          </a:stretch>
        </p:blipFill>
        <p:spPr>
          <a:xfrm>
            <a:off x="3167664" y="4079227"/>
            <a:ext cx="384048" cy="498348"/>
          </a:xfrm>
          <a:prstGeom prst="rect">
            <a:avLst/>
          </a:prstGeom>
        </p:spPr>
      </p:pic>
      <p:sp>
        <p:nvSpPr>
          <p:cNvPr id="6" name="Shape 1"/>
          <p:cNvSpPr/>
          <p:nvPr/>
        </p:nvSpPr>
        <p:spPr>
          <a:xfrm>
            <a:off x="4664537" y="3394591"/>
            <a:ext cx="1828800" cy="329184"/>
          </a:xfrm>
          <a:prstGeom prst="roundRect">
            <a:avLst>
              <a:gd name="adj" fmla="val 50000"/>
            </a:avLst>
          </a:prstGeom>
          <a:solidFill>
            <a:srgbClr val="FFFFFF"/>
          </a:solidFill>
          <a:ln w="12700">
            <a:solidFill>
              <a:srgbClr val="FFFFFF"/>
            </a:solidFill>
            <a:prstDash val="solid"/>
          </a:ln>
        </p:spPr>
      </p:sp>
      <p:sp>
        <p:nvSpPr>
          <p:cNvPr id="7" name="Text 2"/>
          <p:cNvSpPr txBox="1"/>
          <p:nvPr/>
        </p:nvSpPr>
        <p:spPr>
          <a:xfrm>
            <a:off x="4664537" y="3394591"/>
            <a:ext cx="1828800" cy="329184"/>
          </a:xfrm>
          <a:prstGeom prst="rect">
            <a:avLst/>
          </a:prstGeom>
          <a:noFill/>
          <a:ln/>
        </p:spPr>
        <p:txBody>
          <a:bodyPr wrap="square" lIns="0" tIns="0" rIns="0" bIns="0" rtlCol="0" anchor="ctr"/>
          <a:lstStyle/>
          <a:p>
            <a:pPr algn="ctr" indent="0" marL="0">
              <a:buNone/>
            </a:pPr>
            <a:r>
              <a:rPr lang="en-US" sz="1200" b="1" dirty="0">
                <a:solidFill>
                  <a:srgbClr val="0B4DA2"/>
                </a:solidFill>
                <a:latin typeface="Calibri" pitchFamily="34" charset="0"/>
                <a:ea typeface="Calibri" pitchFamily="34" charset="-122"/>
                <a:cs typeface="Calibri" pitchFamily="34" charset="-120"/>
              </a:rPr>
              <a:t>Ningbo · Shengzhou</a:t>
            </a:r>
            <a:endParaRPr lang="en-US" sz="1200" dirty="0"/>
          </a:p>
        </p:txBody>
      </p:sp>
      <p:sp>
        <p:nvSpPr>
          <p:cNvPr id="8" name="Shape 3"/>
          <p:cNvSpPr/>
          <p:nvPr/>
        </p:nvSpPr>
        <p:spPr>
          <a:xfrm>
            <a:off x="1302288" y="4486135"/>
            <a:ext cx="1600200" cy="329184"/>
          </a:xfrm>
          <a:prstGeom prst="roundRect">
            <a:avLst>
              <a:gd name="adj" fmla="val 50000"/>
            </a:avLst>
          </a:prstGeom>
          <a:solidFill>
            <a:srgbClr val="FFFFFF"/>
          </a:solidFill>
          <a:ln w="12700">
            <a:solidFill>
              <a:srgbClr val="FFFFFF"/>
            </a:solidFill>
            <a:prstDash val="solid"/>
          </a:ln>
        </p:spPr>
      </p:sp>
      <p:sp>
        <p:nvSpPr>
          <p:cNvPr id="9" name="Text 4"/>
          <p:cNvSpPr txBox="1"/>
          <p:nvPr/>
        </p:nvSpPr>
        <p:spPr>
          <a:xfrm>
            <a:off x="1302288" y="4486135"/>
            <a:ext cx="1600200" cy="329184"/>
          </a:xfrm>
          <a:prstGeom prst="rect">
            <a:avLst/>
          </a:prstGeom>
          <a:noFill/>
          <a:ln/>
        </p:spPr>
        <p:txBody>
          <a:bodyPr wrap="square" lIns="0" tIns="0" rIns="0" bIns="0" rtlCol="0" anchor="ctr"/>
          <a:lstStyle/>
          <a:p>
            <a:pPr algn="ctr" indent="0" marL="0">
              <a:buNone/>
            </a:pPr>
            <a:r>
              <a:rPr lang="en-US" sz="1200" b="1" dirty="0">
                <a:solidFill>
                  <a:srgbClr val="0B4DA2"/>
                </a:solidFill>
                <a:latin typeface="Calibri" pitchFamily="34" charset="0"/>
                <a:ea typeface="Calibri" pitchFamily="34" charset="-122"/>
                <a:cs typeface="Calibri" pitchFamily="34" charset="-120"/>
              </a:rPr>
              <a:t>Fangchenggang</a:t>
            </a:r>
            <a:endParaRPr lang="en-US" sz="1200" dirty="0"/>
          </a:p>
        </p:txBody>
      </p:sp>
      <p:sp>
        <p:nvSpPr>
          <p:cNvPr id="10" name="Shape 5"/>
          <p:cNvSpPr/>
          <p:nvPr/>
        </p:nvSpPr>
        <p:spPr>
          <a:xfrm>
            <a:off x="685800" y="5669280"/>
            <a:ext cx="3749040" cy="420624"/>
          </a:xfrm>
          <a:prstGeom prst="roundRect">
            <a:avLst>
              <a:gd name="adj" fmla="val 50000"/>
            </a:avLst>
          </a:prstGeom>
          <a:solidFill>
            <a:srgbClr val="0B4DA2"/>
          </a:solidFill>
          <a:ln w="12700">
            <a:solidFill>
              <a:srgbClr val="0B4DA2"/>
            </a:solidFill>
            <a:prstDash val="solid"/>
          </a:ln>
        </p:spPr>
      </p:sp>
      <p:sp>
        <p:nvSpPr>
          <p:cNvPr id="11" name="Text 6"/>
          <p:cNvSpPr txBox="1"/>
          <p:nvPr/>
        </p:nvSpPr>
        <p:spPr>
          <a:xfrm>
            <a:off x="685800" y="5669280"/>
            <a:ext cx="37490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bases · 350,000 MT/yr in operation</a:t>
            </a:r>
            <a:endParaRPr lang="en-US" sz="1300" dirty="0"/>
          </a:p>
        </p:txBody>
      </p:sp>
      <p:sp>
        <p:nvSpPr>
          <p:cNvPr id="12" name="Shape 7"/>
          <p:cNvSpPr/>
          <p:nvPr/>
        </p:nvSpPr>
        <p:spPr>
          <a:xfrm>
            <a:off x="7086600" y="1325880"/>
            <a:ext cx="4553712"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3" name="Shape 8"/>
          <p:cNvSpPr/>
          <p:nvPr/>
        </p:nvSpPr>
        <p:spPr>
          <a:xfrm>
            <a:off x="7315200" y="1527048"/>
            <a:ext cx="1234440" cy="310896"/>
          </a:xfrm>
          <a:prstGeom prst="roundRect">
            <a:avLst>
              <a:gd name="adj" fmla="val 50000"/>
            </a:avLst>
          </a:prstGeom>
          <a:solidFill>
            <a:srgbClr val="0B4DA2"/>
          </a:solidFill>
          <a:ln w="12700">
            <a:solidFill>
              <a:srgbClr val="0B4DA2"/>
            </a:solidFill>
            <a:prstDash val="solid"/>
          </a:ln>
        </p:spPr>
      </p:sp>
      <p:sp>
        <p:nvSpPr>
          <p:cNvPr id="14" name="Text 9"/>
          <p:cNvSpPr txBox="1"/>
          <p:nvPr/>
        </p:nvSpPr>
        <p:spPr>
          <a:xfrm>
            <a:off x="7315200" y="1527048"/>
            <a:ext cx="12344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ZHEJIANG</a:t>
            </a:r>
            <a:endParaRPr lang="en-US" sz="1100" dirty="0"/>
          </a:p>
        </p:txBody>
      </p:sp>
      <p:sp>
        <p:nvSpPr>
          <p:cNvPr id="15" name="Text 10"/>
          <p:cNvSpPr txBox="1"/>
          <p:nvPr/>
        </p:nvSpPr>
        <p:spPr>
          <a:xfrm>
            <a:off x="8686800" y="1472184"/>
            <a:ext cx="2743200" cy="411480"/>
          </a:xfrm>
          <a:prstGeom prst="rect">
            <a:avLst/>
          </a:prstGeom>
          <a:noFill/>
          <a:ln/>
        </p:spPr>
        <p:txBody>
          <a:bodyPr wrap="square" lIns="0" tIns="0" rIns="0" bIns="0" rtlCol="0" anchor="ctr"/>
          <a:lstStyle/>
          <a:p>
            <a:pPr algn="l" indent="0" marL="0">
              <a:buNone/>
            </a:pPr>
            <a:r>
              <a:rPr lang="en-US" sz="1900" b="1" dirty="0">
                <a:solidFill>
                  <a:srgbClr val="10233F"/>
                </a:solidFill>
                <a:latin typeface="Arial" pitchFamily="34" charset="0"/>
                <a:ea typeface="Arial" pitchFamily="34" charset="-122"/>
                <a:cs typeface="Arial" pitchFamily="34" charset="-120"/>
              </a:rPr>
              <a:t>Ningbo</a:t>
            </a:r>
            <a:endParaRPr lang="en-US" sz="1900" dirty="0"/>
          </a:p>
        </p:txBody>
      </p:sp>
      <p:sp>
        <p:nvSpPr>
          <p:cNvPr id="16" name="Text 11"/>
          <p:cNvSpPr txBox="1"/>
          <p:nvPr/>
        </p:nvSpPr>
        <p:spPr>
          <a:xfrm>
            <a:off x="7315200" y="1965960"/>
            <a:ext cx="4160520" cy="347472"/>
          </a:xfrm>
          <a:prstGeom prst="rect">
            <a:avLst/>
          </a:prstGeom>
          <a:noFill/>
          <a:ln/>
        </p:spPr>
        <p:txBody>
          <a:bodyPr wrap="square" lIns="0" tIns="0" rIns="0" bIns="0" rtlCol="0" anchor="ctr"/>
          <a:lstStyle/>
          <a:p>
            <a:pPr algn="l" indent="0" marL="0">
              <a:buNone/>
            </a:pPr>
            <a:r>
              <a:rPr lang="en-US" sz="1400" b="1" dirty="0">
                <a:solidFill>
                  <a:srgbClr val="0B4DA2"/>
                </a:solidFill>
                <a:latin typeface="Calibri" pitchFamily="34" charset="0"/>
                <a:ea typeface="Calibri" pitchFamily="34" charset="-122"/>
                <a:cs typeface="Calibri" pitchFamily="34" charset="-120"/>
              </a:rPr>
              <a:t>80,000 MT/yr  ·  N330, N326</a:t>
            </a:r>
            <a:endParaRPr lang="en-US" sz="1400" dirty="0"/>
          </a:p>
        </p:txBody>
      </p:sp>
      <p:sp>
        <p:nvSpPr>
          <p:cNvPr id="17" name="Text 12"/>
          <p:cNvSpPr txBox="1"/>
          <p:nvPr/>
        </p:nvSpPr>
        <p:spPr>
          <a:xfrm>
            <a:off x="7315200" y="2313432"/>
            <a:ext cx="4160520" cy="347472"/>
          </a:xfrm>
          <a:prstGeom prst="rect">
            <a:avLst/>
          </a:prstGeom>
          <a:noFill/>
          <a:ln/>
        </p:spPr>
        <p:txBody>
          <a:bodyPr wrap="square" lIns="0" tIns="0" rIns="0" bIns="0" rtlCol="0" anchor="ctr"/>
          <a:lstStyle/>
          <a:p>
            <a:pPr algn="l" indent="0" marL="0">
              <a:buNone/>
            </a:pPr>
            <a:r>
              <a:rPr lang="en-US" sz="1200" dirty="0">
                <a:solidFill>
                  <a:srgbClr val="5B6B7F"/>
                </a:solidFill>
                <a:latin typeface="Calibri" pitchFamily="34" charset="0"/>
                <a:ea typeface="Calibri" pitchFamily="34" charset="-122"/>
                <a:cs typeface="Calibri" pitchFamily="34" charset="-120"/>
              </a:rPr>
              <a:t>5 km from Ningbo port</a:t>
            </a:r>
            <a:endParaRPr lang="en-US" sz="1200" dirty="0"/>
          </a:p>
        </p:txBody>
      </p:sp>
      <p:sp>
        <p:nvSpPr>
          <p:cNvPr id="18" name="Shape 13"/>
          <p:cNvSpPr/>
          <p:nvPr/>
        </p:nvSpPr>
        <p:spPr>
          <a:xfrm>
            <a:off x="7086600" y="2953512"/>
            <a:ext cx="4553712"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9" name="Shape 14"/>
          <p:cNvSpPr/>
          <p:nvPr/>
        </p:nvSpPr>
        <p:spPr>
          <a:xfrm>
            <a:off x="7315200" y="3154680"/>
            <a:ext cx="1234440" cy="310896"/>
          </a:xfrm>
          <a:prstGeom prst="roundRect">
            <a:avLst>
              <a:gd name="adj" fmla="val 50000"/>
            </a:avLst>
          </a:prstGeom>
          <a:solidFill>
            <a:srgbClr val="0B4DA2"/>
          </a:solidFill>
          <a:ln w="12700">
            <a:solidFill>
              <a:srgbClr val="0B4DA2"/>
            </a:solidFill>
            <a:prstDash val="solid"/>
          </a:ln>
        </p:spPr>
      </p:sp>
      <p:sp>
        <p:nvSpPr>
          <p:cNvPr id="20" name="Text 15"/>
          <p:cNvSpPr txBox="1"/>
          <p:nvPr/>
        </p:nvSpPr>
        <p:spPr>
          <a:xfrm>
            <a:off x="7315200" y="3154680"/>
            <a:ext cx="12344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ZHEJIANG</a:t>
            </a:r>
            <a:endParaRPr lang="en-US" sz="1100" dirty="0"/>
          </a:p>
        </p:txBody>
      </p:sp>
      <p:sp>
        <p:nvSpPr>
          <p:cNvPr id="21" name="Text 16"/>
          <p:cNvSpPr txBox="1"/>
          <p:nvPr/>
        </p:nvSpPr>
        <p:spPr>
          <a:xfrm>
            <a:off x="8686800" y="3099816"/>
            <a:ext cx="2743200" cy="411480"/>
          </a:xfrm>
          <a:prstGeom prst="rect">
            <a:avLst/>
          </a:prstGeom>
          <a:noFill/>
          <a:ln/>
        </p:spPr>
        <p:txBody>
          <a:bodyPr wrap="square" lIns="0" tIns="0" rIns="0" bIns="0" rtlCol="0" anchor="ctr"/>
          <a:lstStyle/>
          <a:p>
            <a:pPr algn="l" indent="0" marL="0">
              <a:buNone/>
            </a:pPr>
            <a:r>
              <a:rPr lang="en-US" sz="1900" b="1" dirty="0">
                <a:solidFill>
                  <a:srgbClr val="10233F"/>
                </a:solidFill>
                <a:latin typeface="Arial" pitchFamily="34" charset="0"/>
                <a:ea typeface="Arial" pitchFamily="34" charset="-122"/>
                <a:cs typeface="Arial" pitchFamily="34" charset="-120"/>
              </a:rPr>
              <a:t>Shengzhou</a:t>
            </a:r>
            <a:endParaRPr lang="en-US" sz="1900" dirty="0"/>
          </a:p>
        </p:txBody>
      </p:sp>
      <p:sp>
        <p:nvSpPr>
          <p:cNvPr id="22" name="Text 17"/>
          <p:cNvSpPr txBox="1"/>
          <p:nvPr/>
        </p:nvSpPr>
        <p:spPr>
          <a:xfrm>
            <a:off x="7315200" y="3593592"/>
            <a:ext cx="4160520" cy="347472"/>
          </a:xfrm>
          <a:prstGeom prst="rect">
            <a:avLst/>
          </a:prstGeom>
          <a:noFill/>
          <a:ln/>
        </p:spPr>
        <p:txBody>
          <a:bodyPr wrap="square" lIns="0" tIns="0" rIns="0" bIns="0" rtlCol="0" anchor="ctr"/>
          <a:lstStyle/>
          <a:p>
            <a:pPr algn="l" indent="0" marL="0">
              <a:buNone/>
            </a:pPr>
            <a:r>
              <a:rPr lang="en-US" sz="1400" b="1" dirty="0">
                <a:solidFill>
                  <a:srgbClr val="0B4DA2"/>
                </a:solidFill>
                <a:latin typeface="Calibri" pitchFamily="34" charset="0"/>
                <a:ea typeface="Calibri" pitchFamily="34" charset="-122"/>
                <a:cs typeface="Calibri" pitchFamily="34" charset="-120"/>
              </a:rPr>
              <a:t>120,000 MT/yr  ·  N330, N326</a:t>
            </a:r>
            <a:endParaRPr lang="en-US" sz="1400" dirty="0"/>
          </a:p>
        </p:txBody>
      </p:sp>
      <p:sp>
        <p:nvSpPr>
          <p:cNvPr id="23" name="Text 18"/>
          <p:cNvSpPr txBox="1"/>
          <p:nvPr/>
        </p:nvSpPr>
        <p:spPr>
          <a:xfrm>
            <a:off x="7315200" y="3941064"/>
            <a:ext cx="4160520" cy="347472"/>
          </a:xfrm>
          <a:prstGeom prst="rect">
            <a:avLst/>
          </a:prstGeom>
          <a:noFill/>
          <a:ln/>
        </p:spPr>
        <p:txBody>
          <a:bodyPr wrap="square" lIns="0" tIns="0" rIns="0" bIns="0" rtlCol="0" anchor="ctr"/>
          <a:lstStyle/>
          <a:p>
            <a:pPr algn="l" indent="0" marL="0">
              <a:buNone/>
            </a:pPr>
            <a:r>
              <a:rPr lang="en-US" sz="1200" dirty="0">
                <a:solidFill>
                  <a:srgbClr val="5B6B7F"/>
                </a:solidFill>
                <a:latin typeface="Calibri" pitchFamily="34" charset="0"/>
                <a:ea typeface="Calibri" pitchFamily="34" charset="-122"/>
                <a:cs typeface="Calibri" pitchFamily="34" charset="-120"/>
              </a:rPr>
              <a:t>Hard-black base; N220, N234 and N375 planned</a:t>
            </a:r>
            <a:endParaRPr lang="en-US" sz="1200" dirty="0"/>
          </a:p>
        </p:txBody>
      </p:sp>
      <p:sp>
        <p:nvSpPr>
          <p:cNvPr id="24" name="Shape 19"/>
          <p:cNvSpPr/>
          <p:nvPr/>
        </p:nvSpPr>
        <p:spPr>
          <a:xfrm>
            <a:off x="7086600" y="4581144"/>
            <a:ext cx="4553712"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5" name="Shape 20"/>
          <p:cNvSpPr/>
          <p:nvPr/>
        </p:nvSpPr>
        <p:spPr>
          <a:xfrm>
            <a:off x="7315200" y="4782312"/>
            <a:ext cx="1234440" cy="310896"/>
          </a:xfrm>
          <a:prstGeom prst="roundRect">
            <a:avLst>
              <a:gd name="adj" fmla="val 50000"/>
            </a:avLst>
          </a:prstGeom>
          <a:solidFill>
            <a:srgbClr val="0B4DA2"/>
          </a:solidFill>
          <a:ln w="12700">
            <a:solidFill>
              <a:srgbClr val="0B4DA2"/>
            </a:solidFill>
            <a:prstDash val="solid"/>
          </a:ln>
        </p:spPr>
      </p:sp>
      <p:sp>
        <p:nvSpPr>
          <p:cNvPr id="26" name="Text 21"/>
          <p:cNvSpPr txBox="1"/>
          <p:nvPr/>
        </p:nvSpPr>
        <p:spPr>
          <a:xfrm>
            <a:off x="7315200" y="4782312"/>
            <a:ext cx="123444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GUANGXI</a:t>
            </a:r>
            <a:endParaRPr lang="en-US" sz="1100" dirty="0"/>
          </a:p>
        </p:txBody>
      </p:sp>
      <p:sp>
        <p:nvSpPr>
          <p:cNvPr id="27" name="Text 22"/>
          <p:cNvSpPr txBox="1"/>
          <p:nvPr/>
        </p:nvSpPr>
        <p:spPr>
          <a:xfrm>
            <a:off x="8686800" y="4727448"/>
            <a:ext cx="2743200" cy="411480"/>
          </a:xfrm>
          <a:prstGeom prst="rect">
            <a:avLst/>
          </a:prstGeom>
          <a:noFill/>
          <a:ln/>
        </p:spPr>
        <p:txBody>
          <a:bodyPr wrap="square" lIns="0" tIns="0" rIns="0" bIns="0" rtlCol="0" anchor="ctr"/>
          <a:lstStyle/>
          <a:p>
            <a:pPr algn="l" indent="0" marL="0">
              <a:buNone/>
            </a:pPr>
            <a:r>
              <a:rPr lang="en-US" sz="1900" b="1" dirty="0">
                <a:solidFill>
                  <a:srgbClr val="10233F"/>
                </a:solidFill>
                <a:latin typeface="Arial" pitchFamily="34" charset="0"/>
                <a:ea typeface="Arial" pitchFamily="34" charset="-122"/>
                <a:cs typeface="Arial" pitchFamily="34" charset="-120"/>
              </a:rPr>
              <a:t>Fangchenggang</a:t>
            </a:r>
            <a:endParaRPr lang="en-US" sz="1900" dirty="0"/>
          </a:p>
        </p:txBody>
      </p:sp>
      <p:sp>
        <p:nvSpPr>
          <p:cNvPr id="28" name="Text 23"/>
          <p:cNvSpPr txBox="1"/>
          <p:nvPr/>
        </p:nvSpPr>
        <p:spPr>
          <a:xfrm>
            <a:off x="7315200" y="5221224"/>
            <a:ext cx="4160520" cy="347472"/>
          </a:xfrm>
          <a:prstGeom prst="rect">
            <a:avLst/>
          </a:prstGeom>
          <a:noFill/>
          <a:ln/>
        </p:spPr>
        <p:txBody>
          <a:bodyPr wrap="square" lIns="0" tIns="0" rIns="0" bIns="0" rtlCol="0" anchor="ctr"/>
          <a:lstStyle/>
          <a:p>
            <a:pPr algn="l" indent="0" marL="0">
              <a:buNone/>
            </a:pPr>
            <a:r>
              <a:rPr lang="en-US" sz="1400" b="1" dirty="0">
                <a:solidFill>
                  <a:srgbClr val="0B4DA2"/>
                </a:solidFill>
                <a:latin typeface="Calibri" pitchFamily="34" charset="0"/>
                <a:ea typeface="Calibri" pitchFamily="34" charset="-122"/>
                <a:cs typeface="Calibri" pitchFamily="34" charset="-120"/>
              </a:rPr>
              <a:t>150,000 MT/yr  ·  N220, N330, N326, N550, N660</a:t>
            </a:r>
            <a:endParaRPr lang="en-US" sz="1400" dirty="0"/>
          </a:p>
        </p:txBody>
      </p:sp>
      <p:sp>
        <p:nvSpPr>
          <p:cNvPr id="29" name="Text 24"/>
          <p:cNvSpPr txBox="1"/>
          <p:nvPr/>
        </p:nvSpPr>
        <p:spPr>
          <a:xfrm>
            <a:off x="7315200" y="5568696"/>
            <a:ext cx="4160520" cy="347472"/>
          </a:xfrm>
          <a:prstGeom prst="rect">
            <a:avLst/>
          </a:prstGeom>
          <a:noFill/>
          <a:ln/>
        </p:spPr>
        <p:txBody>
          <a:bodyPr wrap="square" lIns="0" tIns="0" rIns="0" bIns="0" rtlCol="0" anchor="ctr"/>
          <a:lstStyle/>
          <a:p>
            <a:pPr algn="l" indent="0" marL="0">
              <a:buNone/>
            </a:pPr>
            <a:r>
              <a:rPr lang="en-US" sz="1200" dirty="0">
                <a:solidFill>
                  <a:srgbClr val="5B6B7F"/>
                </a:solidFill>
                <a:latin typeface="Calibri" pitchFamily="34" charset="0"/>
                <a:ea typeface="Calibri" pitchFamily="34" charset="-122"/>
                <a:cs typeface="Calibri" pitchFamily="34" charset="-120"/>
              </a:rPr>
              <a:t>35 km to Fangchenggang port · Hanoi 275 km by road</a:t>
            </a:r>
            <a:endParaRPr lang="en-US" sz="12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Capacity Roadmap</a:t>
            </a:r>
            <a:endParaRPr lang="en-US" sz="2800" dirty="0"/>
          </a:p>
        </p:txBody>
      </p:sp>
      <p:sp>
        <p:nvSpPr>
          <p:cNvPr id="3" name="Shape 1"/>
          <p:cNvSpPr/>
          <p:nvPr/>
        </p:nvSpPr>
        <p:spPr>
          <a:xfrm>
            <a:off x="548640" y="1325880"/>
            <a:ext cx="6949440" cy="4846320"/>
          </a:xfrm>
          <a:prstGeom prst="roundRect">
            <a:avLst>
              <a:gd name="adj" fmla="val 2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graphicFrame>
        <p:nvGraphicFramePr>
          <p:cNvPr id="4" name="Chart 0" descr=""/>
          <p:cNvGraphicFramePr/>
          <p:nvPr/>
        </p:nvGraphicFramePr>
        <p:xfrm>
          <a:off x="731520" y="146304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26680" y="1325880"/>
            <a:ext cx="3913632" cy="4846320"/>
          </a:xfrm>
          <a:prstGeom prst="roundRect">
            <a:avLst>
              <a:gd name="adj" fmla="val 3271"/>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6" name="Text 3"/>
          <p:cNvSpPr txBox="1"/>
          <p:nvPr/>
        </p:nvSpPr>
        <p:spPr>
          <a:xfrm>
            <a:off x="7955280" y="1508760"/>
            <a:ext cx="3474720" cy="502920"/>
          </a:xfrm>
          <a:prstGeom prst="rect">
            <a:avLst/>
          </a:prstGeom>
          <a:noFill/>
          <a:ln/>
        </p:spPr>
        <p:txBody>
          <a:bodyPr wrap="square" lIns="0" tIns="0" rIns="0" bIns="0" rtlCol="0" anchor="ctr"/>
          <a:lstStyle/>
          <a:p>
            <a:pPr algn="l" indent="0" marL="0">
              <a:buNone/>
            </a:pPr>
            <a:r>
              <a:rPr lang="en-US" sz="2600" b="1" dirty="0">
                <a:solidFill>
                  <a:srgbClr val="0B4DA2"/>
                </a:solidFill>
                <a:latin typeface="Arial" pitchFamily="34" charset="0"/>
                <a:ea typeface="Arial" pitchFamily="34" charset="-122"/>
                <a:cs typeface="Arial" pitchFamily="34" charset="-120"/>
              </a:rPr>
              <a:t>350,000 MT/yr</a:t>
            </a:r>
            <a:endParaRPr lang="en-US" sz="2600" dirty="0"/>
          </a:p>
        </p:txBody>
      </p:sp>
      <p:sp>
        <p:nvSpPr>
          <p:cNvPr id="7" name="Text 4"/>
          <p:cNvSpPr txBox="1"/>
          <p:nvPr/>
        </p:nvSpPr>
        <p:spPr>
          <a:xfrm>
            <a:off x="7955280" y="1993392"/>
            <a:ext cx="3474720" cy="292608"/>
          </a:xfrm>
          <a:prstGeom prst="rect">
            <a:avLst/>
          </a:prstGeom>
          <a:noFill/>
          <a:ln/>
        </p:spPr>
        <p:txBody>
          <a:bodyPr wrap="square" lIns="0" tIns="0" rIns="0" bIns="0" rtlCol="0" anchor="t"/>
          <a:lstStyle/>
          <a:p>
            <a:pPr algn="l" indent="0" marL="0">
              <a:buNone/>
            </a:pPr>
            <a:r>
              <a:rPr lang="en-US" sz="1250" dirty="0">
                <a:solidFill>
                  <a:srgbClr val="5B6B7F"/>
                </a:solidFill>
                <a:latin typeface="Calibri" pitchFamily="34" charset="0"/>
                <a:ea typeface="Calibri" pitchFamily="34" charset="-122"/>
                <a:cs typeface="Calibri" pitchFamily="34" charset="-120"/>
              </a:rPr>
              <a:t>in operation today (2026)</a:t>
            </a:r>
            <a:endParaRPr lang="en-US" sz="1250" dirty="0"/>
          </a:p>
        </p:txBody>
      </p:sp>
      <p:sp>
        <p:nvSpPr>
          <p:cNvPr id="8" name="Text 5"/>
          <p:cNvSpPr txBox="1"/>
          <p:nvPr/>
        </p:nvSpPr>
        <p:spPr>
          <a:xfrm>
            <a:off x="7955280" y="2395728"/>
            <a:ext cx="2926080" cy="329184"/>
          </a:xfrm>
          <a:prstGeom prst="rect">
            <a:avLst/>
          </a:prstGeom>
          <a:noFill/>
          <a:ln/>
        </p:spPr>
        <p:txBody>
          <a:bodyPr wrap="square" lIns="0" tIns="0" rIns="0" bIns="0" rtlCol="0" anchor="ctr"/>
          <a:lstStyle/>
          <a:p>
            <a:pPr algn="l" indent="0" marL="0">
              <a:buNone/>
            </a:pPr>
            <a:r>
              <a:rPr lang="en-US" sz="1300" b="1" i="1" dirty="0">
                <a:solidFill>
                  <a:srgbClr val="1565C0"/>
                </a:solidFill>
                <a:latin typeface="Calibri" pitchFamily="34" charset="0"/>
                <a:ea typeface="Calibri" pitchFamily="34" charset="-122"/>
                <a:cs typeface="Calibri" pitchFamily="34" charset="-120"/>
              </a:rPr>
              <a:t>↓  expanding to</a:t>
            </a:r>
            <a:endParaRPr lang="en-US" sz="1300" dirty="0"/>
          </a:p>
        </p:txBody>
      </p:sp>
      <p:sp>
        <p:nvSpPr>
          <p:cNvPr id="9" name="Text 6"/>
          <p:cNvSpPr txBox="1"/>
          <p:nvPr/>
        </p:nvSpPr>
        <p:spPr>
          <a:xfrm>
            <a:off x="7955280" y="2788920"/>
            <a:ext cx="3474720" cy="502920"/>
          </a:xfrm>
          <a:prstGeom prst="rect">
            <a:avLst/>
          </a:prstGeom>
          <a:noFill/>
          <a:ln/>
        </p:spPr>
        <p:txBody>
          <a:bodyPr wrap="square" lIns="0" tIns="0" rIns="0" bIns="0" rtlCol="0" anchor="ctr"/>
          <a:lstStyle/>
          <a:p>
            <a:pPr algn="l" indent="0" marL="0">
              <a:buNone/>
            </a:pPr>
            <a:r>
              <a:rPr lang="en-US" sz="2600" b="1" dirty="0">
                <a:solidFill>
                  <a:srgbClr val="E8453C"/>
                </a:solidFill>
                <a:latin typeface="Arial" pitchFamily="34" charset="0"/>
                <a:ea typeface="Arial" pitchFamily="34" charset="-122"/>
                <a:cs typeface="Arial" pitchFamily="34" charset="-120"/>
              </a:rPr>
              <a:t>1,000,000 MT/yr</a:t>
            </a:r>
            <a:endParaRPr lang="en-US" sz="2600" dirty="0"/>
          </a:p>
        </p:txBody>
      </p:sp>
      <p:sp>
        <p:nvSpPr>
          <p:cNvPr id="10" name="Text 7"/>
          <p:cNvSpPr txBox="1"/>
          <p:nvPr/>
        </p:nvSpPr>
        <p:spPr>
          <a:xfrm>
            <a:off x="7955280" y="3273552"/>
            <a:ext cx="3474720" cy="292608"/>
          </a:xfrm>
          <a:prstGeom prst="rect">
            <a:avLst/>
          </a:prstGeom>
          <a:noFill/>
          <a:ln/>
        </p:spPr>
        <p:txBody>
          <a:bodyPr wrap="square" lIns="0" tIns="0" rIns="0" bIns="0" rtlCol="0" anchor="t"/>
          <a:lstStyle/>
          <a:p>
            <a:pPr algn="l" indent="0" marL="0">
              <a:buNone/>
            </a:pPr>
            <a:r>
              <a:rPr lang="en-US" sz="1250" dirty="0">
                <a:solidFill>
                  <a:srgbClr val="5B6B7F"/>
                </a:solidFill>
                <a:latin typeface="Calibri" pitchFamily="34" charset="0"/>
                <a:ea typeface="Calibri" pitchFamily="34" charset="-122"/>
                <a:cs typeface="Calibri" pitchFamily="34" charset="-120"/>
              </a:rPr>
              <a:t>total planned capacity</a:t>
            </a:r>
            <a:endParaRPr lang="en-US" sz="1250" dirty="0"/>
          </a:p>
        </p:txBody>
      </p:sp>
      <p:sp>
        <p:nvSpPr>
          <p:cNvPr id="11" name="Text 8"/>
          <p:cNvSpPr txBox="1"/>
          <p:nvPr/>
        </p:nvSpPr>
        <p:spPr>
          <a:xfrm>
            <a:off x="7955280" y="3749040"/>
            <a:ext cx="3474720" cy="347472"/>
          </a:xfrm>
          <a:prstGeom prst="rect">
            <a:avLst/>
          </a:prstGeom>
          <a:noFill/>
          <a:ln/>
        </p:spPr>
        <p:txBody>
          <a:bodyPr wrap="square" lIns="0" tIns="0" rIns="0" bIns="0" rtlCol="0" anchor="t"/>
          <a:lstStyle/>
          <a:p>
            <a:pPr algn="l" indent="0" marL="0">
              <a:buNone/>
            </a:pPr>
            <a:r>
              <a:rPr lang="en-US" sz="1500" b="1" dirty="0">
                <a:solidFill>
                  <a:srgbClr val="10233F"/>
                </a:solidFill>
                <a:latin typeface="Arial" pitchFamily="34" charset="0"/>
                <a:ea typeface="Arial" pitchFamily="34" charset="-122"/>
                <a:cs typeface="Arial" pitchFamily="34" charset="-120"/>
              </a:rPr>
              <a:t>Planned additions</a:t>
            </a:r>
            <a:endParaRPr lang="en-US" sz="1500" dirty="0"/>
          </a:p>
        </p:txBody>
      </p:sp>
      <p:sp>
        <p:nvSpPr>
          <p:cNvPr id="12" name="Text 9"/>
          <p:cNvSpPr txBox="1"/>
          <p:nvPr/>
        </p:nvSpPr>
        <p:spPr>
          <a:xfrm>
            <a:off x="7955280" y="4133088"/>
            <a:ext cx="3520440" cy="192024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Shengzhou: N220, N234 and N375 hard blacks, plus a specialty fibre-grade black</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Fangchenggang: N774 soft black, plus a specialty conductive black</a:t>
            </a:r>
            <a:endParaRPr lang="en-US" sz="1250" dirty="0"/>
          </a:p>
          <a:p>
            <a:pPr marL="203200" indent="-2032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For you: more grades from one supplier, and multi-base supply of the core grades</a:t>
            </a:r>
            <a:endParaRPr lang="en-US" sz="125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3355848" y="502920"/>
            <a:ext cx="5486400" cy="2377440"/>
          </a:xfrm>
          <a:prstGeom prst="rect">
            <a:avLst/>
          </a:prstGeom>
          <a:noFill/>
          <a:ln/>
        </p:spPr>
        <p:txBody>
          <a:bodyPr wrap="square" lIns="0" tIns="0" rIns="0" bIns="0" rtlCol="0" anchor="ctr"/>
          <a:lstStyle/>
          <a:p>
            <a:pPr algn="ctr" indent="0" marL="0">
              <a:buNone/>
            </a:pPr>
            <a:r>
              <a:rPr lang="en-US" sz="19000" b="1" dirty="0">
                <a:ln w="25400">
                  <a:solidFill>
                    <a:srgbClr val="D5E1EE"/>
                  </a:solidFill>
                </a:ln>
                <a:solidFill>
                  <a:srgbClr val="FFFFFF">
                    <a:alpha val="30000"/>
                  </a:srgbClr>
                </a:solidFill>
                <a:latin typeface="Arial" pitchFamily="34" charset="0"/>
                <a:ea typeface="Arial" pitchFamily="34" charset="-122"/>
                <a:cs typeface="Arial" pitchFamily="34" charset="-120"/>
              </a:rPr>
              <a:t>02</a:t>
            </a:r>
            <a:endParaRPr lang="en-US" sz="19000" dirty="0"/>
          </a:p>
        </p:txBody>
      </p:sp>
      <p:sp>
        <p:nvSpPr>
          <p:cNvPr id="3" name="Text 1"/>
          <p:cNvSpPr txBox="1"/>
          <p:nvPr/>
        </p:nvSpPr>
        <p:spPr>
          <a:xfrm>
            <a:off x="822960" y="2057400"/>
            <a:ext cx="10543032" cy="1828800"/>
          </a:xfrm>
          <a:prstGeom prst="rect">
            <a:avLst/>
          </a:prstGeom>
          <a:noFill/>
          <a:ln/>
        </p:spPr>
        <p:txBody>
          <a:bodyPr wrap="square" lIns="0" tIns="0" rIns="0" bIns="0" rtlCol="0" anchor="ctr"/>
          <a:lstStyle/>
          <a:p>
            <a:pPr algn="ctr" indent="0" marL="0">
              <a:lnSpc>
                <a:spcPct val="95000"/>
              </a:lnSpc>
              <a:buNone/>
            </a:pPr>
            <a:r>
              <a:rPr lang="en-US" sz="60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Why Changhong</a:t>
            </a:r>
            <a:endParaRPr lang="en-US" sz="6000" dirty="0"/>
          </a:p>
          <a:p>
            <a:pPr algn="ctr" indent="0" marL="0">
              <a:lnSpc>
                <a:spcPct val="95000"/>
              </a:lnSpc>
              <a:buNone/>
            </a:pPr>
            <a:r>
              <a:rPr lang="en-US" sz="60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Carbon Black</a:t>
            </a:r>
            <a:endParaRPr lang="en-US" sz="6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Feedstock &amp; Process</a:t>
            </a:r>
            <a:endParaRPr lang="en-US" sz="2800" dirty="0"/>
          </a:p>
        </p:txBody>
      </p:sp>
      <p:sp>
        <p:nvSpPr>
          <p:cNvPr id="3" name="Shape 1"/>
          <p:cNvSpPr/>
          <p:nvPr/>
        </p:nvSpPr>
        <p:spPr>
          <a:xfrm>
            <a:off x="548640" y="1325880"/>
            <a:ext cx="7086600"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804672" y="1673352"/>
            <a:ext cx="768096" cy="768096"/>
          </a:xfrm>
          <a:prstGeom prst="ellipse">
            <a:avLst/>
          </a:prstGeom>
          <a:solidFill>
            <a:srgbClr val="0B4DA2"/>
          </a:solidFill>
          <a:ln w="12700">
            <a:solidFill>
              <a:srgbClr val="0B4DA2"/>
            </a:solidFill>
            <a:prstDash val="solid"/>
          </a:ln>
        </p:spPr>
      </p:sp>
      <p:pic>
        <p:nvPicPr>
          <p:cNvPr id="5" name="Image 0" descr="/tmp/claude-0/-home-user-keyuan/fe094a75-461e-584f-b109-946f5642fe8f/scratchpad/build/img/icon_oil_w.png">    </p:cNvPr>
          <p:cNvPicPr>
            <a:picLocks noChangeAspect="1"/>
          </p:cNvPicPr>
          <p:nvPr/>
        </p:nvPicPr>
        <p:blipFill>
          <a:blip r:embed="rId1"/>
          <a:stretch>
            <a:fillRect/>
          </a:stretch>
        </p:blipFill>
        <p:spPr>
          <a:xfrm>
            <a:off x="1004377" y="1873057"/>
            <a:ext cx="368686" cy="368686"/>
          </a:xfrm>
          <a:prstGeom prst="rect">
            <a:avLst/>
          </a:prstGeom>
        </p:spPr>
      </p:pic>
      <p:sp>
        <p:nvSpPr>
          <p:cNvPr id="6" name="Text 3"/>
          <p:cNvSpPr txBox="1"/>
          <p:nvPr/>
        </p:nvSpPr>
        <p:spPr>
          <a:xfrm>
            <a:off x="1828800" y="1508760"/>
            <a:ext cx="5577840" cy="384048"/>
          </a:xfrm>
          <a:prstGeom prst="rect">
            <a:avLst/>
          </a:prstGeom>
          <a:noFill/>
          <a:ln/>
        </p:spPr>
        <p:txBody>
          <a:bodyPr wrap="square" lIns="0" tIns="0" rIns="0" bIns="0" rtlCol="0" anchor="ctr"/>
          <a:lstStyle/>
          <a:p>
            <a:pPr algn="l" indent="0" marL="0">
              <a:buNone/>
            </a:pPr>
            <a:r>
              <a:rPr lang="en-US" sz="1700" b="1" dirty="0">
                <a:solidFill>
                  <a:srgbClr val="10233F"/>
                </a:solidFill>
                <a:latin typeface="Arial" pitchFamily="34" charset="0"/>
                <a:ea typeface="Arial" pitchFamily="34" charset="-122"/>
                <a:cs typeface="Arial" pitchFamily="34" charset="-120"/>
              </a:rPr>
              <a:t>Aromatic-rich oil feedstock</a:t>
            </a:r>
            <a:endParaRPr lang="en-US" sz="1700" dirty="0"/>
          </a:p>
        </p:txBody>
      </p:sp>
      <p:sp>
        <p:nvSpPr>
          <p:cNvPr id="7" name="Text 4"/>
          <p:cNvSpPr txBox="1"/>
          <p:nvPr/>
        </p:nvSpPr>
        <p:spPr>
          <a:xfrm>
            <a:off x="1828800" y="1911096"/>
            <a:ext cx="5577840" cy="7772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China’s first carbon black producer using aromatic-rich oil. Our process strips feedstock impurities, so heavy metals test as not detected.</a:t>
            </a:r>
            <a:endParaRPr lang="en-US" sz="1350" dirty="0"/>
          </a:p>
        </p:txBody>
      </p:sp>
      <p:sp>
        <p:nvSpPr>
          <p:cNvPr id="8" name="Shape 5"/>
          <p:cNvSpPr/>
          <p:nvPr/>
        </p:nvSpPr>
        <p:spPr>
          <a:xfrm>
            <a:off x="548640" y="2971800"/>
            <a:ext cx="7086600"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9" name="Shape 6"/>
          <p:cNvSpPr/>
          <p:nvPr/>
        </p:nvSpPr>
        <p:spPr>
          <a:xfrm>
            <a:off x="804672" y="3319272"/>
            <a:ext cx="768096" cy="768096"/>
          </a:xfrm>
          <a:prstGeom prst="ellipse">
            <a:avLst/>
          </a:prstGeom>
          <a:solidFill>
            <a:srgbClr val="0B4DA2"/>
          </a:solidFill>
          <a:ln w="12700">
            <a:solidFill>
              <a:srgbClr val="0B4DA2"/>
            </a:solidFill>
            <a:prstDash val="solid"/>
          </a:ln>
        </p:spPr>
      </p:sp>
      <p:pic>
        <p:nvPicPr>
          <p:cNvPr id="10" name="Image 1" descr="/tmp/claude-0/-home-user-keyuan/fe094a75-461e-584f-b109-946f5642fe8f/scratchpad/build/img/icon_recycle_w.png">    </p:cNvPr>
          <p:cNvPicPr>
            <a:picLocks noChangeAspect="1"/>
          </p:cNvPicPr>
          <p:nvPr/>
        </p:nvPicPr>
        <p:blipFill>
          <a:blip r:embed="rId2"/>
          <a:stretch>
            <a:fillRect/>
          </a:stretch>
        </p:blipFill>
        <p:spPr>
          <a:xfrm>
            <a:off x="1004377" y="3518977"/>
            <a:ext cx="368686" cy="368686"/>
          </a:xfrm>
          <a:prstGeom prst="rect">
            <a:avLst/>
          </a:prstGeom>
        </p:spPr>
      </p:pic>
      <p:sp>
        <p:nvSpPr>
          <p:cNvPr id="11" name="Text 7"/>
          <p:cNvSpPr txBox="1"/>
          <p:nvPr/>
        </p:nvSpPr>
        <p:spPr>
          <a:xfrm>
            <a:off x="1828800" y="3154680"/>
            <a:ext cx="5577840" cy="384048"/>
          </a:xfrm>
          <a:prstGeom prst="rect">
            <a:avLst/>
          </a:prstGeom>
          <a:noFill/>
          <a:ln/>
        </p:spPr>
        <p:txBody>
          <a:bodyPr wrap="square" lIns="0" tIns="0" rIns="0" bIns="0" rtlCol="0" anchor="ctr"/>
          <a:lstStyle/>
          <a:p>
            <a:pPr algn="l" indent="0" marL="0">
              <a:buNone/>
            </a:pPr>
            <a:r>
              <a:rPr lang="en-US" sz="1700" b="1" dirty="0">
                <a:solidFill>
                  <a:srgbClr val="10233F"/>
                </a:solidFill>
                <a:latin typeface="Arial" pitchFamily="34" charset="0"/>
                <a:ea typeface="Arial" pitchFamily="34" charset="-122"/>
                <a:cs typeface="Arial" pitchFamily="34" charset="-120"/>
              </a:rPr>
              <a:t>Energy recovered on site</a:t>
            </a:r>
            <a:endParaRPr lang="en-US" sz="1700" dirty="0"/>
          </a:p>
        </p:txBody>
      </p:sp>
      <p:sp>
        <p:nvSpPr>
          <p:cNvPr id="12" name="Text 8"/>
          <p:cNvSpPr txBox="1"/>
          <p:nvPr/>
        </p:nvSpPr>
        <p:spPr>
          <a:xfrm>
            <a:off x="1828800" y="3557016"/>
            <a:ext cx="5577840" cy="7772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Steam and tail gas from the carbon black units replace natural gas and purchased steam in neighbouring plants — lower energy use and lower cost.</a:t>
            </a:r>
            <a:endParaRPr lang="en-US" sz="1350" dirty="0"/>
          </a:p>
        </p:txBody>
      </p:sp>
      <p:sp>
        <p:nvSpPr>
          <p:cNvPr id="13" name="Shape 9"/>
          <p:cNvSpPr/>
          <p:nvPr/>
        </p:nvSpPr>
        <p:spPr>
          <a:xfrm>
            <a:off x="548640" y="4617720"/>
            <a:ext cx="7086600" cy="1463040"/>
          </a:xfrm>
          <a:prstGeom prst="roundRect">
            <a:avLst>
              <a:gd name="adj" fmla="val 875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4" name="Shape 10"/>
          <p:cNvSpPr/>
          <p:nvPr/>
        </p:nvSpPr>
        <p:spPr>
          <a:xfrm>
            <a:off x="804672" y="4965192"/>
            <a:ext cx="768096" cy="768096"/>
          </a:xfrm>
          <a:prstGeom prst="ellipse">
            <a:avLst/>
          </a:prstGeom>
          <a:solidFill>
            <a:srgbClr val="0B4DA2"/>
          </a:solidFill>
          <a:ln w="12700">
            <a:solidFill>
              <a:srgbClr val="0B4DA2"/>
            </a:solidFill>
            <a:prstDash val="solid"/>
          </a:ln>
        </p:spPr>
      </p:sp>
      <p:pic>
        <p:nvPicPr>
          <p:cNvPr id="15" name="Image 2" descr="/tmp/claude-0/-home-user-keyuan/fe094a75-461e-584f-b109-946f5642fe8f/scratchpad/build/img/icon_layers_w.png">    </p:cNvPr>
          <p:cNvPicPr>
            <a:picLocks noChangeAspect="1"/>
          </p:cNvPicPr>
          <p:nvPr/>
        </p:nvPicPr>
        <p:blipFill>
          <a:blip r:embed="rId3"/>
          <a:stretch>
            <a:fillRect/>
          </a:stretch>
        </p:blipFill>
        <p:spPr>
          <a:xfrm>
            <a:off x="1004377" y="5164897"/>
            <a:ext cx="368686" cy="368686"/>
          </a:xfrm>
          <a:prstGeom prst="rect">
            <a:avLst/>
          </a:prstGeom>
        </p:spPr>
      </p:pic>
      <p:sp>
        <p:nvSpPr>
          <p:cNvPr id="16" name="Text 11"/>
          <p:cNvSpPr txBox="1"/>
          <p:nvPr/>
        </p:nvSpPr>
        <p:spPr>
          <a:xfrm>
            <a:off x="1828800" y="4800600"/>
            <a:ext cx="5577840" cy="384048"/>
          </a:xfrm>
          <a:prstGeom prst="rect">
            <a:avLst/>
          </a:prstGeom>
          <a:noFill/>
          <a:ln/>
        </p:spPr>
        <p:txBody>
          <a:bodyPr wrap="square" lIns="0" tIns="0" rIns="0" bIns="0" rtlCol="0" anchor="ctr"/>
          <a:lstStyle/>
          <a:p>
            <a:pPr algn="l" indent="0" marL="0">
              <a:buNone/>
            </a:pPr>
            <a:r>
              <a:rPr lang="en-US" sz="1700" b="1" dirty="0">
                <a:solidFill>
                  <a:srgbClr val="10233F"/>
                </a:solidFill>
                <a:latin typeface="Arial" pitchFamily="34" charset="0"/>
                <a:ea typeface="Arial" pitchFamily="34" charset="-122"/>
                <a:cs typeface="Arial" pitchFamily="34" charset="-120"/>
              </a:rPr>
              <a:t>A deep petrochemical feedstock pool</a:t>
            </a:r>
            <a:endParaRPr lang="en-US" sz="1700" dirty="0"/>
          </a:p>
        </p:txBody>
      </p:sp>
      <p:sp>
        <p:nvSpPr>
          <p:cNvPr id="17" name="Text 12"/>
          <p:cNvSpPr txBox="1"/>
          <p:nvPr/>
        </p:nvSpPr>
        <p:spPr>
          <a:xfrm>
            <a:off x="1828800" y="5202936"/>
            <a:ext cx="5577840" cy="7772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China produced about 5 million t of ethylene tar in 2024 and 8–12 million t of FCC slurry oil a year — a broad feedstock base beyond coal tar.</a:t>
            </a:r>
            <a:endParaRPr lang="en-US" sz="1350" dirty="0"/>
          </a:p>
        </p:txBody>
      </p:sp>
      <p:pic>
        <p:nvPicPr>
          <p:cNvPr id="18" name="Image 3" descr="/tmp/claude-0/-home-user-keyuan/fe094a75-461e-584f-b109-946f5642fe8f/scratchpad/build/img/photo_powerplant.png">    </p:cNvPr>
          <p:cNvPicPr>
            <a:picLocks noChangeAspect="1"/>
          </p:cNvPicPr>
          <p:nvPr/>
        </p:nvPicPr>
        <p:blipFill>
          <a:blip r:embed="rId4"/>
          <a:stretch>
            <a:fillRect/>
          </a:stretch>
        </p:blipFill>
        <p:spPr>
          <a:xfrm>
            <a:off x="7772400" y="1737360"/>
            <a:ext cx="3931920" cy="3252452"/>
          </a:xfrm>
          <a:prstGeom prst="rect">
            <a:avLst/>
          </a:prstGeom>
        </p:spPr>
      </p:pic>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Quality Beyond the Standard</a:t>
            </a:r>
            <a:endParaRPr lang="en-US" sz="2800" dirty="0"/>
          </a:p>
        </p:txBody>
      </p:sp>
      <p:sp>
        <p:nvSpPr>
          <p:cNvPr id="3" name="Shape 1"/>
          <p:cNvSpPr/>
          <p:nvPr/>
        </p:nvSpPr>
        <p:spPr>
          <a:xfrm>
            <a:off x="548640" y="1325880"/>
            <a:ext cx="11091672" cy="1371600"/>
          </a:xfrm>
          <a:prstGeom prst="roundRect">
            <a:avLst>
              <a:gd name="adj" fmla="val 9333"/>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Text 2"/>
          <p:cNvSpPr txBox="1"/>
          <p:nvPr/>
        </p:nvSpPr>
        <p:spPr>
          <a:xfrm>
            <a:off x="822960" y="1481328"/>
            <a:ext cx="10515600" cy="411480"/>
          </a:xfrm>
          <a:prstGeom prst="rect">
            <a:avLst/>
          </a:prstGeom>
          <a:noFill/>
          <a:ln/>
        </p:spPr>
        <p:txBody>
          <a:bodyPr wrap="square" lIns="0" tIns="0" rIns="0" bIns="0" rtlCol="0" anchor="ctr"/>
          <a:lstStyle/>
          <a:p>
            <a:pPr algn="l" indent="0" marL="0">
              <a:buNone/>
            </a:pPr>
            <a:r>
              <a:rPr lang="en-US" sz="1900" b="1" dirty="0">
                <a:solidFill>
                  <a:srgbClr val="E8453C"/>
                </a:solidFill>
                <a:latin typeface="Arial" pitchFamily="34" charset="0"/>
                <a:ea typeface="Arial" pitchFamily="34" charset="-122"/>
                <a:cs typeface="Arial" pitchFamily="34" charset="-120"/>
              </a:rPr>
              <a:t>Internal controls tighter than China’s national standard and common industry practice</a:t>
            </a:r>
            <a:endParaRPr lang="en-US" sz="1900" dirty="0"/>
          </a:p>
        </p:txBody>
      </p:sp>
      <p:sp>
        <p:nvSpPr>
          <p:cNvPr id="5" name="Text 3"/>
          <p:cNvSpPr txBox="1"/>
          <p:nvPr/>
        </p:nvSpPr>
        <p:spPr>
          <a:xfrm>
            <a:off x="822960" y="1920240"/>
            <a:ext cx="10515600" cy="64008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Aromatic-rich-oil feedstock and precise process control give cleaner, more consistent carbon black, with an optimised particle-size distribution under GB/T 3778-2021 for better abrasion resistance.</a:t>
            </a:r>
            <a:endParaRPr lang="en-US" sz="1400" dirty="0"/>
          </a:p>
        </p:txBody>
      </p:sp>
      <p:sp>
        <p:nvSpPr>
          <p:cNvPr id="6" name="Shape 4"/>
          <p:cNvSpPr/>
          <p:nvPr/>
        </p:nvSpPr>
        <p:spPr>
          <a:xfrm>
            <a:off x="548640" y="2926080"/>
            <a:ext cx="2615184" cy="278892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7" name="Text 5"/>
          <p:cNvSpPr txBox="1"/>
          <p:nvPr/>
        </p:nvSpPr>
        <p:spPr>
          <a:xfrm>
            <a:off x="548640" y="3200400"/>
            <a:ext cx="2615184" cy="822960"/>
          </a:xfrm>
          <a:prstGeom prst="rect">
            <a:avLst/>
          </a:prstGeom>
          <a:noFill/>
          <a:ln/>
        </p:spPr>
        <p:txBody>
          <a:bodyPr wrap="square" lIns="0" tIns="0" rIns="0" bIns="0" rtlCol="0" anchor="ctr"/>
          <a:lstStyle/>
          <a:p>
            <a:pPr algn="ctr" indent="0" marL="0">
              <a:buNone/>
            </a:pPr>
            <a:r>
              <a:rPr lang="en-US" sz="3400" b="1" dirty="0">
                <a:solidFill>
                  <a:srgbClr val="E8453C"/>
                </a:solidFill>
                <a:latin typeface="Arial" pitchFamily="34" charset="0"/>
                <a:ea typeface="Arial" pitchFamily="34" charset="-122"/>
                <a:cs typeface="Arial" pitchFamily="34" charset="-120"/>
              </a:rPr>
              <a:t>≤ 300 ppm</a:t>
            </a:r>
            <a:endParaRPr lang="en-US" sz="3400" dirty="0"/>
          </a:p>
        </p:txBody>
      </p:sp>
      <p:sp>
        <p:nvSpPr>
          <p:cNvPr id="8" name="Text 6"/>
          <p:cNvSpPr txBox="1"/>
          <p:nvPr/>
        </p:nvSpPr>
        <p:spPr>
          <a:xfrm>
            <a:off x="685800" y="4069080"/>
            <a:ext cx="2340864" cy="384048"/>
          </a:xfrm>
          <a:prstGeom prst="rect">
            <a:avLst/>
          </a:prstGeom>
          <a:noFill/>
          <a:ln/>
        </p:spPr>
        <p:txBody>
          <a:bodyPr wrap="square" lIns="0" tIns="0" rIns="0" bIns="0" rtlCol="0" anchor="ctr"/>
          <a:lstStyle/>
          <a:p>
            <a:pPr algn="ctr" indent="0" marL="0">
              <a:buNone/>
            </a:pPr>
            <a:r>
              <a:rPr lang="en-US" sz="1700" b="1" dirty="0">
                <a:solidFill>
                  <a:srgbClr val="10233F"/>
                </a:solidFill>
                <a:latin typeface="Calibri" pitchFamily="34" charset="0"/>
                <a:ea typeface="Calibri" pitchFamily="34" charset="-122"/>
                <a:cs typeface="Calibri" pitchFamily="34" charset="-120"/>
              </a:rPr>
              <a:t>45 µm sieve residue</a:t>
            </a:r>
            <a:endParaRPr lang="en-US" sz="1700" dirty="0"/>
          </a:p>
        </p:txBody>
      </p:sp>
      <p:sp>
        <p:nvSpPr>
          <p:cNvPr id="9" name="Text 7"/>
          <p:cNvSpPr txBox="1"/>
          <p:nvPr/>
        </p:nvSpPr>
        <p:spPr>
          <a:xfrm>
            <a:off x="685800" y="4617720"/>
            <a:ext cx="2340864" cy="292608"/>
          </a:xfrm>
          <a:prstGeom prst="rect">
            <a:avLst/>
          </a:prstGeom>
          <a:noFill/>
          <a:ln/>
        </p:spPr>
        <p:txBody>
          <a:bodyPr wrap="square" lIns="0" tIns="0" rIns="0" bIns="0" rtlCol="0" anchor="ctr"/>
          <a:lstStyle/>
          <a:p>
            <a:pPr algn="ctr" indent="0" marL="0">
              <a:buNone/>
            </a:pPr>
            <a:r>
              <a:rPr lang="en-US" sz="1300" b="1" dirty="0">
                <a:solidFill>
                  <a:srgbClr val="1565C0"/>
                </a:solidFill>
                <a:latin typeface="Calibri" pitchFamily="34" charset="0"/>
                <a:ea typeface="Calibri" pitchFamily="34" charset="-122"/>
                <a:cs typeface="Calibri" pitchFamily="34" charset="-120"/>
              </a:rPr>
              <a:t>Comparison</a:t>
            </a:r>
            <a:endParaRPr lang="en-US" sz="1300" dirty="0"/>
          </a:p>
        </p:txBody>
      </p:sp>
      <p:sp>
        <p:nvSpPr>
          <p:cNvPr id="10" name="Text 8"/>
          <p:cNvSpPr txBox="1"/>
          <p:nvPr/>
        </p:nvSpPr>
        <p:spPr>
          <a:xfrm>
            <a:off x="685800" y="4919472"/>
            <a:ext cx="2340864" cy="685800"/>
          </a:xfrm>
          <a:prstGeom prst="rect">
            <a:avLst/>
          </a:prstGeom>
          <a:noFill/>
          <a:ln/>
        </p:spPr>
        <p:txBody>
          <a:bodyPr wrap="square" lIns="0" tIns="0" rIns="0" bIns="0" rtlCol="0" anchor="t"/>
          <a:lstStyle/>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National standard ≤ 1,000 ppm</a:t>
            </a:r>
            <a:endParaRPr lang="en-US" sz="1400" dirty="0"/>
          </a:p>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Industry ≤ 500 ppm</a:t>
            </a:r>
            <a:endParaRPr lang="en-US" sz="1400" dirty="0"/>
          </a:p>
        </p:txBody>
      </p:sp>
      <p:sp>
        <p:nvSpPr>
          <p:cNvPr id="11" name="Shape 9"/>
          <p:cNvSpPr/>
          <p:nvPr/>
        </p:nvSpPr>
        <p:spPr>
          <a:xfrm>
            <a:off x="3374136" y="2926080"/>
            <a:ext cx="2615184" cy="278892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2" name="Text 10"/>
          <p:cNvSpPr txBox="1"/>
          <p:nvPr/>
        </p:nvSpPr>
        <p:spPr>
          <a:xfrm>
            <a:off x="3374136" y="3200400"/>
            <a:ext cx="2615184" cy="822960"/>
          </a:xfrm>
          <a:prstGeom prst="rect">
            <a:avLst/>
          </a:prstGeom>
          <a:noFill/>
          <a:ln/>
        </p:spPr>
        <p:txBody>
          <a:bodyPr wrap="square" lIns="0" tIns="0" rIns="0" bIns="0" rtlCol="0" anchor="ctr"/>
          <a:lstStyle/>
          <a:p>
            <a:pPr algn="ctr" indent="0" marL="0">
              <a:buNone/>
            </a:pPr>
            <a:r>
              <a:rPr lang="en-US" sz="3400" b="1" dirty="0">
                <a:solidFill>
                  <a:srgbClr val="E8453C"/>
                </a:solidFill>
                <a:latin typeface="Arial" pitchFamily="34" charset="0"/>
                <a:ea typeface="Arial" pitchFamily="34" charset="-122"/>
                <a:cs typeface="Arial" pitchFamily="34" charset="-120"/>
              </a:rPr>
              <a:t>≤ 0.8 %</a:t>
            </a:r>
            <a:endParaRPr lang="en-US" sz="3400" dirty="0"/>
          </a:p>
        </p:txBody>
      </p:sp>
      <p:sp>
        <p:nvSpPr>
          <p:cNvPr id="13" name="Text 11"/>
          <p:cNvSpPr txBox="1"/>
          <p:nvPr/>
        </p:nvSpPr>
        <p:spPr>
          <a:xfrm>
            <a:off x="3511296" y="4069080"/>
            <a:ext cx="2340864" cy="384048"/>
          </a:xfrm>
          <a:prstGeom prst="rect">
            <a:avLst/>
          </a:prstGeom>
          <a:noFill/>
          <a:ln/>
        </p:spPr>
        <p:txBody>
          <a:bodyPr wrap="square" lIns="0" tIns="0" rIns="0" bIns="0" rtlCol="0" anchor="ctr"/>
          <a:lstStyle/>
          <a:p>
            <a:pPr algn="ctr" indent="0" marL="0">
              <a:buNone/>
            </a:pPr>
            <a:r>
              <a:rPr lang="en-US" sz="1700" b="1" dirty="0">
                <a:solidFill>
                  <a:srgbClr val="10233F"/>
                </a:solidFill>
                <a:latin typeface="Calibri" pitchFamily="34" charset="0"/>
                <a:ea typeface="Calibri" pitchFamily="34" charset="-122"/>
                <a:cs typeface="Calibri" pitchFamily="34" charset="-120"/>
              </a:rPr>
              <a:t>Heating loss</a:t>
            </a:r>
            <a:endParaRPr lang="en-US" sz="1700" dirty="0"/>
          </a:p>
        </p:txBody>
      </p:sp>
      <p:sp>
        <p:nvSpPr>
          <p:cNvPr id="14" name="Text 12"/>
          <p:cNvSpPr txBox="1"/>
          <p:nvPr/>
        </p:nvSpPr>
        <p:spPr>
          <a:xfrm>
            <a:off x="3511296" y="4617720"/>
            <a:ext cx="2340864" cy="292608"/>
          </a:xfrm>
          <a:prstGeom prst="rect">
            <a:avLst/>
          </a:prstGeom>
          <a:noFill/>
          <a:ln/>
        </p:spPr>
        <p:txBody>
          <a:bodyPr wrap="square" lIns="0" tIns="0" rIns="0" bIns="0" rtlCol="0" anchor="ctr"/>
          <a:lstStyle/>
          <a:p>
            <a:pPr algn="ctr" indent="0" marL="0">
              <a:buNone/>
            </a:pPr>
            <a:r>
              <a:rPr lang="en-US" sz="1300" b="1" dirty="0">
                <a:solidFill>
                  <a:srgbClr val="1565C0"/>
                </a:solidFill>
                <a:latin typeface="Calibri" pitchFamily="34" charset="0"/>
                <a:ea typeface="Calibri" pitchFamily="34" charset="-122"/>
                <a:cs typeface="Calibri" pitchFamily="34" charset="-120"/>
              </a:rPr>
              <a:t>Comparison</a:t>
            </a:r>
            <a:endParaRPr lang="en-US" sz="1300" dirty="0"/>
          </a:p>
        </p:txBody>
      </p:sp>
      <p:sp>
        <p:nvSpPr>
          <p:cNvPr id="15" name="Text 13"/>
          <p:cNvSpPr txBox="1"/>
          <p:nvPr/>
        </p:nvSpPr>
        <p:spPr>
          <a:xfrm>
            <a:off x="3511296" y="4919472"/>
            <a:ext cx="2340864" cy="685800"/>
          </a:xfrm>
          <a:prstGeom prst="rect">
            <a:avLst/>
          </a:prstGeom>
          <a:noFill/>
          <a:ln/>
        </p:spPr>
        <p:txBody>
          <a:bodyPr wrap="square" lIns="0" tIns="0" rIns="0" bIns="0" rtlCol="0" anchor="t"/>
          <a:lstStyle/>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National standard ≤ 2.5 %</a:t>
            </a:r>
            <a:endParaRPr lang="en-US" sz="1400" dirty="0"/>
          </a:p>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Industry 2–2.5 %</a:t>
            </a:r>
            <a:endParaRPr lang="en-US" sz="1400" dirty="0"/>
          </a:p>
        </p:txBody>
      </p:sp>
      <p:sp>
        <p:nvSpPr>
          <p:cNvPr id="16" name="Shape 14"/>
          <p:cNvSpPr/>
          <p:nvPr/>
        </p:nvSpPr>
        <p:spPr>
          <a:xfrm>
            <a:off x="6199632" y="2926080"/>
            <a:ext cx="2615184" cy="278892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7" name="Text 15"/>
          <p:cNvSpPr txBox="1"/>
          <p:nvPr/>
        </p:nvSpPr>
        <p:spPr>
          <a:xfrm>
            <a:off x="6199632" y="3200400"/>
            <a:ext cx="2615184" cy="822960"/>
          </a:xfrm>
          <a:prstGeom prst="rect">
            <a:avLst/>
          </a:prstGeom>
          <a:noFill/>
          <a:ln/>
        </p:spPr>
        <p:txBody>
          <a:bodyPr wrap="square" lIns="0" tIns="0" rIns="0" bIns="0" rtlCol="0" anchor="ctr"/>
          <a:lstStyle/>
          <a:p>
            <a:pPr algn="ctr" indent="0" marL="0">
              <a:buNone/>
            </a:pPr>
            <a:r>
              <a:rPr lang="en-US" sz="3400" b="1" dirty="0">
                <a:solidFill>
                  <a:srgbClr val="E8453C"/>
                </a:solidFill>
                <a:latin typeface="Arial" pitchFamily="34" charset="0"/>
                <a:ea typeface="Arial" pitchFamily="34" charset="-122"/>
                <a:cs typeface="Arial" pitchFamily="34" charset="-120"/>
              </a:rPr>
              <a:t>113 %</a:t>
            </a:r>
            <a:endParaRPr lang="en-US" sz="3400" dirty="0"/>
          </a:p>
        </p:txBody>
      </p:sp>
      <p:sp>
        <p:nvSpPr>
          <p:cNvPr id="18" name="Text 16"/>
          <p:cNvSpPr txBox="1"/>
          <p:nvPr/>
        </p:nvSpPr>
        <p:spPr>
          <a:xfrm>
            <a:off x="6336792" y="4069080"/>
            <a:ext cx="2340864" cy="384048"/>
          </a:xfrm>
          <a:prstGeom prst="rect">
            <a:avLst/>
          </a:prstGeom>
          <a:noFill/>
          <a:ln/>
        </p:spPr>
        <p:txBody>
          <a:bodyPr wrap="square" lIns="0" tIns="0" rIns="0" bIns="0" rtlCol="0" anchor="ctr"/>
          <a:lstStyle/>
          <a:p>
            <a:pPr algn="ctr" indent="0" marL="0">
              <a:buNone/>
            </a:pPr>
            <a:r>
              <a:rPr lang="en-US" sz="1700" b="1" dirty="0">
                <a:solidFill>
                  <a:srgbClr val="10233F"/>
                </a:solidFill>
                <a:latin typeface="Calibri" pitchFamily="34" charset="0"/>
                <a:ea typeface="Calibri" pitchFamily="34" charset="-122"/>
                <a:cs typeface="Calibri" pitchFamily="34" charset="-120"/>
              </a:rPr>
              <a:t>N326 tint strength</a:t>
            </a:r>
            <a:endParaRPr lang="en-US" sz="1700" dirty="0"/>
          </a:p>
        </p:txBody>
      </p:sp>
      <p:sp>
        <p:nvSpPr>
          <p:cNvPr id="19" name="Text 17"/>
          <p:cNvSpPr txBox="1"/>
          <p:nvPr/>
        </p:nvSpPr>
        <p:spPr>
          <a:xfrm>
            <a:off x="6336792" y="4617720"/>
            <a:ext cx="2340864" cy="292608"/>
          </a:xfrm>
          <a:prstGeom prst="rect">
            <a:avLst/>
          </a:prstGeom>
          <a:noFill/>
          <a:ln/>
        </p:spPr>
        <p:txBody>
          <a:bodyPr wrap="square" lIns="0" tIns="0" rIns="0" bIns="0" rtlCol="0" anchor="ctr"/>
          <a:lstStyle/>
          <a:p>
            <a:pPr algn="ctr" indent="0" marL="0">
              <a:buNone/>
            </a:pPr>
            <a:r>
              <a:rPr lang="en-US" sz="1300" b="1" dirty="0">
                <a:solidFill>
                  <a:srgbClr val="1565C0"/>
                </a:solidFill>
                <a:latin typeface="Calibri" pitchFamily="34" charset="0"/>
                <a:ea typeface="Calibri" pitchFamily="34" charset="-122"/>
                <a:cs typeface="Calibri" pitchFamily="34" charset="-120"/>
              </a:rPr>
              <a:t>Comparison</a:t>
            </a:r>
            <a:endParaRPr lang="en-US" sz="1300" dirty="0"/>
          </a:p>
        </p:txBody>
      </p:sp>
      <p:sp>
        <p:nvSpPr>
          <p:cNvPr id="20" name="Text 18"/>
          <p:cNvSpPr txBox="1"/>
          <p:nvPr/>
        </p:nvSpPr>
        <p:spPr>
          <a:xfrm>
            <a:off x="6336792" y="4919472"/>
            <a:ext cx="2340864" cy="685800"/>
          </a:xfrm>
          <a:prstGeom prst="rect">
            <a:avLst/>
          </a:prstGeom>
          <a:noFill/>
          <a:ln/>
        </p:spPr>
        <p:txBody>
          <a:bodyPr wrap="square" lIns="0" tIns="0" rIns="0" bIns="0" rtlCol="0" anchor="t"/>
          <a:lstStyle/>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Industry average 108 %</a:t>
            </a:r>
            <a:endParaRPr lang="en-US" sz="1400" dirty="0"/>
          </a:p>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A deeper, purer black</a:t>
            </a:r>
            <a:endParaRPr lang="en-US" sz="1400" dirty="0"/>
          </a:p>
        </p:txBody>
      </p:sp>
      <p:sp>
        <p:nvSpPr>
          <p:cNvPr id="21" name="Shape 19"/>
          <p:cNvSpPr/>
          <p:nvPr/>
        </p:nvSpPr>
        <p:spPr>
          <a:xfrm>
            <a:off x="9025128" y="2926080"/>
            <a:ext cx="2615184" cy="278892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2" name="Text 20"/>
          <p:cNvSpPr txBox="1"/>
          <p:nvPr/>
        </p:nvSpPr>
        <p:spPr>
          <a:xfrm>
            <a:off x="9025128" y="3200400"/>
            <a:ext cx="2615184" cy="822960"/>
          </a:xfrm>
          <a:prstGeom prst="rect">
            <a:avLst/>
          </a:prstGeom>
          <a:noFill/>
          <a:ln/>
        </p:spPr>
        <p:txBody>
          <a:bodyPr wrap="square" lIns="0" tIns="0" rIns="0" bIns="0" rtlCol="0" anchor="ctr"/>
          <a:lstStyle/>
          <a:p>
            <a:pPr algn="ctr" indent="0" marL="0">
              <a:buNone/>
            </a:pPr>
            <a:r>
              <a:rPr lang="en-US" sz="3400" b="1" dirty="0">
                <a:solidFill>
                  <a:srgbClr val="E8453C"/>
                </a:solidFill>
                <a:latin typeface="Arial" pitchFamily="34" charset="0"/>
                <a:ea typeface="Arial" pitchFamily="34" charset="-122"/>
                <a:cs typeface="Arial" pitchFamily="34" charset="-120"/>
              </a:rPr>
              <a:t>ND</a:t>
            </a:r>
            <a:endParaRPr lang="en-US" sz="3400" dirty="0"/>
          </a:p>
        </p:txBody>
      </p:sp>
      <p:sp>
        <p:nvSpPr>
          <p:cNvPr id="23" name="Text 21"/>
          <p:cNvSpPr txBox="1"/>
          <p:nvPr/>
        </p:nvSpPr>
        <p:spPr>
          <a:xfrm>
            <a:off x="9162288" y="4069080"/>
            <a:ext cx="2340864" cy="384048"/>
          </a:xfrm>
          <a:prstGeom prst="rect">
            <a:avLst/>
          </a:prstGeom>
          <a:noFill/>
          <a:ln/>
        </p:spPr>
        <p:txBody>
          <a:bodyPr wrap="square" lIns="0" tIns="0" rIns="0" bIns="0" rtlCol="0" anchor="ctr"/>
          <a:lstStyle/>
          <a:p>
            <a:pPr algn="ctr" indent="0" marL="0">
              <a:buNone/>
            </a:pPr>
            <a:r>
              <a:rPr lang="en-US" sz="1700" b="1" dirty="0">
                <a:solidFill>
                  <a:srgbClr val="10233F"/>
                </a:solidFill>
                <a:latin typeface="Calibri" pitchFamily="34" charset="0"/>
                <a:ea typeface="Calibri" pitchFamily="34" charset="-122"/>
                <a:cs typeface="Calibri" pitchFamily="34" charset="-120"/>
              </a:rPr>
              <a:t>Heavy metals</a:t>
            </a:r>
            <a:endParaRPr lang="en-US" sz="1700" dirty="0"/>
          </a:p>
        </p:txBody>
      </p:sp>
      <p:sp>
        <p:nvSpPr>
          <p:cNvPr id="24" name="Text 22"/>
          <p:cNvSpPr txBox="1"/>
          <p:nvPr/>
        </p:nvSpPr>
        <p:spPr>
          <a:xfrm>
            <a:off x="9162288" y="4617720"/>
            <a:ext cx="2340864" cy="292608"/>
          </a:xfrm>
          <a:prstGeom prst="rect">
            <a:avLst/>
          </a:prstGeom>
          <a:noFill/>
          <a:ln/>
        </p:spPr>
        <p:txBody>
          <a:bodyPr wrap="square" lIns="0" tIns="0" rIns="0" bIns="0" rtlCol="0" anchor="ctr"/>
          <a:lstStyle/>
          <a:p>
            <a:pPr algn="ctr" indent="0" marL="0">
              <a:buNone/>
            </a:pPr>
            <a:r>
              <a:rPr lang="en-US" sz="1300" b="1" dirty="0">
                <a:solidFill>
                  <a:srgbClr val="1565C0"/>
                </a:solidFill>
                <a:latin typeface="Calibri" pitchFamily="34" charset="0"/>
                <a:ea typeface="Calibri" pitchFamily="34" charset="-122"/>
                <a:cs typeface="Calibri" pitchFamily="34" charset="-120"/>
              </a:rPr>
              <a:t>Comparison</a:t>
            </a:r>
            <a:endParaRPr lang="en-US" sz="1300" dirty="0"/>
          </a:p>
        </p:txBody>
      </p:sp>
      <p:sp>
        <p:nvSpPr>
          <p:cNvPr id="25" name="Text 23"/>
          <p:cNvSpPr txBox="1"/>
          <p:nvPr/>
        </p:nvSpPr>
        <p:spPr>
          <a:xfrm>
            <a:off x="9162288" y="4919472"/>
            <a:ext cx="2340864" cy="685800"/>
          </a:xfrm>
          <a:prstGeom prst="rect">
            <a:avLst/>
          </a:prstGeom>
          <a:noFill/>
          <a:ln/>
        </p:spPr>
        <p:txBody>
          <a:bodyPr wrap="square" lIns="0" tIns="0" rIns="0" bIns="0" rtlCol="0" anchor="t"/>
          <a:lstStyle/>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Not detected</a:t>
            </a:r>
            <a:endParaRPr lang="en-US" sz="1400" dirty="0"/>
          </a:p>
          <a:p>
            <a:pPr algn="ctr" indent="0" marL="0">
              <a:lnSpc>
                <a:spcPct val="110000"/>
              </a:lnSpc>
              <a:buNone/>
            </a:pPr>
            <a:r>
              <a:rPr lang="en-US" sz="1400" dirty="0">
                <a:solidFill>
                  <a:srgbClr val="1F2937"/>
                </a:solidFill>
                <a:latin typeface="Calibri" pitchFamily="34" charset="0"/>
                <a:ea typeface="Calibri" pitchFamily="34" charset="-122"/>
                <a:cs typeface="Calibri" pitchFamily="34" charset="-120"/>
              </a:rPr>
              <a:t>COA with every lot</a:t>
            </a:r>
            <a:endParaRPr lang="en-US" sz="14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Sea &amp; Land Logistics</a:t>
            </a:r>
            <a:endParaRPr lang="en-US" sz="2800" dirty="0"/>
          </a:p>
        </p:txBody>
      </p:sp>
      <p:sp>
        <p:nvSpPr>
          <p:cNvPr id="3" name="Shape 1"/>
          <p:cNvSpPr/>
          <p:nvPr/>
        </p:nvSpPr>
        <p:spPr>
          <a:xfrm>
            <a:off x="548640" y="1325880"/>
            <a:ext cx="7635240" cy="4846320"/>
          </a:xfrm>
          <a:prstGeom prst="roundRect">
            <a:avLst>
              <a:gd name="adj" fmla="val 2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777240" y="1600200"/>
            <a:ext cx="2057400" cy="960120"/>
          </a:xfrm>
          <a:prstGeom prst="roundRect">
            <a:avLst>
              <a:gd name="adj" fmla="val 11429"/>
            </a:avLst>
          </a:prstGeom>
          <a:solidFill>
            <a:srgbClr val="0B4DA2"/>
          </a:solidFill>
          <a:ln w="12700">
            <a:solidFill>
              <a:srgbClr val="0B4DA2"/>
            </a:solidFill>
            <a:prstDash val="solid"/>
          </a:ln>
        </p:spPr>
      </p:sp>
      <p:sp>
        <p:nvSpPr>
          <p:cNvPr id="5" name="Text 3"/>
          <p:cNvSpPr txBox="1"/>
          <p:nvPr/>
        </p:nvSpPr>
        <p:spPr>
          <a:xfrm>
            <a:off x="886968" y="1728216"/>
            <a:ext cx="183794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Ningbo base</a:t>
            </a:r>
            <a:endParaRPr lang="en-US" sz="1450" dirty="0"/>
          </a:p>
        </p:txBody>
      </p:sp>
      <p:sp>
        <p:nvSpPr>
          <p:cNvPr id="6" name="Text 4"/>
          <p:cNvSpPr txBox="1"/>
          <p:nvPr/>
        </p:nvSpPr>
        <p:spPr>
          <a:xfrm>
            <a:off x="886968" y="2112264"/>
            <a:ext cx="1837944" cy="310896"/>
          </a:xfrm>
          <a:prstGeom prst="rect">
            <a:avLst/>
          </a:prstGeom>
          <a:noFill/>
          <a:ln/>
        </p:spPr>
        <p:txBody>
          <a:bodyPr wrap="square" lIns="0" tIns="0" rIns="0" bIns="0" rtlCol="0" anchor="ctr"/>
          <a:lstStyle/>
          <a:p>
            <a:pPr algn="ctr" indent="0" marL="0">
              <a:buNone/>
            </a:pPr>
            <a:r>
              <a:rPr lang="en-US" sz="1200" dirty="0">
                <a:solidFill>
                  <a:srgbClr val="BFD9FF"/>
                </a:solidFill>
                <a:latin typeface="Calibri" pitchFamily="34" charset="0"/>
                <a:ea typeface="Calibri" pitchFamily="34" charset="-122"/>
                <a:cs typeface="Calibri" pitchFamily="34" charset="-120"/>
              </a:rPr>
              <a:t>Zhejiang</a:t>
            </a:r>
            <a:endParaRPr lang="en-US" sz="1200" dirty="0"/>
          </a:p>
        </p:txBody>
      </p:sp>
      <p:sp>
        <p:nvSpPr>
          <p:cNvPr id="7" name="Shape 5"/>
          <p:cNvSpPr/>
          <p:nvPr/>
        </p:nvSpPr>
        <p:spPr>
          <a:xfrm>
            <a:off x="2907792" y="2080260"/>
            <a:ext cx="676656" cy="0"/>
          </a:xfrm>
          <a:prstGeom prst="line">
            <a:avLst/>
          </a:prstGeom>
          <a:noFill/>
          <a:ln w="28575">
            <a:solidFill>
              <a:srgbClr val="1565C0"/>
            </a:solidFill>
            <a:prstDash val="solid"/>
            <a:tailEnd type="triangle"/>
          </a:ln>
        </p:spPr>
      </p:sp>
      <p:sp>
        <p:nvSpPr>
          <p:cNvPr id="8" name="Text 6"/>
          <p:cNvSpPr txBox="1"/>
          <p:nvPr/>
        </p:nvSpPr>
        <p:spPr>
          <a:xfrm>
            <a:off x="2907792" y="1696212"/>
            <a:ext cx="676656" cy="310896"/>
          </a:xfrm>
          <a:prstGeom prst="rect">
            <a:avLst/>
          </a:prstGeom>
          <a:noFill/>
          <a:ln/>
        </p:spPr>
        <p:txBody>
          <a:bodyPr wrap="square" lIns="0" tIns="0" rIns="0" bIns="0" rtlCol="0" anchor="ctr"/>
          <a:lstStyle/>
          <a:p>
            <a:pPr algn="ctr" indent="0" marL="0">
              <a:buNone/>
            </a:pPr>
            <a:r>
              <a:rPr lang="en-US" sz="1200" b="1" dirty="0">
                <a:solidFill>
                  <a:srgbClr val="E8453C"/>
                </a:solidFill>
                <a:latin typeface="Calibri" pitchFamily="34" charset="0"/>
                <a:ea typeface="Calibri" pitchFamily="34" charset="-122"/>
                <a:cs typeface="Calibri" pitchFamily="34" charset="-120"/>
              </a:rPr>
              <a:t>5 km</a:t>
            </a:r>
            <a:endParaRPr lang="en-US" sz="1200" dirty="0"/>
          </a:p>
        </p:txBody>
      </p:sp>
      <p:sp>
        <p:nvSpPr>
          <p:cNvPr id="9" name="Shape 7"/>
          <p:cNvSpPr/>
          <p:nvPr/>
        </p:nvSpPr>
        <p:spPr>
          <a:xfrm>
            <a:off x="3657600" y="1600200"/>
            <a:ext cx="2148840" cy="960120"/>
          </a:xfrm>
          <a:prstGeom prst="roundRect">
            <a:avLst>
              <a:gd name="adj" fmla="val 11429"/>
            </a:avLst>
          </a:prstGeom>
          <a:solidFill>
            <a:srgbClr val="E8F1FC"/>
          </a:solidFill>
          <a:ln w="12700">
            <a:solidFill>
              <a:srgbClr val="C9DCF5"/>
            </a:solidFill>
            <a:prstDash val="solid"/>
          </a:ln>
        </p:spPr>
      </p:sp>
      <p:sp>
        <p:nvSpPr>
          <p:cNvPr id="10" name="Text 8"/>
          <p:cNvSpPr txBox="1"/>
          <p:nvPr/>
        </p:nvSpPr>
        <p:spPr>
          <a:xfrm>
            <a:off x="3749040" y="1728216"/>
            <a:ext cx="1965960" cy="41148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Ningbo port</a:t>
            </a:r>
            <a:endParaRPr lang="en-US" sz="1450" dirty="0"/>
          </a:p>
        </p:txBody>
      </p:sp>
      <p:sp>
        <p:nvSpPr>
          <p:cNvPr id="11" name="Text 9"/>
          <p:cNvSpPr txBox="1"/>
          <p:nvPr/>
        </p:nvSpPr>
        <p:spPr>
          <a:xfrm>
            <a:off x="3749040" y="2112264"/>
            <a:ext cx="1965960" cy="310896"/>
          </a:xfrm>
          <a:prstGeom prst="rect">
            <a:avLst/>
          </a:prstGeom>
          <a:noFill/>
          <a:ln/>
        </p:spPr>
        <p:txBody>
          <a:bodyPr wrap="square" lIns="0" tIns="0" rIns="0" bIns="0" rtlCol="0" anchor="ctr"/>
          <a:lstStyle/>
          <a:p>
            <a:pPr algn="ctr" indent="0" marL="0">
              <a:buNone/>
            </a:pPr>
            <a:r>
              <a:rPr lang="en-US" sz="1200" dirty="0">
                <a:solidFill>
                  <a:srgbClr val="5B6B7F"/>
                </a:solidFill>
                <a:latin typeface="Calibri" pitchFamily="34" charset="0"/>
                <a:ea typeface="Calibri" pitchFamily="34" charset="-122"/>
                <a:cs typeface="Calibri" pitchFamily="34" charset="-120"/>
              </a:rPr>
              <a:t>container terminal</a:t>
            </a:r>
            <a:endParaRPr lang="en-US" sz="1200" dirty="0"/>
          </a:p>
        </p:txBody>
      </p:sp>
      <p:sp>
        <p:nvSpPr>
          <p:cNvPr id="12" name="Shape 10"/>
          <p:cNvSpPr/>
          <p:nvPr/>
        </p:nvSpPr>
        <p:spPr>
          <a:xfrm>
            <a:off x="5879592" y="2080260"/>
            <a:ext cx="585216" cy="0"/>
          </a:xfrm>
          <a:prstGeom prst="line">
            <a:avLst/>
          </a:prstGeom>
          <a:noFill/>
          <a:ln w="28575">
            <a:solidFill>
              <a:srgbClr val="1565C0"/>
            </a:solidFill>
            <a:prstDash val="solid"/>
            <a:tailEnd type="triangle"/>
          </a:ln>
        </p:spPr>
      </p:sp>
      <p:sp>
        <p:nvSpPr>
          <p:cNvPr id="13" name="Text 11"/>
          <p:cNvSpPr txBox="1"/>
          <p:nvPr/>
        </p:nvSpPr>
        <p:spPr>
          <a:xfrm>
            <a:off x="5879592" y="1696212"/>
            <a:ext cx="585216" cy="310896"/>
          </a:xfrm>
          <a:prstGeom prst="rect">
            <a:avLst/>
          </a:prstGeom>
          <a:noFill/>
          <a:ln/>
        </p:spPr>
        <p:txBody>
          <a:bodyPr wrap="square" lIns="0" tIns="0" rIns="0" bIns="0" rtlCol="0" anchor="ctr"/>
          <a:lstStyle/>
          <a:p>
            <a:pPr algn="ctr" indent="0" marL="0">
              <a:buNone/>
            </a:pPr>
            <a:r>
              <a:rPr lang="en-US" sz="1200" b="1" dirty="0">
                <a:solidFill>
                  <a:srgbClr val="E8453C"/>
                </a:solidFill>
                <a:latin typeface="Calibri" pitchFamily="34" charset="0"/>
                <a:ea typeface="Calibri" pitchFamily="34" charset="-122"/>
                <a:cs typeface="Calibri" pitchFamily="34" charset="-120"/>
              </a:rPr>
              <a:t>by sea</a:t>
            </a:r>
            <a:endParaRPr lang="en-US" sz="1200" dirty="0"/>
          </a:p>
        </p:txBody>
      </p:sp>
      <p:pic>
        <p:nvPicPr>
          <p:cNvPr id="14" name="Image 0" descr="/tmp/claude-0/-home-user-keyuan/fe094a75-461e-584f-b109-946f5642fe8f/scratchpad/build/img/icon_ship_b.png">    </p:cNvPr>
          <p:cNvPicPr>
            <a:picLocks noChangeAspect="1"/>
          </p:cNvPicPr>
          <p:nvPr/>
        </p:nvPicPr>
        <p:blipFill>
          <a:blip r:embed="rId1"/>
          <a:stretch>
            <a:fillRect/>
          </a:stretch>
        </p:blipFill>
        <p:spPr>
          <a:xfrm>
            <a:off x="6025896" y="2171700"/>
            <a:ext cx="292608" cy="292608"/>
          </a:xfrm>
          <a:prstGeom prst="rect">
            <a:avLst/>
          </a:prstGeom>
        </p:spPr>
      </p:pic>
      <p:sp>
        <p:nvSpPr>
          <p:cNvPr id="15" name="Shape 12"/>
          <p:cNvSpPr/>
          <p:nvPr/>
        </p:nvSpPr>
        <p:spPr>
          <a:xfrm>
            <a:off x="6537960" y="1600200"/>
            <a:ext cx="1463040" cy="960120"/>
          </a:xfrm>
          <a:prstGeom prst="roundRect">
            <a:avLst>
              <a:gd name="adj" fmla="val 11429"/>
            </a:avLst>
          </a:prstGeom>
          <a:solidFill>
            <a:srgbClr val="E8453C"/>
          </a:solidFill>
          <a:ln w="12700">
            <a:solidFill>
              <a:srgbClr val="E8453C"/>
            </a:solidFill>
            <a:prstDash val="solid"/>
          </a:ln>
        </p:spPr>
      </p:sp>
      <p:sp>
        <p:nvSpPr>
          <p:cNvPr id="16" name="Text 13"/>
          <p:cNvSpPr txBox="1"/>
          <p:nvPr/>
        </p:nvSpPr>
        <p:spPr>
          <a:xfrm>
            <a:off x="6611112" y="1728216"/>
            <a:ext cx="131673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Worldwide</a:t>
            </a:r>
            <a:endParaRPr lang="en-US" sz="1450" dirty="0"/>
          </a:p>
        </p:txBody>
      </p:sp>
      <p:sp>
        <p:nvSpPr>
          <p:cNvPr id="17" name="Text 14"/>
          <p:cNvSpPr txBox="1"/>
          <p:nvPr/>
        </p:nvSpPr>
        <p:spPr>
          <a:xfrm>
            <a:off x="6611112" y="2112264"/>
            <a:ext cx="1316736" cy="310896"/>
          </a:xfrm>
          <a:prstGeom prst="rect">
            <a:avLst/>
          </a:prstGeom>
          <a:noFill/>
          <a:ln/>
        </p:spPr>
        <p:txBody>
          <a:bodyPr wrap="square" lIns="0" tIns="0" rIns="0" bIns="0" rtlCol="0" anchor="ctr"/>
          <a:lstStyle/>
          <a:p>
            <a:pPr algn="ctr" indent="0" marL="0">
              <a:buNone/>
            </a:pPr>
            <a:r>
              <a:rPr lang="en-US" sz="1150" dirty="0">
                <a:solidFill>
                  <a:srgbClr val="FFE3E0"/>
                </a:solidFill>
                <a:latin typeface="Calibri" pitchFamily="34" charset="0"/>
                <a:ea typeface="Calibri" pitchFamily="34" charset="-122"/>
                <a:cs typeface="Calibri" pitchFamily="34" charset="-120"/>
              </a:rPr>
              <a:t>container routes</a:t>
            </a:r>
            <a:endParaRPr lang="en-US" sz="1150" dirty="0"/>
          </a:p>
        </p:txBody>
      </p:sp>
      <p:sp>
        <p:nvSpPr>
          <p:cNvPr id="18" name="Shape 15"/>
          <p:cNvSpPr/>
          <p:nvPr/>
        </p:nvSpPr>
        <p:spPr>
          <a:xfrm>
            <a:off x="777240" y="3118104"/>
            <a:ext cx="2057400" cy="960120"/>
          </a:xfrm>
          <a:prstGeom prst="roundRect">
            <a:avLst>
              <a:gd name="adj" fmla="val 11429"/>
            </a:avLst>
          </a:prstGeom>
          <a:solidFill>
            <a:srgbClr val="0B4DA2"/>
          </a:solidFill>
          <a:ln w="12700">
            <a:solidFill>
              <a:srgbClr val="0B4DA2"/>
            </a:solidFill>
            <a:prstDash val="solid"/>
          </a:ln>
        </p:spPr>
      </p:sp>
      <p:sp>
        <p:nvSpPr>
          <p:cNvPr id="19" name="Text 16"/>
          <p:cNvSpPr txBox="1"/>
          <p:nvPr/>
        </p:nvSpPr>
        <p:spPr>
          <a:xfrm>
            <a:off x="886968" y="3246120"/>
            <a:ext cx="183794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Fangchenggang base</a:t>
            </a:r>
            <a:endParaRPr lang="en-US" sz="1450" dirty="0"/>
          </a:p>
        </p:txBody>
      </p:sp>
      <p:sp>
        <p:nvSpPr>
          <p:cNvPr id="20" name="Text 17"/>
          <p:cNvSpPr txBox="1"/>
          <p:nvPr/>
        </p:nvSpPr>
        <p:spPr>
          <a:xfrm>
            <a:off x="886968" y="3630168"/>
            <a:ext cx="1837944" cy="310896"/>
          </a:xfrm>
          <a:prstGeom prst="rect">
            <a:avLst/>
          </a:prstGeom>
          <a:noFill/>
          <a:ln/>
        </p:spPr>
        <p:txBody>
          <a:bodyPr wrap="square" lIns="0" tIns="0" rIns="0" bIns="0" rtlCol="0" anchor="ctr"/>
          <a:lstStyle/>
          <a:p>
            <a:pPr algn="ctr" indent="0" marL="0">
              <a:buNone/>
            </a:pPr>
            <a:r>
              <a:rPr lang="en-US" sz="1200" dirty="0">
                <a:solidFill>
                  <a:srgbClr val="BFD9FF"/>
                </a:solidFill>
                <a:latin typeface="Calibri" pitchFamily="34" charset="0"/>
                <a:ea typeface="Calibri" pitchFamily="34" charset="-122"/>
                <a:cs typeface="Calibri" pitchFamily="34" charset="-120"/>
              </a:rPr>
              <a:t>Guangxi</a:t>
            </a:r>
            <a:endParaRPr lang="en-US" sz="1200" dirty="0"/>
          </a:p>
        </p:txBody>
      </p:sp>
      <p:sp>
        <p:nvSpPr>
          <p:cNvPr id="21" name="Shape 18"/>
          <p:cNvSpPr/>
          <p:nvPr/>
        </p:nvSpPr>
        <p:spPr>
          <a:xfrm>
            <a:off x="2907792" y="3598164"/>
            <a:ext cx="676656" cy="0"/>
          </a:xfrm>
          <a:prstGeom prst="line">
            <a:avLst/>
          </a:prstGeom>
          <a:noFill/>
          <a:ln w="28575">
            <a:solidFill>
              <a:srgbClr val="1565C0"/>
            </a:solidFill>
            <a:prstDash val="solid"/>
            <a:tailEnd type="triangle"/>
          </a:ln>
        </p:spPr>
      </p:sp>
      <p:sp>
        <p:nvSpPr>
          <p:cNvPr id="22" name="Text 19"/>
          <p:cNvSpPr txBox="1"/>
          <p:nvPr/>
        </p:nvSpPr>
        <p:spPr>
          <a:xfrm>
            <a:off x="2907792" y="3214116"/>
            <a:ext cx="676656" cy="310896"/>
          </a:xfrm>
          <a:prstGeom prst="rect">
            <a:avLst/>
          </a:prstGeom>
          <a:noFill/>
          <a:ln/>
        </p:spPr>
        <p:txBody>
          <a:bodyPr wrap="square" lIns="0" tIns="0" rIns="0" bIns="0" rtlCol="0" anchor="ctr"/>
          <a:lstStyle/>
          <a:p>
            <a:pPr algn="ctr" indent="0" marL="0">
              <a:buNone/>
            </a:pPr>
            <a:r>
              <a:rPr lang="en-US" sz="1200" b="1" dirty="0">
                <a:solidFill>
                  <a:srgbClr val="E8453C"/>
                </a:solidFill>
                <a:latin typeface="Calibri" pitchFamily="34" charset="0"/>
                <a:ea typeface="Calibri" pitchFamily="34" charset="-122"/>
                <a:cs typeface="Calibri" pitchFamily="34" charset="-120"/>
              </a:rPr>
              <a:t>by road</a:t>
            </a:r>
            <a:endParaRPr lang="en-US" sz="1200" dirty="0"/>
          </a:p>
        </p:txBody>
      </p:sp>
      <p:sp>
        <p:nvSpPr>
          <p:cNvPr id="23" name="Shape 20"/>
          <p:cNvSpPr/>
          <p:nvPr/>
        </p:nvSpPr>
        <p:spPr>
          <a:xfrm>
            <a:off x="3657600" y="3118104"/>
            <a:ext cx="2148840" cy="960120"/>
          </a:xfrm>
          <a:prstGeom prst="roundRect">
            <a:avLst>
              <a:gd name="adj" fmla="val 11429"/>
            </a:avLst>
          </a:prstGeom>
          <a:solidFill>
            <a:srgbClr val="E8F1FC"/>
          </a:solidFill>
          <a:ln w="12700">
            <a:solidFill>
              <a:srgbClr val="C9DCF5"/>
            </a:solidFill>
            <a:prstDash val="solid"/>
          </a:ln>
        </p:spPr>
      </p:sp>
      <p:sp>
        <p:nvSpPr>
          <p:cNvPr id="24" name="Text 21"/>
          <p:cNvSpPr txBox="1"/>
          <p:nvPr/>
        </p:nvSpPr>
        <p:spPr>
          <a:xfrm>
            <a:off x="3749040" y="3246120"/>
            <a:ext cx="1965960" cy="41148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Beibu Gulf ports</a:t>
            </a:r>
            <a:endParaRPr lang="en-US" sz="1450" dirty="0"/>
          </a:p>
        </p:txBody>
      </p:sp>
      <p:sp>
        <p:nvSpPr>
          <p:cNvPr id="25" name="Text 22"/>
          <p:cNvSpPr txBox="1"/>
          <p:nvPr/>
        </p:nvSpPr>
        <p:spPr>
          <a:xfrm>
            <a:off x="3749040" y="3630168"/>
            <a:ext cx="1965960" cy="310896"/>
          </a:xfrm>
          <a:prstGeom prst="rect">
            <a:avLst/>
          </a:prstGeom>
          <a:noFill/>
          <a:ln/>
        </p:spPr>
        <p:txBody>
          <a:bodyPr wrap="square" lIns="0" tIns="0" rIns="0" bIns="0" rtlCol="0" anchor="ctr"/>
          <a:lstStyle/>
          <a:p>
            <a:pPr algn="ctr" indent="0" marL="0">
              <a:buNone/>
            </a:pPr>
            <a:r>
              <a:rPr lang="en-US" sz="1200" dirty="0">
                <a:solidFill>
                  <a:srgbClr val="5B6B7F"/>
                </a:solidFill>
                <a:latin typeface="Calibri" pitchFamily="34" charset="0"/>
                <a:ea typeface="Calibri" pitchFamily="34" charset="-122"/>
                <a:cs typeface="Calibri" pitchFamily="34" charset="-120"/>
              </a:rPr>
              <a:t>Fangchenggang (35 km) · Qinzhou</a:t>
            </a:r>
            <a:endParaRPr lang="en-US" sz="1200" dirty="0"/>
          </a:p>
        </p:txBody>
      </p:sp>
      <p:sp>
        <p:nvSpPr>
          <p:cNvPr id="26" name="Shape 23"/>
          <p:cNvSpPr/>
          <p:nvPr/>
        </p:nvSpPr>
        <p:spPr>
          <a:xfrm>
            <a:off x="5879592" y="3598164"/>
            <a:ext cx="585216" cy="0"/>
          </a:xfrm>
          <a:prstGeom prst="line">
            <a:avLst/>
          </a:prstGeom>
          <a:noFill/>
          <a:ln w="28575">
            <a:solidFill>
              <a:srgbClr val="1565C0"/>
            </a:solidFill>
            <a:prstDash val="solid"/>
            <a:tailEnd type="triangle"/>
          </a:ln>
        </p:spPr>
      </p:sp>
      <p:sp>
        <p:nvSpPr>
          <p:cNvPr id="27" name="Text 24"/>
          <p:cNvSpPr txBox="1"/>
          <p:nvPr/>
        </p:nvSpPr>
        <p:spPr>
          <a:xfrm>
            <a:off x="5879592" y="3214116"/>
            <a:ext cx="585216" cy="310896"/>
          </a:xfrm>
          <a:prstGeom prst="rect">
            <a:avLst/>
          </a:prstGeom>
          <a:noFill/>
          <a:ln/>
        </p:spPr>
        <p:txBody>
          <a:bodyPr wrap="square" lIns="0" tIns="0" rIns="0" bIns="0" rtlCol="0" anchor="ctr"/>
          <a:lstStyle/>
          <a:p>
            <a:pPr algn="ctr" indent="0" marL="0">
              <a:buNone/>
            </a:pPr>
            <a:r>
              <a:rPr lang="en-US" sz="1200" b="1" dirty="0">
                <a:solidFill>
                  <a:srgbClr val="E8453C"/>
                </a:solidFill>
                <a:latin typeface="Calibri" pitchFamily="34" charset="0"/>
                <a:ea typeface="Calibri" pitchFamily="34" charset="-122"/>
                <a:cs typeface="Calibri" pitchFamily="34" charset="-120"/>
              </a:rPr>
              <a:t>by sea</a:t>
            </a:r>
            <a:endParaRPr lang="en-US" sz="1200" dirty="0"/>
          </a:p>
        </p:txBody>
      </p:sp>
      <p:pic>
        <p:nvPicPr>
          <p:cNvPr id="28" name="Image 1" descr="/tmp/claude-0/-home-user-keyuan/fe094a75-461e-584f-b109-946f5642fe8f/scratchpad/build/img/icon_ship_b.png">    </p:cNvPr>
          <p:cNvPicPr>
            <a:picLocks noChangeAspect="1"/>
          </p:cNvPicPr>
          <p:nvPr/>
        </p:nvPicPr>
        <p:blipFill>
          <a:blip r:embed="rId2"/>
          <a:stretch>
            <a:fillRect/>
          </a:stretch>
        </p:blipFill>
        <p:spPr>
          <a:xfrm>
            <a:off x="6025896" y="3689604"/>
            <a:ext cx="292608" cy="292608"/>
          </a:xfrm>
          <a:prstGeom prst="rect">
            <a:avLst/>
          </a:prstGeom>
        </p:spPr>
      </p:pic>
      <p:sp>
        <p:nvSpPr>
          <p:cNvPr id="29" name="Shape 25"/>
          <p:cNvSpPr/>
          <p:nvPr/>
        </p:nvSpPr>
        <p:spPr>
          <a:xfrm>
            <a:off x="6537960" y="3118104"/>
            <a:ext cx="1463040" cy="960120"/>
          </a:xfrm>
          <a:prstGeom prst="roundRect">
            <a:avLst>
              <a:gd name="adj" fmla="val 11429"/>
            </a:avLst>
          </a:prstGeom>
          <a:solidFill>
            <a:srgbClr val="E8453C"/>
          </a:solidFill>
          <a:ln w="12700">
            <a:solidFill>
              <a:srgbClr val="E8453C"/>
            </a:solidFill>
            <a:prstDash val="solid"/>
          </a:ln>
        </p:spPr>
      </p:sp>
      <p:sp>
        <p:nvSpPr>
          <p:cNvPr id="30" name="Text 26"/>
          <p:cNvSpPr txBox="1"/>
          <p:nvPr/>
        </p:nvSpPr>
        <p:spPr>
          <a:xfrm>
            <a:off x="6611112" y="3246120"/>
            <a:ext cx="131673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Southeast Asia</a:t>
            </a:r>
            <a:endParaRPr lang="en-US" sz="1450" dirty="0"/>
          </a:p>
        </p:txBody>
      </p:sp>
      <p:sp>
        <p:nvSpPr>
          <p:cNvPr id="31" name="Text 27"/>
          <p:cNvSpPr txBox="1"/>
          <p:nvPr/>
        </p:nvSpPr>
        <p:spPr>
          <a:xfrm>
            <a:off x="6611112" y="3630168"/>
            <a:ext cx="1316736" cy="310896"/>
          </a:xfrm>
          <a:prstGeom prst="rect">
            <a:avLst/>
          </a:prstGeom>
          <a:noFill/>
          <a:ln/>
        </p:spPr>
        <p:txBody>
          <a:bodyPr wrap="square" lIns="0" tIns="0" rIns="0" bIns="0" rtlCol="0" anchor="ctr"/>
          <a:lstStyle/>
          <a:p>
            <a:pPr algn="ctr" indent="0" marL="0">
              <a:buNone/>
            </a:pPr>
            <a:r>
              <a:rPr lang="en-US" sz="1150" dirty="0">
                <a:solidFill>
                  <a:srgbClr val="FFE3E0"/>
                </a:solidFill>
                <a:latin typeface="Calibri" pitchFamily="34" charset="0"/>
                <a:ea typeface="Calibri" pitchFamily="34" charset="-122"/>
                <a:cs typeface="Calibri" pitchFamily="34" charset="-120"/>
              </a:rPr>
              <a:t>direct sailings</a:t>
            </a:r>
            <a:endParaRPr lang="en-US" sz="1150" dirty="0"/>
          </a:p>
        </p:txBody>
      </p:sp>
      <p:sp>
        <p:nvSpPr>
          <p:cNvPr id="32" name="Shape 28"/>
          <p:cNvSpPr/>
          <p:nvPr/>
        </p:nvSpPr>
        <p:spPr>
          <a:xfrm>
            <a:off x="777240" y="4636008"/>
            <a:ext cx="2057400" cy="960120"/>
          </a:xfrm>
          <a:prstGeom prst="roundRect">
            <a:avLst>
              <a:gd name="adj" fmla="val 11429"/>
            </a:avLst>
          </a:prstGeom>
          <a:solidFill>
            <a:srgbClr val="0B4DA2"/>
          </a:solidFill>
          <a:ln w="12700">
            <a:solidFill>
              <a:srgbClr val="0B4DA2"/>
            </a:solidFill>
            <a:prstDash val="solid"/>
          </a:ln>
        </p:spPr>
      </p:sp>
      <p:sp>
        <p:nvSpPr>
          <p:cNvPr id="33" name="Text 29"/>
          <p:cNvSpPr txBox="1"/>
          <p:nvPr/>
        </p:nvSpPr>
        <p:spPr>
          <a:xfrm>
            <a:off x="886968" y="4764024"/>
            <a:ext cx="1837944"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Fangchenggang base</a:t>
            </a:r>
            <a:endParaRPr lang="en-US" sz="1450" dirty="0"/>
          </a:p>
        </p:txBody>
      </p:sp>
      <p:sp>
        <p:nvSpPr>
          <p:cNvPr id="34" name="Text 30"/>
          <p:cNvSpPr txBox="1"/>
          <p:nvPr/>
        </p:nvSpPr>
        <p:spPr>
          <a:xfrm>
            <a:off x="886968" y="5148072"/>
            <a:ext cx="1837944" cy="310896"/>
          </a:xfrm>
          <a:prstGeom prst="rect">
            <a:avLst/>
          </a:prstGeom>
          <a:noFill/>
          <a:ln/>
        </p:spPr>
        <p:txBody>
          <a:bodyPr wrap="square" lIns="0" tIns="0" rIns="0" bIns="0" rtlCol="0" anchor="ctr"/>
          <a:lstStyle/>
          <a:p>
            <a:pPr algn="ctr" indent="0" marL="0">
              <a:buNone/>
            </a:pPr>
            <a:r>
              <a:rPr lang="en-US" sz="1200" dirty="0">
                <a:solidFill>
                  <a:srgbClr val="BFD9FF"/>
                </a:solidFill>
                <a:latin typeface="Calibri" pitchFamily="34" charset="0"/>
                <a:ea typeface="Calibri" pitchFamily="34" charset="-122"/>
                <a:cs typeface="Calibri" pitchFamily="34" charset="-120"/>
              </a:rPr>
              <a:t>Guangxi</a:t>
            </a:r>
            <a:endParaRPr lang="en-US" sz="1200" dirty="0"/>
          </a:p>
        </p:txBody>
      </p:sp>
      <p:sp>
        <p:nvSpPr>
          <p:cNvPr id="35" name="Shape 31"/>
          <p:cNvSpPr/>
          <p:nvPr/>
        </p:nvSpPr>
        <p:spPr>
          <a:xfrm>
            <a:off x="2907792" y="5116068"/>
            <a:ext cx="3557016" cy="0"/>
          </a:xfrm>
          <a:prstGeom prst="line">
            <a:avLst/>
          </a:prstGeom>
          <a:noFill/>
          <a:ln w="28575">
            <a:solidFill>
              <a:srgbClr val="1565C0"/>
            </a:solidFill>
            <a:prstDash val="solid"/>
            <a:tailEnd type="triangle"/>
          </a:ln>
        </p:spPr>
      </p:sp>
      <p:sp>
        <p:nvSpPr>
          <p:cNvPr id="36" name="Text 32"/>
          <p:cNvSpPr txBox="1"/>
          <p:nvPr/>
        </p:nvSpPr>
        <p:spPr>
          <a:xfrm>
            <a:off x="2907792" y="4732020"/>
            <a:ext cx="3557016" cy="310896"/>
          </a:xfrm>
          <a:prstGeom prst="rect">
            <a:avLst/>
          </a:prstGeom>
          <a:noFill/>
          <a:ln/>
        </p:spPr>
        <p:txBody>
          <a:bodyPr wrap="square" lIns="0" tIns="0" rIns="0" bIns="0" rtlCol="0" anchor="ctr"/>
          <a:lstStyle/>
          <a:p>
            <a:pPr algn="ctr" indent="0" marL="0">
              <a:buNone/>
            </a:pPr>
            <a:r>
              <a:rPr lang="en-US" sz="1200" b="1" dirty="0">
                <a:solidFill>
                  <a:srgbClr val="E8453C"/>
                </a:solidFill>
                <a:latin typeface="Calibri" pitchFamily="34" charset="0"/>
                <a:ea typeface="Calibri" pitchFamily="34" charset="-122"/>
                <a:cs typeface="Calibri" pitchFamily="34" charset="-120"/>
              </a:rPr>
              <a:t>275 km by road</a:t>
            </a:r>
            <a:endParaRPr lang="en-US" sz="1200" dirty="0"/>
          </a:p>
        </p:txBody>
      </p:sp>
      <p:pic>
        <p:nvPicPr>
          <p:cNvPr id="37" name="Image 2" descr="/tmp/claude-0/-home-user-keyuan/fe094a75-461e-584f-b109-946f5642fe8f/scratchpad/build/img/icon_truck_b.png">    </p:cNvPr>
          <p:cNvPicPr>
            <a:picLocks noChangeAspect="1"/>
          </p:cNvPicPr>
          <p:nvPr/>
        </p:nvPicPr>
        <p:blipFill>
          <a:blip r:embed="rId3"/>
          <a:stretch>
            <a:fillRect/>
          </a:stretch>
        </p:blipFill>
        <p:spPr>
          <a:xfrm>
            <a:off x="4539996" y="5207508"/>
            <a:ext cx="292608" cy="292608"/>
          </a:xfrm>
          <a:prstGeom prst="rect">
            <a:avLst/>
          </a:prstGeom>
        </p:spPr>
      </p:pic>
      <p:sp>
        <p:nvSpPr>
          <p:cNvPr id="38" name="Shape 33"/>
          <p:cNvSpPr/>
          <p:nvPr/>
        </p:nvSpPr>
        <p:spPr>
          <a:xfrm>
            <a:off x="6537960" y="4636008"/>
            <a:ext cx="1463040" cy="960120"/>
          </a:xfrm>
          <a:prstGeom prst="roundRect">
            <a:avLst>
              <a:gd name="adj" fmla="val 11429"/>
            </a:avLst>
          </a:prstGeom>
          <a:solidFill>
            <a:srgbClr val="E8453C"/>
          </a:solidFill>
          <a:ln w="12700">
            <a:solidFill>
              <a:srgbClr val="E8453C"/>
            </a:solidFill>
            <a:prstDash val="solid"/>
          </a:ln>
        </p:spPr>
      </p:sp>
      <p:sp>
        <p:nvSpPr>
          <p:cNvPr id="39" name="Text 34"/>
          <p:cNvSpPr txBox="1"/>
          <p:nvPr/>
        </p:nvSpPr>
        <p:spPr>
          <a:xfrm>
            <a:off x="6611112" y="4764024"/>
            <a:ext cx="1316736" cy="41148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Hanoi</a:t>
            </a:r>
            <a:endParaRPr lang="en-US" sz="1450" dirty="0"/>
          </a:p>
        </p:txBody>
      </p:sp>
      <p:sp>
        <p:nvSpPr>
          <p:cNvPr id="40" name="Text 35"/>
          <p:cNvSpPr txBox="1"/>
          <p:nvPr/>
        </p:nvSpPr>
        <p:spPr>
          <a:xfrm>
            <a:off x="6611112" y="5148072"/>
            <a:ext cx="1316736" cy="310896"/>
          </a:xfrm>
          <a:prstGeom prst="rect">
            <a:avLst/>
          </a:prstGeom>
          <a:noFill/>
          <a:ln/>
        </p:spPr>
        <p:txBody>
          <a:bodyPr wrap="square" lIns="0" tIns="0" rIns="0" bIns="0" rtlCol="0" anchor="ctr"/>
          <a:lstStyle/>
          <a:p>
            <a:pPr algn="ctr" indent="0" marL="0">
              <a:buNone/>
            </a:pPr>
            <a:r>
              <a:rPr lang="en-US" sz="1150" dirty="0">
                <a:solidFill>
                  <a:srgbClr val="FFE3E0"/>
                </a:solidFill>
                <a:latin typeface="Calibri" pitchFamily="34" charset="0"/>
                <a:ea typeface="Calibri" pitchFamily="34" charset="-122"/>
                <a:cs typeface="Calibri" pitchFamily="34" charset="-120"/>
              </a:rPr>
              <a:t>northern Vietnam</a:t>
            </a:r>
            <a:endParaRPr lang="en-US" sz="1150" dirty="0"/>
          </a:p>
        </p:txBody>
      </p:sp>
      <p:sp>
        <p:nvSpPr>
          <p:cNvPr id="41" name="Shape 36"/>
          <p:cNvSpPr/>
          <p:nvPr/>
        </p:nvSpPr>
        <p:spPr>
          <a:xfrm>
            <a:off x="8412480" y="1325880"/>
            <a:ext cx="3227832" cy="4846320"/>
          </a:xfrm>
          <a:prstGeom prst="roundRect">
            <a:avLst>
              <a:gd name="adj" fmla="val 3966"/>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2" name="Text 37"/>
          <p:cNvSpPr txBox="1"/>
          <p:nvPr/>
        </p:nvSpPr>
        <p:spPr>
          <a:xfrm>
            <a:off x="8641080" y="1508760"/>
            <a:ext cx="2834640" cy="411480"/>
          </a:xfrm>
          <a:prstGeom prst="rect">
            <a:avLst/>
          </a:prstGeom>
          <a:noFill/>
          <a:ln/>
        </p:spPr>
        <p:txBody>
          <a:bodyPr wrap="square" lIns="0" tIns="0" rIns="0" bIns="0" rtlCol="0" anchor="ctr"/>
          <a:lstStyle/>
          <a:p>
            <a:pPr algn="l" indent="0" marL="0">
              <a:buNone/>
            </a:pPr>
            <a:r>
              <a:rPr lang="en-US" sz="1700" b="1" dirty="0">
                <a:solidFill>
                  <a:srgbClr val="10233F"/>
                </a:solidFill>
                <a:latin typeface="Arial" pitchFamily="34" charset="0"/>
                <a:ea typeface="Arial" pitchFamily="34" charset="-122"/>
                <a:cs typeface="Arial" pitchFamily="34" charset="-120"/>
              </a:rPr>
              <a:t>For ASEAN buyers</a:t>
            </a:r>
            <a:endParaRPr lang="en-US" sz="1700" dirty="0"/>
          </a:p>
        </p:txBody>
      </p:sp>
      <p:sp>
        <p:nvSpPr>
          <p:cNvPr id="43" name="Shape 38"/>
          <p:cNvSpPr/>
          <p:nvPr/>
        </p:nvSpPr>
        <p:spPr>
          <a:xfrm>
            <a:off x="8641080" y="2331720"/>
            <a:ext cx="603504" cy="603504"/>
          </a:xfrm>
          <a:prstGeom prst="ellipse">
            <a:avLst/>
          </a:prstGeom>
          <a:solidFill>
            <a:srgbClr val="0B4DA2"/>
          </a:solidFill>
          <a:ln w="12700">
            <a:solidFill>
              <a:srgbClr val="0B4DA2"/>
            </a:solidFill>
            <a:prstDash val="solid"/>
          </a:ln>
        </p:spPr>
      </p:sp>
      <p:pic>
        <p:nvPicPr>
          <p:cNvPr id="44" name="Image 3" descr="/tmp/claude-0/-home-user-keyuan/fe094a75-461e-584f-b109-946f5642fe8f/scratchpad/build/img/icon_ship_w.png">    </p:cNvPr>
          <p:cNvPicPr>
            <a:picLocks noChangeAspect="1"/>
          </p:cNvPicPr>
          <p:nvPr/>
        </p:nvPicPr>
        <p:blipFill>
          <a:blip r:embed="rId4"/>
          <a:stretch>
            <a:fillRect/>
          </a:stretch>
        </p:blipFill>
        <p:spPr>
          <a:xfrm>
            <a:off x="8797991" y="2488631"/>
            <a:ext cx="289682" cy="289682"/>
          </a:xfrm>
          <a:prstGeom prst="rect">
            <a:avLst/>
          </a:prstGeom>
        </p:spPr>
      </p:pic>
      <p:sp>
        <p:nvSpPr>
          <p:cNvPr id="45" name="Text 39"/>
          <p:cNvSpPr txBox="1"/>
          <p:nvPr/>
        </p:nvSpPr>
        <p:spPr>
          <a:xfrm>
            <a:off x="9400032" y="2295144"/>
            <a:ext cx="2103120" cy="100584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Direct container shipping from the Beibu Gulf to Southeast Asian ports</a:t>
            </a:r>
            <a:endParaRPr lang="en-US" sz="1400" dirty="0"/>
          </a:p>
        </p:txBody>
      </p:sp>
      <p:sp>
        <p:nvSpPr>
          <p:cNvPr id="46" name="Shape 40"/>
          <p:cNvSpPr/>
          <p:nvPr/>
        </p:nvSpPr>
        <p:spPr>
          <a:xfrm>
            <a:off x="8641080" y="3520440"/>
            <a:ext cx="603504" cy="603504"/>
          </a:xfrm>
          <a:prstGeom prst="ellipse">
            <a:avLst/>
          </a:prstGeom>
          <a:solidFill>
            <a:srgbClr val="0B4DA2"/>
          </a:solidFill>
          <a:ln w="12700">
            <a:solidFill>
              <a:srgbClr val="0B4DA2"/>
            </a:solidFill>
            <a:prstDash val="solid"/>
          </a:ln>
        </p:spPr>
      </p:sp>
      <p:pic>
        <p:nvPicPr>
          <p:cNvPr id="47" name="Image 4" descr="/tmp/claude-0/-home-user-keyuan/fe094a75-461e-584f-b109-946f5642fe8f/scratchpad/build/img/icon_truck_w.png">    </p:cNvPr>
          <p:cNvPicPr>
            <a:picLocks noChangeAspect="1"/>
          </p:cNvPicPr>
          <p:nvPr/>
        </p:nvPicPr>
        <p:blipFill>
          <a:blip r:embed="rId5"/>
          <a:stretch>
            <a:fillRect/>
          </a:stretch>
        </p:blipFill>
        <p:spPr>
          <a:xfrm>
            <a:off x="8797991" y="3677351"/>
            <a:ext cx="289682" cy="289682"/>
          </a:xfrm>
          <a:prstGeom prst="rect">
            <a:avLst/>
          </a:prstGeom>
        </p:spPr>
      </p:pic>
      <p:sp>
        <p:nvSpPr>
          <p:cNvPr id="48" name="Text 41"/>
          <p:cNvSpPr txBox="1"/>
          <p:nvPr/>
        </p:nvSpPr>
        <p:spPr>
          <a:xfrm>
            <a:off x="9400032" y="3483864"/>
            <a:ext cx="2103120" cy="100584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Overland delivery option to northern Vietnam</a:t>
            </a:r>
            <a:endParaRPr lang="en-US" sz="1400" dirty="0"/>
          </a:p>
        </p:txBody>
      </p:sp>
      <p:sp>
        <p:nvSpPr>
          <p:cNvPr id="49" name="Shape 42"/>
          <p:cNvSpPr/>
          <p:nvPr/>
        </p:nvSpPr>
        <p:spPr>
          <a:xfrm>
            <a:off x="8641080" y="4709160"/>
            <a:ext cx="603504" cy="603504"/>
          </a:xfrm>
          <a:prstGeom prst="ellipse">
            <a:avLst/>
          </a:prstGeom>
          <a:solidFill>
            <a:srgbClr val="0B4DA2"/>
          </a:solidFill>
          <a:ln w="12700">
            <a:solidFill>
              <a:srgbClr val="0B4DA2"/>
            </a:solidFill>
            <a:prstDash val="solid"/>
          </a:ln>
        </p:spPr>
      </p:sp>
      <p:pic>
        <p:nvPicPr>
          <p:cNvPr id="50" name="Image 5" descr="/tmp/claude-0/-home-user-keyuan/fe094a75-461e-584f-b109-946f5642fe8f/scratchpad/build/img/icon_certificate_w.png">    </p:cNvPr>
          <p:cNvPicPr>
            <a:picLocks noChangeAspect="1"/>
          </p:cNvPicPr>
          <p:nvPr/>
        </p:nvPicPr>
        <p:blipFill>
          <a:blip r:embed="rId6"/>
          <a:stretch>
            <a:fillRect/>
          </a:stretch>
        </p:blipFill>
        <p:spPr>
          <a:xfrm>
            <a:off x="8797991" y="4866071"/>
            <a:ext cx="289682" cy="289682"/>
          </a:xfrm>
          <a:prstGeom prst="rect">
            <a:avLst/>
          </a:prstGeom>
        </p:spPr>
      </p:pic>
      <p:sp>
        <p:nvSpPr>
          <p:cNvPr id="51" name="Text 43"/>
          <p:cNvSpPr txBox="1"/>
          <p:nvPr/>
        </p:nvSpPr>
        <p:spPr>
          <a:xfrm>
            <a:off x="9400032" y="4672584"/>
            <a:ext cx="2103120" cy="100584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Form E / RCEP certificate of origin for preferential duty</a:t>
            </a:r>
            <a:endParaRPr lang="en-US" sz="14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Industrial-Chain Synergy</a:t>
            </a:r>
            <a:endParaRPr lang="en-US" sz="2800" dirty="0"/>
          </a:p>
        </p:txBody>
      </p:sp>
      <p:sp>
        <p:nvSpPr>
          <p:cNvPr id="3" name="Shape 1"/>
          <p:cNvSpPr/>
          <p:nvPr/>
        </p:nvSpPr>
        <p:spPr>
          <a:xfrm>
            <a:off x="548640" y="1325880"/>
            <a:ext cx="3557016" cy="4846320"/>
          </a:xfrm>
          <a:prstGeom prst="roundRect">
            <a:avLst>
              <a:gd name="adj" fmla="val 3599"/>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822960" y="1600200"/>
            <a:ext cx="822960" cy="822960"/>
          </a:xfrm>
          <a:prstGeom prst="ellipse">
            <a:avLst/>
          </a:prstGeom>
          <a:solidFill>
            <a:srgbClr val="0B4DA2"/>
          </a:solidFill>
          <a:ln w="12700">
            <a:solidFill>
              <a:srgbClr val="0B4DA2"/>
            </a:solidFill>
            <a:prstDash val="solid"/>
          </a:ln>
        </p:spPr>
      </p:sp>
      <p:pic>
        <p:nvPicPr>
          <p:cNvPr id="5" name="Image 0" descr="/tmp/claude-0/-home-user-keyuan/fe094a75-461e-584f-b109-946f5642fe8f/scratchpad/build/img/icon_wheel_w.png">    </p:cNvPr>
          <p:cNvPicPr>
            <a:picLocks noChangeAspect="1"/>
          </p:cNvPicPr>
          <p:nvPr/>
        </p:nvPicPr>
        <p:blipFill>
          <a:blip r:embed="rId1"/>
          <a:stretch>
            <a:fillRect/>
          </a:stretch>
        </p:blipFill>
        <p:spPr>
          <a:xfrm>
            <a:off x="1036930" y="1814170"/>
            <a:ext cx="395021" cy="395021"/>
          </a:xfrm>
          <a:prstGeom prst="rect">
            <a:avLst/>
          </a:prstGeom>
        </p:spPr>
      </p:pic>
      <p:sp>
        <p:nvSpPr>
          <p:cNvPr id="6" name="Text 3"/>
          <p:cNvSpPr txBox="1"/>
          <p:nvPr/>
        </p:nvSpPr>
        <p:spPr>
          <a:xfrm>
            <a:off x="822960" y="2606040"/>
            <a:ext cx="3008376" cy="685800"/>
          </a:xfrm>
          <a:prstGeom prst="rect">
            <a:avLst/>
          </a:prstGeom>
          <a:noFill/>
          <a:ln/>
        </p:spPr>
        <p:txBody>
          <a:bodyPr wrap="square" lIns="0" tIns="0" rIns="0" bIns="0" rtlCol="0" anchor="t"/>
          <a:lstStyle/>
          <a:p>
            <a:pPr algn="l" indent="0" marL="0">
              <a:buNone/>
            </a:pPr>
            <a:r>
              <a:rPr lang="en-US" sz="1800" b="1" dirty="0">
                <a:solidFill>
                  <a:srgbClr val="10233F"/>
                </a:solidFill>
                <a:latin typeface="Arial" pitchFamily="34" charset="0"/>
                <a:ea typeface="Arial" pitchFamily="34" charset="-122"/>
                <a:cs typeface="Arial" pitchFamily="34" charset="-120"/>
              </a:rPr>
              <a:t>For tire makers</a:t>
            </a:r>
            <a:endParaRPr lang="en-US" sz="1800" dirty="0"/>
          </a:p>
        </p:txBody>
      </p:sp>
      <p:sp>
        <p:nvSpPr>
          <p:cNvPr id="7" name="Text 4"/>
          <p:cNvSpPr txBox="1"/>
          <p:nvPr/>
        </p:nvSpPr>
        <p:spPr>
          <a:xfrm>
            <a:off x="822960" y="3337560"/>
            <a:ext cx="3008376" cy="141732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Carbon black alongside SSBR and LCBR synthetic rubber for tire compounds from Changhong High-Tech (605008.SH).</a:t>
            </a:r>
            <a:endParaRPr lang="en-US" sz="1350" dirty="0"/>
          </a:p>
        </p:txBody>
      </p:sp>
      <p:sp>
        <p:nvSpPr>
          <p:cNvPr id="8" name="Text 5"/>
          <p:cNvSpPr txBox="1"/>
          <p:nvPr/>
        </p:nvSpPr>
        <p:spPr>
          <a:xfrm>
            <a:off x="822960" y="4727448"/>
            <a:ext cx="3008376" cy="365760"/>
          </a:xfrm>
          <a:prstGeom prst="rect">
            <a:avLst/>
          </a:prstGeom>
          <a:noFill/>
          <a:ln/>
        </p:spPr>
        <p:txBody>
          <a:bodyPr wrap="square" lIns="0" tIns="0" rIns="0" bIns="0" rtlCol="0" anchor="ctr"/>
          <a:lstStyle/>
          <a:p>
            <a:pPr algn="l" indent="0" marL="0">
              <a:buNone/>
            </a:pPr>
            <a:r>
              <a:rPr lang="en-US" sz="1450" b="1" dirty="0">
                <a:solidFill>
                  <a:srgbClr val="E8453C"/>
                </a:solidFill>
                <a:latin typeface="Calibri" pitchFamily="34" charset="0"/>
                <a:ea typeface="Calibri" pitchFamily="34" charset="-122"/>
                <a:cs typeface="Calibri" pitchFamily="34" charset="-120"/>
              </a:rPr>
              <a:t>80,000 MT/yr SSBR &amp; LCBR</a:t>
            </a:r>
            <a:endParaRPr lang="en-US" sz="1450" dirty="0"/>
          </a:p>
        </p:txBody>
      </p:sp>
      <p:sp>
        <p:nvSpPr>
          <p:cNvPr id="9" name="Shape 6"/>
          <p:cNvSpPr/>
          <p:nvPr/>
        </p:nvSpPr>
        <p:spPr>
          <a:xfrm>
            <a:off x="822960" y="5303520"/>
            <a:ext cx="1417320" cy="621792"/>
          </a:xfrm>
          <a:prstGeom prst="homePlate">
            <a:avLst/>
          </a:prstGeom>
          <a:solidFill>
            <a:srgbClr val="0B4DA2"/>
          </a:solidFill>
          <a:ln w="12700">
            <a:solidFill>
              <a:srgbClr val="0B4DA2"/>
            </a:solidFill>
            <a:prstDash val="solid"/>
          </a:ln>
        </p:spPr>
      </p:sp>
      <p:sp>
        <p:nvSpPr>
          <p:cNvPr id="10" name="Text 7"/>
          <p:cNvSpPr txBox="1"/>
          <p:nvPr/>
        </p:nvSpPr>
        <p:spPr>
          <a:xfrm>
            <a:off x="822960" y="5303520"/>
            <a:ext cx="1188720" cy="62179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01</a:t>
            </a:r>
            <a:endParaRPr lang="en-US" sz="2600" dirty="0"/>
          </a:p>
        </p:txBody>
      </p:sp>
      <p:sp>
        <p:nvSpPr>
          <p:cNvPr id="11" name="Shape 8"/>
          <p:cNvSpPr/>
          <p:nvPr/>
        </p:nvSpPr>
        <p:spPr>
          <a:xfrm>
            <a:off x="4315968" y="1325880"/>
            <a:ext cx="3557016" cy="4846320"/>
          </a:xfrm>
          <a:prstGeom prst="roundRect">
            <a:avLst>
              <a:gd name="adj" fmla="val 3599"/>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2" name="Shape 9"/>
          <p:cNvSpPr/>
          <p:nvPr/>
        </p:nvSpPr>
        <p:spPr>
          <a:xfrm>
            <a:off x="4590288" y="1600200"/>
            <a:ext cx="822960" cy="822960"/>
          </a:xfrm>
          <a:prstGeom prst="ellipse">
            <a:avLst/>
          </a:prstGeom>
          <a:solidFill>
            <a:srgbClr val="0B4DA2"/>
          </a:solidFill>
          <a:ln w="12700">
            <a:solidFill>
              <a:srgbClr val="0B4DA2"/>
            </a:solidFill>
            <a:prstDash val="solid"/>
          </a:ln>
        </p:spPr>
      </p:sp>
      <p:pic>
        <p:nvPicPr>
          <p:cNvPr id="13" name="Image 1" descr="/tmp/claude-0/-home-user-keyuan/fe094a75-461e-584f-b109-946f5642fe8f/scratchpad/build/img/icon_cable_w.png">    </p:cNvPr>
          <p:cNvPicPr>
            <a:picLocks noChangeAspect="1"/>
          </p:cNvPicPr>
          <p:nvPr/>
        </p:nvPicPr>
        <p:blipFill>
          <a:blip r:embed="rId2"/>
          <a:stretch>
            <a:fillRect/>
          </a:stretch>
        </p:blipFill>
        <p:spPr>
          <a:xfrm>
            <a:off x="4804258" y="1814170"/>
            <a:ext cx="395021" cy="395021"/>
          </a:xfrm>
          <a:prstGeom prst="rect">
            <a:avLst/>
          </a:prstGeom>
        </p:spPr>
      </p:pic>
      <p:sp>
        <p:nvSpPr>
          <p:cNvPr id="14" name="Text 10"/>
          <p:cNvSpPr txBox="1"/>
          <p:nvPr/>
        </p:nvSpPr>
        <p:spPr>
          <a:xfrm>
            <a:off x="4590288" y="2606040"/>
            <a:ext cx="3008376" cy="685800"/>
          </a:xfrm>
          <a:prstGeom prst="rect">
            <a:avLst/>
          </a:prstGeom>
          <a:noFill/>
          <a:ln/>
        </p:spPr>
        <p:txBody>
          <a:bodyPr wrap="square" lIns="0" tIns="0" rIns="0" bIns="0" rtlCol="0" anchor="t"/>
          <a:lstStyle/>
          <a:p>
            <a:pPr algn="l" indent="0" marL="0">
              <a:buNone/>
            </a:pPr>
            <a:r>
              <a:rPr lang="en-US" sz="1800" b="1" dirty="0">
                <a:solidFill>
                  <a:srgbClr val="10233F"/>
                </a:solidFill>
                <a:latin typeface="Arial" pitchFamily="34" charset="0"/>
                <a:ea typeface="Arial" pitchFamily="34" charset="-122"/>
                <a:cs typeface="Arial" pitchFamily="34" charset="-120"/>
              </a:rPr>
              <a:t>For cable &amp; optical-fibre makers</a:t>
            </a:r>
            <a:endParaRPr lang="en-US" sz="1800" dirty="0"/>
          </a:p>
        </p:txBody>
      </p:sp>
      <p:sp>
        <p:nvSpPr>
          <p:cNvPr id="15" name="Text 11"/>
          <p:cNvSpPr txBox="1"/>
          <p:nvPr/>
        </p:nvSpPr>
        <p:spPr>
          <a:xfrm>
            <a:off x="4590288" y="3337560"/>
            <a:ext cx="3008376" cy="141732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Carbon black supplied together with our PBT and calcium carbonate, for shielded cable and optical-fibre jackets.</a:t>
            </a:r>
            <a:endParaRPr lang="en-US" sz="1350" dirty="0"/>
          </a:p>
        </p:txBody>
      </p:sp>
      <p:sp>
        <p:nvSpPr>
          <p:cNvPr id="16" name="Text 12"/>
          <p:cNvSpPr txBox="1"/>
          <p:nvPr/>
        </p:nvSpPr>
        <p:spPr>
          <a:xfrm>
            <a:off x="4590288" y="4727448"/>
            <a:ext cx="3008376" cy="365760"/>
          </a:xfrm>
          <a:prstGeom prst="rect">
            <a:avLst/>
          </a:prstGeom>
          <a:noFill/>
          <a:ln/>
        </p:spPr>
        <p:txBody>
          <a:bodyPr wrap="square" lIns="0" tIns="0" rIns="0" bIns="0" rtlCol="0" anchor="ctr"/>
          <a:lstStyle/>
          <a:p>
            <a:pPr algn="l" indent="0" marL="0">
              <a:buNone/>
            </a:pPr>
            <a:r>
              <a:rPr lang="en-US" sz="1450" b="1" dirty="0">
                <a:solidFill>
                  <a:srgbClr val="E8453C"/>
                </a:solidFill>
                <a:latin typeface="Calibri" pitchFamily="34" charset="0"/>
                <a:ea typeface="Calibri" pitchFamily="34" charset="-122"/>
                <a:cs typeface="Calibri" pitchFamily="34" charset="-120"/>
              </a:rPr>
              <a:t>300,000 MT/yr PBT</a:t>
            </a:r>
            <a:endParaRPr lang="en-US" sz="1450" dirty="0"/>
          </a:p>
        </p:txBody>
      </p:sp>
      <p:sp>
        <p:nvSpPr>
          <p:cNvPr id="17" name="Shape 13"/>
          <p:cNvSpPr/>
          <p:nvPr/>
        </p:nvSpPr>
        <p:spPr>
          <a:xfrm>
            <a:off x="4590288" y="5303520"/>
            <a:ext cx="1417320" cy="621792"/>
          </a:xfrm>
          <a:prstGeom prst="homePlate">
            <a:avLst/>
          </a:prstGeom>
          <a:solidFill>
            <a:srgbClr val="0B4DA2"/>
          </a:solidFill>
          <a:ln w="12700">
            <a:solidFill>
              <a:srgbClr val="0B4DA2"/>
            </a:solidFill>
            <a:prstDash val="solid"/>
          </a:ln>
        </p:spPr>
      </p:sp>
      <p:sp>
        <p:nvSpPr>
          <p:cNvPr id="18" name="Text 14"/>
          <p:cNvSpPr txBox="1"/>
          <p:nvPr/>
        </p:nvSpPr>
        <p:spPr>
          <a:xfrm>
            <a:off x="4590288" y="5303520"/>
            <a:ext cx="1188720" cy="62179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02</a:t>
            </a:r>
            <a:endParaRPr lang="en-US" sz="2600" dirty="0"/>
          </a:p>
        </p:txBody>
      </p:sp>
      <p:sp>
        <p:nvSpPr>
          <p:cNvPr id="19" name="Shape 15"/>
          <p:cNvSpPr/>
          <p:nvPr/>
        </p:nvSpPr>
        <p:spPr>
          <a:xfrm>
            <a:off x="8083296" y="1325880"/>
            <a:ext cx="3557016" cy="4846320"/>
          </a:xfrm>
          <a:prstGeom prst="roundRect">
            <a:avLst>
              <a:gd name="adj" fmla="val 3599"/>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0" name="Shape 16"/>
          <p:cNvSpPr/>
          <p:nvPr/>
        </p:nvSpPr>
        <p:spPr>
          <a:xfrm>
            <a:off x="8357616" y="1600200"/>
            <a:ext cx="822960" cy="822960"/>
          </a:xfrm>
          <a:prstGeom prst="ellipse">
            <a:avLst/>
          </a:prstGeom>
          <a:solidFill>
            <a:srgbClr val="0B4DA2"/>
          </a:solidFill>
          <a:ln w="12700">
            <a:solidFill>
              <a:srgbClr val="0B4DA2"/>
            </a:solidFill>
            <a:prstDash val="solid"/>
          </a:ln>
        </p:spPr>
      </p:sp>
      <p:pic>
        <p:nvPicPr>
          <p:cNvPr id="21" name="Image 2" descr="/tmp/claude-0/-home-user-keyuan/fe094a75-461e-584f-b109-946f5642fe8f/scratchpad/build/img/icon_factory_w.png">    </p:cNvPr>
          <p:cNvPicPr>
            <a:picLocks noChangeAspect="1"/>
          </p:cNvPicPr>
          <p:nvPr/>
        </p:nvPicPr>
        <p:blipFill>
          <a:blip r:embed="rId3"/>
          <a:stretch>
            <a:fillRect/>
          </a:stretch>
        </p:blipFill>
        <p:spPr>
          <a:xfrm>
            <a:off x="8571586" y="1814170"/>
            <a:ext cx="395021" cy="395021"/>
          </a:xfrm>
          <a:prstGeom prst="rect">
            <a:avLst/>
          </a:prstGeom>
        </p:spPr>
      </p:pic>
      <p:sp>
        <p:nvSpPr>
          <p:cNvPr id="22" name="Text 17"/>
          <p:cNvSpPr txBox="1"/>
          <p:nvPr/>
        </p:nvSpPr>
        <p:spPr>
          <a:xfrm>
            <a:off x="8357616" y="2606040"/>
            <a:ext cx="3008376" cy="685800"/>
          </a:xfrm>
          <a:prstGeom prst="rect">
            <a:avLst/>
          </a:prstGeom>
          <a:noFill/>
          <a:ln/>
        </p:spPr>
        <p:txBody>
          <a:bodyPr wrap="square" lIns="0" tIns="0" rIns="0" bIns="0" rtlCol="0" anchor="t"/>
          <a:lstStyle/>
          <a:p>
            <a:pPr algn="l" indent="0" marL="0">
              <a:buNone/>
            </a:pPr>
            <a:r>
              <a:rPr lang="en-US" sz="1800" b="1" dirty="0">
                <a:solidFill>
                  <a:srgbClr val="10233F"/>
                </a:solidFill>
                <a:latin typeface="Arial" pitchFamily="34" charset="0"/>
                <a:ea typeface="Arial" pitchFamily="34" charset="-122"/>
                <a:cs typeface="Arial" pitchFamily="34" charset="-120"/>
              </a:rPr>
              <a:t>Integrated production sites</a:t>
            </a:r>
            <a:endParaRPr lang="en-US" sz="1800" dirty="0"/>
          </a:p>
        </p:txBody>
      </p:sp>
      <p:sp>
        <p:nvSpPr>
          <p:cNvPr id="23" name="Text 18"/>
          <p:cNvSpPr txBox="1"/>
          <p:nvPr/>
        </p:nvSpPr>
        <p:spPr>
          <a:xfrm>
            <a:off x="8357616" y="3337560"/>
            <a:ext cx="3008376" cy="141732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Every carbon black base runs beside other production units, so by-products are used on site — efficient, lower-cost production.</a:t>
            </a:r>
            <a:endParaRPr lang="en-US" sz="1350" dirty="0"/>
          </a:p>
        </p:txBody>
      </p:sp>
      <p:sp>
        <p:nvSpPr>
          <p:cNvPr id="24" name="Text 19"/>
          <p:cNvSpPr txBox="1"/>
          <p:nvPr/>
        </p:nvSpPr>
        <p:spPr>
          <a:xfrm>
            <a:off x="8357616" y="4727448"/>
            <a:ext cx="3008376" cy="365760"/>
          </a:xfrm>
          <a:prstGeom prst="rect">
            <a:avLst/>
          </a:prstGeom>
          <a:noFill/>
          <a:ln/>
        </p:spPr>
        <p:txBody>
          <a:bodyPr wrap="square" lIns="0" tIns="0" rIns="0" bIns="0" rtlCol="0" anchor="ctr"/>
          <a:lstStyle/>
          <a:p>
            <a:pPr algn="l" indent="0" marL="0">
              <a:buNone/>
            </a:pPr>
            <a:r>
              <a:rPr lang="en-US" sz="1450" b="1" dirty="0">
                <a:solidFill>
                  <a:srgbClr val="E8453C"/>
                </a:solidFill>
                <a:latin typeface="Calibri" pitchFamily="34" charset="0"/>
                <a:ea typeface="Calibri" pitchFamily="34" charset="-122"/>
                <a:cs typeface="Calibri" pitchFamily="34" charset="-120"/>
              </a:rPr>
              <a:t>By-products used on site</a:t>
            </a:r>
            <a:endParaRPr lang="en-US" sz="1450" dirty="0"/>
          </a:p>
        </p:txBody>
      </p:sp>
      <p:sp>
        <p:nvSpPr>
          <p:cNvPr id="25" name="Shape 20"/>
          <p:cNvSpPr/>
          <p:nvPr/>
        </p:nvSpPr>
        <p:spPr>
          <a:xfrm>
            <a:off x="8357616" y="5303520"/>
            <a:ext cx="1417320" cy="621792"/>
          </a:xfrm>
          <a:prstGeom prst="homePlate">
            <a:avLst/>
          </a:prstGeom>
          <a:solidFill>
            <a:srgbClr val="0B4DA2"/>
          </a:solidFill>
          <a:ln w="12700">
            <a:solidFill>
              <a:srgbClr val="0B4DA2"/>
            </a:solidFill>
            <a:prstDash val="solid"/>
          </a:ln>
        </p:spPr>
      </p:sp>
      <p:sp>
        <p:nvSpPr>
          <p:cNvPr id="26" name="Text 21"/>
          <p:cNvSpPr txBox="1"/>
          <p:nvPr/>
        </p:nvSpPr>
        <p:spPr>
          <a:xfrm>
            <a:off x="8357616" y="5303520"/>
            <a:ext cx="1188720" cy="62179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03</a:t>
            </a:r>
            <a:endParaRPr lang="en-US" sz="26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355848" y="502920"/>
            <a:ext cx="5486400" cy="2377440"/>
          </a:xfrm>
          <a:prstGeom prst="rect">
            <a:avLst/>
          </a:prstGeom>
          <a:noFill/>
          <a:ln/>
        </p:spPr>
        <p:txBody>
          <a:bodyPr wrap="square" lIns="0" tIns="0" rIns="0" bIns="0" rtlCol="0" anchor="ctr"/>
          <a:lstStyle/>
          <a:p>
            <a:pPr algn="ctr" indent="0" marL="0">
              <a:buNone/>
            </a:pPr>
            <a:r>
              <a:rPr lang="en-US" sz="19000" b="1" dirty="0">
                <a:ln w="25400">
                  <a:solidFill>
                    <a:srgbClr val="D5E1EE"/>
                  </a:solidFill>
                </a:ln>
                <a:solidFill>
                  <a:srgbClr val="FFFFFF">
                    <a:alpha val="30000"/>
                  </a:srgbClr>
                </a:solidFill>
                <a:latin typeface="Arial" pitchFamily="34" charset="0"/>
                <a:ea typeface="Arial" pitchFamily="34" charset="-122"/>
                <a:cs typeface="Arial" pitchFamily="34" charset="-120"/>
              </a:rPr>
              <a:t>03</a:t>
            </a:r>
            <a:endParaRPr lang="en-US" sz="19000" dirty="0"/>
          </a:p>
        </p:txBody>
      </p:sp>
      <p:sp>
        <p:nvSpPr>
          <p:cNvPr id="3" name="Text 1"/>
          <p:cNvSpPr txBox="1"/>
          <p:nvPr/>
        </p:nvSpPr>
        <p:spPr>
          <a:xfrm>
            <a:off x="822960" y="2331720"/>
            <a:ext cx="10543032" cy="1097280"/>
          </a:xfrm>
          <a:prstGeom prst="rect">
            <a:avLst/>
          </a:prstGeom>
          <a:noFill/>
          <a:ln/>
        </p:spPr>
        <p:txBody>
          <a:bodyPr wrap="square" lIns="0" tIns="0" rIns="0" bIns="0" rtlCol="0" anchor="ctr"/>
          <a:lstStyle/>
          <a:p>
            <a:pPr algn="ctr" indent="0" marL="0">
              <a:lnSpc>
                <a:spcPct val="95000"/>
              </a:lnSpc>
              <a:buNone/>
            </a:pPr>
            <a:r>
              <a:rPr lang="en-US" sz="60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Product Portfolio</a:t>
            </a:r>
            <a:endParaRPr lang="en-US" sz="6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Grade Map</a:t>
            </a:r>
            <a:endParaRPr lang="en-US" sz="2800" dirty="0"/>
          </a:p>
        </p:txBody>
      </p:sp>
      <p:sp>
        <p:nvSpPr>
          <p:cNvPr id="3" name="Shape 1"/>
          <p:cNvSpPr/>
          <p:nvPr/>
        </p:nvSpPr>
        <p:spPr>
          <a:xfrm>
            <a:off x="548640" y="1325880"/>
            <a:ext cx="7269480" cy="4846320"/>
          </a:xfrm>
          <a:prstGeom prst="roundRect">
            <a:avLst>
              <a:gd name="adj" fmla="val 264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1325880" y="1645920"/>
            <a:ext cx="0" cy="3794760"/>
          </a:xfrm>
          <a:prstGeom prst="line">
            <a:avLst/>
          </a:prstGeom>
          <a:noFill/>
          <a:ln w="9525">
            <a:solidFill>
              <a:srgbClr val="DCE6F2"/>
            </a:solidFill>
            <a:prstDash val="solid"/>
          </a:ln>
        </p:spPr>
      </p:sp>
      <p:sp>
        <p:nvSpPr>
          <p:cNvPr id="5" name="Text 3"/>
          <p:cNvSpPr txBox="1"/>
          <p:nvPr/>
        </p:nvSpPr>
        <p:spPr>
          <a:xfrm>
            <a:off x="105156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20</a:t>
            </a:r>
            <a:endParaRPr lang="en-US" sz="1050" dirty="0"/>
          </a:p>
        </p:txBody>
      </p:sp>
      <p:sp>
        <p:nvSpPr>
          <p:cNvPr id="6" name="Shape 4"/>
          <p:cNvSpPr/>
          <p:nvPr/>
        </p:nvSpPr>
        <p:spPr>
          <a:xfrm>
            <a:off x="2339340" y="1645920"/>
            <a:ext cx="0" cy="3794760"/>
          </a:xfrm>
          <a:prstGeom prst="line">
            <a:avLst/>
          </a:prstGeom>
          <a:noFill/>
          <a:ln w="9525">
            <a:solidFill>
              <a:srgbClr val="DCE6F2"/>
            </a:solidFill>
            <a:prstDash val="solid"/>
          </a:ln>
        </p:spPr>
      </p:sp>
      <p:sp>
        <p:nvSpPr>
          <p:cNvPr id="7" name="Text 5"/>
          <p:cNvSpPr txBox="1"/>
          <p:nvPr/>
        </p:nvSpPr>
        <p:spPr>
          <a:xfrm>
            <a:off x="206502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40</a:t>
            </a:r>
            <a:endParaRPr lang="en-US" sz="1050" dirty="0"/>
          </a:p>
        </p:txBody>
      </p:sp>
      <p:sp>
        <p:nvSpPr>
          <p:cNvPr id="8" name="Shape 6"/>
          <p:cNvSpPr/>
          <p:nvPr/>
        </p:nvSpPr>
        <p:spPr>
          <a:xfrm>
            <a:off x="3352800" y="1645920"/>
            <a:ext cx="0" cy="3794760"/>
          </a:xfrm>
          <a:prstGeom prst="line">
            <a:avLst/>
          </a:prstGeom>
          <a:noFill/>
          <a:ln w="9525">
            <a:solidFill>
              <a:srgbClr val="DCE6F2"/>
            </a:solidFill>
            <a:prstDash val="solid"/>
          </a:ln>
        </p:spPr>
      </p:sp>
      <p:sp>
        <p:nvSpPr>
          <p:cNvPr id="9" name="Text 7"/>
          <p:cNvSpPr txBox="1"/>
          <p:nvPr/>
        </p:nvSpPr>
        <p:spPr>
          <a:xfrm>
            <a:off x="307848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60</a:t>
            </a:r>
            <a:endParaRPr lang="en-US" sz="1050" dirty="0"/>
          </a:p>
        </p:txBody>
      </p:sp>
      <p:sp>
        <p:nvSpPr>
          <p:cNvPr id="10" name="Shape 8"/>
          <p:cNvSpPr/>
          <p:nvPr/>
        </p:nvSpPr>
        <p:spPr>
          <a:xfrm>
            <a:off x="4366260" y="1645920"/>
            <a:ext cx="0" cy="3794760"/>
          </a:xfrm>
          <a:prstGeom prst="line">
            <a:avLst/>
          </a:prstGeom>
          <a:noFill/>
          <a:ln w="9525">
            <a:solidFill>
              <a:srgbClr val="DCE6F2"/>
            </a:solidFill>
            <a:prstDash val="solid"/>
          </a:ln>
        </p:spPr>
      </p:sp>
      <p:sp>
        <p:nvSpPr>
          <p:cNvPr id="11" name="Text 9"/>
          <p:cNvSpPr txBox="1"/>
          <p:nvPr/>
        </p:nvSpPr>
        <p:spPr>
          <a:xfrm>
            <a:off x="409194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80</a:t>
            </a:r>
            <a:endParaRPr lang="en-US" sz="1050" dirty="0"/>
          </a:p>
        </p:txBody>
      </p:sp>
      <p:sp>
        <p:nvSpPr>
          <p:cNvPr id="12" name="Shape 10"/>
          <p:cNvSpPr/>
          <p:nvPr/>
        </p:nvSpPr>
        <p:spPr>
          <a:xfrm>
            <a:off x="5379720" y="1645920"/>
            <a:ext cx="0" cy="3794760"/>
          </a:xfrm>
          <a:prstGeom prst="line">
            <a:avLst/>
          </a:prstGeom>
          <a:noFill/>
          <a:ln w="9525">
            <a:solidFill>
              <a:srgbClr val="DCE6F2"/>
            </a:solidFill>
            <a:prstDash val="solid"/>
          </a:ln>
        </p:spPr>
      </p:sp>
      <p:sp>
        <p:nvSpPr>
          <p:cNvPr id="13" name="Text 11"/>
          <p:cNvSpPr txBox="1"/>
          <p:nvPr/>
        </p:nvSpPr>
        <p:spPr>
          <a:xfrm>
            <a:off x="510540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100</a:t>
            </a:r>
            <a:endParaRPr lang="en-US" sz="1050" dirty="0"/>
          </a:p>
        </p:txBody>
      </p:sp>
      <p:sp>
        <p:nvSpPr>
          <p:cNvPr id="14" name="Shape 12"/>
          <p:cNvSpPr/>
          <p:nvPr/>
        </p:nvSpPr>
        <p:spPr>
          <a:xfrm>
            <a:off x="6393180" y="1645920"/>
            <a:ext cx="0" cy="3794760"/>
          </a:xfrm>
          <a:prstGeom prst="line">
            <a:avLst/>
          </a:prstGeom>
          <a:noFill/>
          <a:ln w="9525">
            <a:solidFill>
              <a:srgbClr val="DCE6F2"/>
            </a:solidFill>
            <a:prstDash val="solid"/>
          </a:ln>
        </p:spPr>
      </p:sp>
      <p:sp>
        <p:nvSpPr>
          <p:cNvPr id="15" name="Text 13"/>
          <p:cNvSpPr txBox="1"/>
          <p:nvPr/>
        </p:nvSpPr>
        <p:spPr>
          <a:xfrm>
            <a:off x="611886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120</a:t>
            </a:r>
            <a:endParaRPr lang="en-US" sz="1050" dirty="0"/>
          </a:p>
        </p:txBody>
      </p:sp>
      <p:sp>
        <p:nvSpPr>
          <p:cNvPr id="16" name="Shape 14"/>
          <p:cNvSpPr/>
          <p:nvPr/>
        </p:nvSpPr>
        <p:spPr>
          <a:xfrm>
            <a:off x="7406640" y="1645920"/>
            <a:ext cx="0" cy="3794760"/>
          </a:xfrm>
          <a:prstGeom prst="line">
            <a:avLst/>
          </a:prstGeom>
          <a:noFill/>
          <a:ln w="9525">
            <a:solidFill>
              <a:srgbClr val="DCE6F2"/>
            </a:solidFill>
            <a:prstDash val="solid"/>
          </a:ln>
        </p:spPr>
      </p:sp>
      <p:sp>
        <p:nvSpPr>
          <p:cNvPr id="17" name="Text 15"/>
          <p:cNvSpPr txBox="1"/>
          <p:nvPr/>
        </p:nvSpPr>
        <p:spPr>
          <a:xfrm>
            <a:off x="7132320" y="5477256"/>
            <a:ext cx="548640" cy="228600"/>
          </a:xfrm>
          <a:prstGeom prst="rect">
            <a:avLst/>
          </a:prstGeom>
          <a:noFill/>
          <a:ln/>
        </p:spPr>
        <p:txBody>
          <a:bodyPr wrap="square" lIns="0" tIns="0" rIns="0" bIns="0" rtlCol="0" anchor="t"/>
          <a:lstStyle/>
          <a:p>
            <a:pPr algn="ctr" indent="0" marL="0">
              <a:buNone/>
            </a:pPr>
            <a:r>
              <a:rPr lang="en-US" sz="1050" dirty="0">
                <a:solidFill>
                  <a:srgbClr val="5B6B7F"/>
                </a:solidFill>
                <a:latin typeface="Calibri" pitchFamily="34" charset="0"/>
                <a:ea typeface="Calibri" pitchFamily="34" charset="-122"/>
                <a:cs typeface="Calibri" pitchFamily="34" charset="-120"/>
              </a:rPr>
              <a:t>140</a:t>
            </a:r>
            <a:endParaRPr lang="en-US" sz="1050" dirty="0"/>
          </a:p>
        </p:txBody>
      </p:sp>
      <p:sp>
        <p:nvSpPr>
          <p:cNvPr id="18" name="Shape 16"/>
          <p:cNvSpPr/>
          <p:nvPr/>
        </p:nvSpPr>
        <p:spPr>
          <a:xfrm>
            <a:off x="1325880" y="5440680"/>
            <a:ext cx="6080760" cy="0"/>
          </a:xfrm>
          <a:prstGeom prst="line">
            <a:avLst/>
          </a:prstGeom>
          <a:noFill/>
          <a:ln w="9525">
            <a:solidFill>
              <a:srgbClr val="DCE6F2"/>
            </a:solidFill>
            <a:prstDash val="solid"/>
          </a:ln>
        </p:spPr>
      </p:sp>
      <p:sp>
        <p:nvSpPr>
          <p:cNvPr id="19" name="Text 17"/>
          <p:cNvSpPr txBox="1"/>
          <p:nvPr/>
        </p:nvSpPr>
        <p:spPr>
          <a:xfrm>
            <a:off x="868680" y="5330952"/>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60</a:t>
            </a:r>
            <a:endParaRPr lang="en-US" sz="1050" dirty="0"/>
          </a:p>
        </p:txBody>
      </p:sp>
      <p:sp>
        <p:nvSpPr>
          <p:cNvPr id="20" name="Shape 18"/>
          <p:cNvSpPr/>
          <p:nvPr/>
        </p:nvSpPr>
        <p:spPr>
          <a:xfrm>
            <a:off x="1325880" y="4898571"/>
            <a:ext cx="6080760" cy="0"/>
          </a:xfrm>
          <a:prstGeom prst="line">
            <a:avLst/>
          </a:prstGeom>
          <a:noFill/>
          <a:ln w="9525">
            <a:solidFill>
              <a:srgbClr val="DCE6F2"/>
            </a:solidFill>
            <a:prstDash val="solid"/>
          </a:ln>
        </p:spPr>
      </p:sp>
      <p:sp>
        <p:nvSpPr>
          <p:cNvPr id="21" name="Text 19"/>
          <p:cNvSpPr txBox="1"/>
          <p:nvPr/>
        </p:nvSpPr>
        <p:spPr>
          <a:xfrm>
            <a:off x="868680" y="4788843"/>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70</a:t>
            </a:r>
            <a:endParaRPr lang="en-US" sz="1050" dirty="0"/>
          </a:p>
        </p:txBody>
      </p:sp>
      <p:sp>
        <p:nvSpPr>
          <p:cNvPr id="22" name="Shape 20"/>
          <p:cNvSpPr/>
          <p:nvPr/>
        </p:nvSpPr>
        <p:spPr>
          <a:xfrm>
            <a:off x="1325880" y="4356463"/>
            <a:ext cx="6080760" cy="0"/>
          </a:xfrm>
          <a:prstGeom prst="line">
            <a:avLst/>
          </a:prstGeom>
          <a:noFill/>
          <a:ln w="9525">
            <a:solidFill>
              <a:srgbClr val="DCE6F2"/>
            </a:solidFill>
            <a:prstDash val="solid"/>
          </a:ln>
        </p:spPr>
      </p:sp>
      <p:sp>
        <p:nvSpPr>
          <p:cNvPr id="23" name="Text 21"/>
          <p:cNvSpPr txBox="1"/>
          <p:nvPr/>
        </p:nvSpPr>
        <p:spPr>
          <a:xfrm>
            <a:off x="868680" y="4246735"/>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80</a:t>
            </a:r>
            <a:endParaRPr lang="en-US" sz="1050" dirty="0"/>
          </a:p>
        </p:txBody>
      </p:sp>
      <p:sp>
        <p:nvSpPr>
          <p:cNvPr id="24" name="Shape 22"/>
          <p:cNvSpPr/>
          <p:nvPr/>
        </p:nvSpPr>
        <p:spPr>
          <a:xfrm>
            <a:off x="1325880" y="3814354"/>
            <a:ext cx="6080760" cy="0"/>
          </a:xfrm>
          <a:prstGeom prst="line">
            <a:avLst/>
          </a:prstGeom>
          <a:noFill/>
          <a:ln w="9525">
            <a:solidFill>
              <a:srgbClr val="DCE6F2"/>
            </a:solidFill>
            <a:prstDash val="solid"/>
          </a:ln>
        </p:spPr>
      </p:sp>
      <p:sp>
        <p:nvSpPr>
          <p:cNvPr id="25" name="Text 23"/>
          <p:cNvSpPr txBox="1"/>
          <p:nvPr/>
        </p:nvSpPr>
        <p:spPr>
          <a:xfrm>
            <a:off x="868680" y="3704626"/>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90</a:t>
            </a:r>
            <a:endParaRPr lang="en-US" sz="1050" dirty="0"/>
          </a:p>
        </p:txBody>
      </p:sp>
      <p:sp>
        <p:nvSpPr>
          <p:cNvPr id="26" name="Shape 24"/>
          <p:cNvSpPr/>
          <p:nvPr/>
        </p:nvSpPr>
        <p:spPr>
          <a:xfrm>
            <a:off x="1325880" y="3272246"/>
            <a:ext cx="6080760" cy="0"/>
          </a:xfrm>
          <a:prstGeom prst="line">
            <a:avLst/>
          </a:prstGeom>
          <a:noFill/>
          <a:ln w="9525">
            <a:solidFill>
              <a:srgbClr val="DCE6F2"/>
            </a:solidFill>
            <a:prstDash val="solid"/>
          </a:ln>
        </p:spPr>
      </p:sp>
      <p:sp>
        <p:nvSpPr>
          <p:cNvPr id="27" name="Text 25"/>
          <p:cNvSpPr txBox="1"/>
          <p:nvPr/>
        </p:nvSpPr>
        <p:spPr>
          <a:xfrm>
            <a:off x="868680" y="3162518"/>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100</a:t>
            </a:r>
            <a:endParaRPr lang="en-US" sz="1050" dirty="0"/>
          </a:p>
        </p:txBody>
      </p:sp>
      <p:sp>
        <p:nvSpPr>
          <p:cNvPr id="28" name="Shape 26"/>
          <p:cNvSpPr/>
          <p:nvPr/>
        </p:nvSpPr>
        <p:spPr>
          <a:xfrm>
            <a:off x="1325880" y="2730137"/>
            <a:ext cx="6080760" cy="0"/>
          </a:xfrm>
          <a:prstGeom prst="line">
            <a:avLst/>
          </a:prstGeom>
          <a:noFill/>
          <a:ln w="9525">
            <a:solidFill>
              <a:srgbClr val="DCE6F2"/>
            </a:solidFill>
            <a:prstDash val="solid"/>
          </a:ln>
        </p:spPr>
      </p:sp>
      <p:sp>
        <p:nvSpPr>
          <p:cNvPr id="29" name="Text 27"/>
          <p:cNvSpPr txBox="1"/>
          <p:nvPr/>
        </p:nvSpPr>
        <p:spPr>
          <a:xfrm>
            <a:off x="868680" y="2620409"/>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110</a:t>
            </a:r>
            <a:endParaRPr lang="en-US" sz="1050" dirty="0"/>
          </a:p>
        </p:txBody>
      </p:sp>
      <p:sp>
        <p:nvSpPr>
          <p:cNvPr id="30" name="Shape 28"/>
          <p:cNvSpPr/>
          <p:nvPr/>
        </p:nvSpPr>
        <p:spPr>
          <a:xfrm>
            <a:off x="1325880" y="2188029"/>
            <a:ext cx="6080760" cy="0"/>
          </a:xfrm>
          <a:prstGeom prst="line">
            <a:avLst/>
          </a:prstGeom>
          <a:noFill/>
          <a:ln w="9525">
            <a:solidFill>
              <a:srgbClr val="DCE6F2"/>
            </a:solidFill>
            <a:prstDash val="solid"/>
          </a:ln>
        </p:spPr>
      </p:sp>
      <p:sp>
        <p:nvSpPr>
          <p:cNvPr id="31" name="Text 29"/>
          <p:cNvSpPr txBox="1"/>
          <p:nvPr/>
        </p:nvSpPr>
        <p:spPr>
          <a:xfrm>
            <a:off x="868680" y="2078301"/>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120</a:t>
            </a:r>
            <a:endParaRPr lang="en-US" sz="1050" dirty="0"/>
          </a:p>
        </p:txBody>
      </p:sp>
      <p:sp>
        <p:nvSpPr>
          <p:cNvPr id="32" name="Shape 30"/>
          <p:cNvSpPr/>
          <p:nvPr/>
        </p:nvSpPr>
        <p:spPr>
          <a:xfrm>
            <a:off x="1325880" y="1645920"/>
            <a:ext cx="6080760" cy="0"/>
          </a:xfrm>
          <a:prstGeom prst="line">
            <a:avLst/>
          </a:prstGeom>
          <a:noFill/>
          <a:ln w="9525">
            <a:solidFill>
              <a:srgbClr val="DCE6F2"/>
            </a:solidFill>
            <a:prstDash val="solid"/>
          </a:ln>
        </p:spPr>
      </p:sp>
      <p:sp>
        <p:nvSpPr>
          <p:cNvPr id="33" name="Text 31"/>
          <p:cNvSpPr txBox="1"/>
          <p:nvPr/>
        </p:nvSpPr>
        <p:spPr>
          <a:xfrm>
            <a:off x="868680" y="1536192"/>
            <a:ext cx="384048" cy="228600"/>
          </a:xfrm>
          <a:prstGeom prst="rect">
            <a:avLst/>
          </a:prstGeom>
          <a:noFill/>
          <a:ln/>
        </p:spPr>
        <p:txBody>
          <a:bodyPr wrap="square" lIns="0" tIns="0" rIns="0" bIns="0" rtlCol="0" anchor="t"/>
          <a:lstStyle/>
          <a:p>
            <a:pPr algn="r" indent="0" marL="0">
              <a:buNone/>
            </a:pPr>
            <a:r>
              <a:rPr lang="en-US" sz="1050" dirty="0">
                <a:solidFill>
                  <a:srgbClr val="5B6B7F"/>
                </a:solidFill>
                <a:latin typeface="Calibri" pitchFamily="34" charset="0"/>
                <a:ea typeface="Calibri" pitchFamily="34" charset="-122"/>
                <a:cs typeface="Calibri" pitchFamily="34" charset="-120"/>
              </a:rPr>
              <a:t>130</a:t>
            </a:r>
            <a:endParaRPr lang="en-US" sz="1050" dirty="0"/>
          </a:p>
        </p:txBody>
      </p:sp>
      <p:sp>
        <p:nvSpPr>
          <p:cNvPr id="34" name="Shape 32"/>
          <p:cNvSpPr/>
          <p:nvPr/>
        </p:nvSpPr>
        <p:spPr>
          <a:xfrm>
            <a:off x="1325880" y="5440680"/>
            <a:ext cx="6080760" cy="0"/>
          </a:xfrm>
          <a:prstGeom prst="line">
            <a:avLst/>
          </a:prstGeom>
          <a:noFill/>
          <a:ln w="12700">
            <a:solidFill>
              <a:srgbClr val="5B6B7F"/>
            </a:solidFill>
            <a:prstDash val="solid"/>
          </a:ln>
        </p:spPr>
      </p:sp>
      <p:sp>
        <p:nvSpPr>
          <p:cNvPr id="35" name="Shape 33"/>
          <p:cNvSpPr/>
          <p:nvPr/>
        </p:nvSpPr>
        <p:spPr>
          <a:xfrm>
            <a:off x="1325880" y="1645920"/>
            <a:ext cx="0" cy="3794760"/>
          </a:xfrm>
          <a:prstGeom prst="line">
            <a:avLst/>
          </a:prstGeom>
          <a:noFill/>
          <a:ln w="12700">
            <a:solidFill>
              <a:srgbClr val="5B6B7F"/>
            </a:solidFill>
            <a:prstDash val="solid"/>
          </a:ln>
        </p:spPr>
      </p:sp>
      <p:sp>
        <p:nvSpPr>
          <p:cNvPr id="36" name="Text 34"/>
          <p:cNvSpPr txBox="1"/>
          <p:nvPr/>
        </p:nvSpPr>
        <p:spPr>
          <a:xfrm>
            <a:off x="1325880" y="5751576"/>
            <a:ext cx="6080760" cy="274320"/>
          </a:xfrm>
          <a:prstGeom prst="rect">
            <a:avLst/>
          </a:prstGeom>
          <a:noFill/>
          <a:ln/>
        </p:spPr>
        <p:txBody>
          <a:bodyPr wrap="square" lIns="0" tIns="0" rIns="0" bIns="0" rtlCol="0" anchor="t"/>
          <a:lstStyle/>
          <a:p>
            <a:pPr algn="ctr" indent="0" marL="0">
              <a:buNone/>
            </a:pPr>
            <a:r>
              <a:rPr lang="en-US" sz="1200" b="1" dirty="0">
                <a:solidFill>
                  <a:srgbClr val="10233F"/>
                </a:solidFill>
                <a:latin typeface="Calibri" pitchFamily="34" charset="0"/>
                <a:ea typeface="Calibri" pitchFamily="34" charset="-122"/>
                <a:cs typeface="Calibri" pitchFamily="34" charset="-120"/>
              </a:rPr>
              <a:t>Iodine adsorption, g/kg   →   finer particles, more reinforcement</a:t>
            </a:r>
            <a:endParaRPr lang="en-US" sz="1200" dirty="0"/>
          </a:p>
        </p:txBody>
      </p:sp>
      <p:sp>
        <p:nvSpPr>
          <p:cNvPr id="37" name="Text 35"/>
          <p:cNvSpPr txBox="1"/>
          <p:nvPr/>
        </p:nvSpPr>
        <p:spPr>
          <a:xfrm rot="16200000">
            <a:off x="-1138428" y="3406140"/>
            <a:ext cx="3794760" cy="274320"/>
          </a:xfrm>
          <a:prstGeom prst="rect">
            <a:avLst/>
          </a:prstGeom>
          <a:noFill/>
          <a:ln/>
        </p:spPr>
        <p:txBody>
          <a:bodyPr wrap="square" lIns="0" tIns="0" rIns="0" bIns="0" rtlCol="0" anchor="t"/>
          <a:lstStyle/>
          <a:p>
            <a:pPr algn="ctr" indent="0" marL="0">
              <a:buNone/>
            </a:pPr>
            <a:r>
              <a:rPr lang="en-US" sz="1200" b="1" dirty="0">
                <a:solidFill>
                  <a:srgbClr val="10233F"/>
                </a:solidFill>
                <a:latin typeface="Calibri" pitchFamily="34" charset="0"/>
                <a:ea typeface="Calibri" pitchFamily="34" charset="-122"/>
                <a:cs typeface="Calibri" pitchFamily="34" charset="-120"/>
              </a:rPr>
              <a:t>OAN, mL/100 g   →   higher structure</a:t>
            </a:r>
            <a:endParaRPr lang="en-US" sz="1200" dirty="0"/>
          </a:p>
        </p:txBody>
      </p:sp>
      <p:sp>
        <p:nvSpPr>
          <p:cNvPr id="38" name="Shape 36"/>
          <p:cNvSpPr/>
          <p:nvPr/>
        </p:nvSpPr>
        <p:spPr>
          <a:xfrm>
            <a:off x="6251829" y="2321270"/>
            <a:ext cx="384048" cy="384048"/>
          </a:xfrm>
          <a:prstGeom prst="ellipse">
            <a:avLst/>
          </a:prstGeom>
          <a:solidFill>
            <a:srgbClr val="0B4DA2"/>
          </a:solidFill>
          <a:ln w="19050">
            <a:solidFill>
              <a:srgbClr val="FFFFFF"/>
            </a:solidFill>
            <a:prstDash val="solid"/>
          </a:ln>
          <a:effectLst>
            <a:outerShdw sx="100000" sy="100000" kx="0" ky="0" algn="bl" rotWithShape="0" blurRad="127000" dist="38100" dir="5400000">
              <a:srgbClr val="0B2A55">
                <a:alpha val="18000"/>
              </a:srgbClr>
            </a:outerShdw>
          </a:effectLst>
        </p:spPr>
      </p:sp>
      <p:sp>
        <p:nvSpPr>
          <p:cNvPr id="39" name="Text 37"/>
          <p:cNvSpPr txBox="1"/>
          <p:nvPr/>
        </p:nvSpPr>
        <p:spPr>
          <a:xfrm>
            <a:off x="5460873" y="1736054"/>
            <a:ext cx="1965960" cy="54864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N220</a:t>
            </a:r>
            <a:endParaRPr lang="en-US" sz="1450" dirty="0"/>
          </a:p>
          <a:p>
            <a:pPr algn="ctr" indent="0" marL="0">
              <a:buNone/>
            </a:pPr>
            <a:r>
              <a:rPr lang="en-US" sz="1050" dirty="0">
                <a:solidFill>
                  <a:srgbClr val="5B6B7F"/>
                </a:solidFill>
                <a:latin typeface="Calibri" pitchFamily="34" charset="0"/>
                <a:ea typeface="Calibri" pitchFamily="34" charset="-122"/>
                <a:cs typeface="Calibri" pitchFamily="34" charset="-120"/>
              </a:rPr>
              <a:t>ISAF · Iodine 121 · OAN 114</a:t>
            </a:r>
            <a:endParaRPr lang="en-US" sz="1450" dirty="0"/>
          </a:p>
        </p:txBody>
      </p:sp>
      <p:sp>
        <p:nvSpPr>
          <p:cNvPr id="40" name="Shape 38"/>
          <p:cNvSpPr/>
          <p:nvPr/>
        </p:nvSpPr>
        <p:spPr>
          <a:xfrm>
            <a:off x="4275582" y="2971800"/>
            <a:ext cx="384048" cy="384048"/>
          </a:xfrm>
          <a:prstGeom prst="ellipse">
            <a:avLst/>
          </a:prstGeom>
          <a:solidFill>
            <a:srgbClr val="0B4DA2"/>
          </a:solidFill>
          <a:ln w="19050">
            <a:solidFill>
              <a:srgbClr val="FFFFFF"/>
            </a:solidFill>
            <a:prstDash val="solid"/>
          </a:ln>
          <a:effectLst>
            <a:outerShdw sx="100000" sy="100000" kx="0" ky="0" algn="bl" rotWithShape="0" blurRad="127000" dist="38100" dir="5400000">
              <a:srgbClr val="0B2A55">
                <a:alpha val="18000"/>
              </a:srgbClr>
            </a:outerShdw>
          </a:effectLst>
        </p:spPr>
      </p:sp>
      <p:sp>
        <p:nvSpPr>
          <p:cNvPr id="41" name="Text 39"/>
          <p:cNvSpPr txBox="1"/>
          <p:nvPr/>
        </p:nvSpPr>
        <p:spPr>
          <a:xfrm>
            <a:off x="4732782" y="2889504"/>
            <a:ext cx="1965960" cy="548640"/>
          </a:xfrm>
          <a:prstGeom prst="rect">
            <a:avLst/>
          </a:prstGeom>
          <a:noFill/>
          <a:ln/>
        </p:spPr>
        <p:txBody>
          <a:bodyPr wrap="square" lIns="0" tIns="0" rIns="0" bIns="0" rtlCol="0" anchor="ctr"/>
          <a:lstStyle/>
          <a:p>
            <a:pPr algn="l" indent="0" marL="0">
              <a:buNone/>
            </a:pPr>
            <a:r>
              <a:rPr lang="en-US" sz="1450" b="1" dirty="0">
                <a:solidFill>
                  <a:srgbClr val="10233F"/>
                </a:solidFill>
                <a:latin typeface="Calibri" pitchFamily="34" charset="0"/>
                <a:ea typeface="Calibri" pitchFamily="34" charset="-122"/>
                <a:cs typeface="Calibri" pitchFamily="34" charset="-120"/>
              </a:rPr>
              <a:t>N330</a:t>
            </a:r>
            <a:endParaRPr lang="en-US" sz="1450" dirty="0"/>
          </a:p>
          <a:p>
            <a:pPr algn="l" indent="0" marL="0">
              <a:buNone/>
            </a:pPr>
            <a:r>
              <a:rPr lang="en-US" sz="1050" dirty="0">
                <a:solidFill>
                  <a:srgbClr val="5B6B7F"/>
                </a:solidFill>
                <a:latin typeface="Calibri" pitchFamily="34" charset="0"/>
                <a:ea typeface="Calibri" pitchFamily="34" charset="-122"/>
                <a:cs typeface="Calibri" pitchFamily="34" charset="-120"/>
              </a:rPr>
              <a:t>HAF · Iodine 82 · OAN 102</a:t>
            </a:r>
            <a:endParaRPr lang="en-US" sz="1450" dirty="0"/>
          </a:p>
        </p:txBody>
      </p:sp>
      <p:sp>
        <p:nvSpPr>
          <p:cNvPr id="42" name="Shape 40"/>
          <p:cNvSpPr/>
          <p:nvPr/>
        </p:nvSpPr>
        <p:spPr>
          <a:xfrm>
            <a:off x="4275582" y="4598126"/>
            <a:ext cx="384048" cy="384048"/>
          </a:xfrm>
          <a:prstGeom prst="ellipse">
            <a:avLst/>
          </a:prstGeom>
          <a:solidFill>
            <a:srgbClr val="0B4DA2"/>
          </a:solidFill>
          <a:ln w="19050">
            <a:solidFill>
              <a:srgbClr val="FFFFFF"/>
            </a:solidFill>
            <a:prstDash val="solid"/>
          </a:ln>
          <a:effectLst>
            <a:outerShdw sx="100000" sy="100000" kx="0" ky="0" algn="bl" rotWithShape="0" blurRad="127000" dist="38100" dir="5400000">
              <a:srgbClr val="0B2A55">
                <a:alpha val="18000"/>
              </a:srgbClr>
            </a:outerShdw>
          </a:effectLst>
        </p:spPr>
      </p:sp>
      <p:sp>
        <p:nvSpPr>
          <p:cNvPr id="43" name="Text 41"/>
          <p:cNvSpPr txBox="1"/>
          <p:nvPr/>
        </p:nvSpPr>
        <p:spPr>
          <a:xfrm>
            <a:off x="4732782" y="4515830"/>
            <a:ext cx="1965960" cy="548640"/>
          </a:xfrm>
          <a:prstGeom prst="rect">
            <a:avLst/>
          </a:prstGeom>
          <a:noFill/>
          <a:ln/>
        </p:spPr>
        <p:txBody>
          <a:bodyPr wrap="square" lIns="0" tIns="0" rIns="0" bIns="0" rtlCol="0" anchor="ctr"/>
          <a:lstStyle/>
          <a:p>
            <a:pPr algn="l" indent="0" marL="0">
              <a:buNone/>
            </a:pPr>
            <a:r>
              <a:rPr lang="en-US" sz="1450" b="1" dirty="0">
                <a:solidFill>
                  <a:srgbClr val="10233F"/>
                </a:solidFill>
                <a:latin typeface="Calibri" pitchFamily="34" charset="0"/>
                <a:ea typeface="Calibri" pitchFamily="34" charset="-122"/>
                <a:cs typeface="Calibri" pitchFamily="34" charset="-120"/>
              </a:rPr>
              <a:t>N326</a:t>
            </a:r>
            <a:endParaRPr lang="en-US" sz="1450" dirty="0"/>
          </a:p>
          <a:p>
            <a:pPr algn="l" indent="0" marL="0">
              <a:buNone/>
            </a:pPr>
            <a:r>
              <a:rPr lang="en-US" sz="1050" dirty="0">
                <a:solidFill>
                  <a:srgbClr val="5B6B7F"/>
                </a:solidFill>
                <a:latin typeface="Calibri" pitchFamily="34" charset="0"/>
                <a:ea typeface="Calibri" pitchFamily="34" charset="-122"/>
                <a:cs typeface="Calibri" pitchFamily="34" charset="-120"/>
              </a:rPr>
              <a:t>HAF-LS · Iodine 82 · OAN 72</a:t>
            </a:r>
            <a:endParaRPr lang="en-US" sz="1450" dirty="0"/>
          </a:p>
        </p:txBody>
      </p:sp>
      <p:sp>
        <p:nvSpPr>
          <p:cNvPr id="44" name="Shape 42"/>
          <p:cNvSpPr/>
          <p:nvPr/>
        </p:nvSpPr>
        <p:spPr>
          <a:xfrm>
            <a:off x="2299335" y="1941794"/>
            <a:ext cx="384048" cy="384048"/>
          </a:xfrm>
          <a:prstGeom prst="ellipse">
            <a:avLst/>
          </a:prstGeom>
          <a:solidFill>
            <a:srgbClr val="E8453C"/>
          </a:solidFill>
          <a:ln w="19050">
            <a:solidFill>
              <a:srgbClr val="FFFFFF"/>
            </a:solidFill>
            <a:prstDash val="solid"/>
          </a:ln>
          <a:effectLst>
            <a:outerShdw sx="100000" sy="100000" kx="0" ky="0" algn="bl" rotWithShape="0" blurRad="127000" dist="38100" dir="5400000">
              <a:srgbClr val="0B2A55">
                <a:alpha val="18000"/>
              </a:srgbClr>
            </a:outerShdw>
          </a:effectLst>
        </p:spPr>
      </p:sp>
      <p:sp>
        <p:nvSpPr>
          <p:cNvPr id="45" name="Text 43"/>
          <p:cNvSpPr txBox="1"/>
          <p:nvPr/>
        </p:nvSpPr>
        <p:spPr>
          <a:xfrm>
            <a:off x="2756535" y="1859498"/>
            <a:ext cx="1965960" cy="548640"/>
          </a:xfrm>
          <a:prstGeom prst="rect">
            <a:avLst/>
          </a:prstGeom>
          <a:noFill/>
          <a:ln/>
        </p:spPr>
        <p:txBody>
          <a:bodyPr wrap="square" lIns="0" tIns="0" rIns="0" bIns="0" rtlCol="0" anchor="ctr"/>
          <a:lstStyle/>
          <a:p>
            <a:pPr algn="l" indent="0" marL="0">
              <a:buNone/>
            </a:pPr>
            <a:r>
              <a:rPr lang="en-US" sz="1450" b="1" dirty="0">
                <a:solidFill>
                  <a:srgbClr val="10233F"/>
                </a:solidFill>
                <a:latin typeface="Calibri" pitchFamily="34" charset="0"/>
                <a:ea typeface="Calibri" pitchFamily="34" charset="-122"/>
                <a:cs typeface="Calibri" pitchFamily="34" charset="-120"/>
              </a:rPr>
              <a:t>N550</a:t>
            </a:r>
            <a:endParaRPr lang="en-US" sz="1450" dirty="0"/>
          </a:p>
          <a:p>
            <a:pPr algn="l" indent="0" marL="0">
              <a:buNone/>
            </a:pPr>
            <a:r>
              <a:rPr lang="en-US" sz="1050" dirty="0">
                <a:solidFill>
                  <a:srgbClr val="5B6B7F"/>
                </a:solidFill>
                <a:latin typeface="Calibri" pitchFamily="34" charset="0"/>
                <a:ea typeface="Calibri" pitchFamily="34" charset="-122"/>
                <a:cs typeface="Calibri" pitchFamily="34" charset="-120"/>
              </a:rPr>
              <a:t>FEF · Iodine 43 · OAN 121</a:t>
            </a:r>
            <a:endParaRPr lang="en-US" sz="1450" dirty="0"/>
          </a:p>
        </p:txBody>
      </p:sp>
      <p:sp>
        <p:nvSpPr>
          <p:cNvPr id="46" name="Shape 44"/>
          <p:cNvSpPr/>
          <p:nvPr/>
        </p:nvSpPr>
        <p:spPr>
          <a:xfrm>
            <a:off x="1944624" y="3622330"/>
            <a:ext cx="384048" cy="384048"/>
          </a:xfrm>
          <a:prstGeom prst="ellipse">
            <a:avLst/>
          </a:prstGeom>
          <a:solidFill>
            <a:srgbClr val="E8453C"/>
          </a:solidFill>
          <a:ln w="19050">
            <a:solidFill>
              <a:srgbClr val="FFFFFF"/>
            </a:solidFill>
            <a:prstDash val="solid"/>
          </a:ln>
          <a:effectLst>
            <a:outerShdw sx="100000" sy="100000" kx="0" ky="0" algn="bl" rotWithShape="0" blurRad="127000" dist="38100" dir="5400000">
              <a:srgbClr val="0B2A55">
                <a:alpha val="18000"/>
              </a:srgbClr>
            </a:outerShdw>
          </a:effectLst>
        </p:spPr>
      </p:sp>
      <p:sp>
        <p:nvSpPr>
          <p:cNvPr id="47" name="Text 45"/>
          <p:cNvSpPr txBox="1"/>
          <p:nvPr/>
        </p:nvSpPr>
        <p:spPr>
          <a:xfrm>
            <a:off x="2401824" y="3540034"/>
            <a:ext cx="1965960" cy="548640"/>
          </a:xfrm>
          <a:prstGeom prst="rect">
            <a:avLst/>
          </a:prstGeom>
          <a:noFill/>
          <a:ln/>
        </p:spPr>
        <p:txBody>
          <a:bodyPr wrap="square" lIns="0" tIns="0" rIns="0" bIns="0" rtlCol="0" anchor="ctr"/>
          <a:lstStyle/>
          <a:p>
            <a:pPr algn="l" indent="0" marL="0">
              <a:buNone/>
            </a:pPr>
            <a:r>
              <a:rPr lang="en-US" sz="1450" b="1" dirty="0">
                <a:solidFill>
                  <a:srgbClr val="10233F"/>
                </a:solidFill>
                <a:latin typeface="Calibri" pitchFamily="34" charset="0"/>
                <a:ea typeface="Calibri" pitchFamily="34" charset="-122"/>
                <a:cs typeface="Calibri" pitchFamily="34" charset="-120"/>
              </a:rPr>
              <a:t>N660</a:t>
            </a:r>
            <a:endParaRPr lang="en-US" sz="1450" dirty="0"/>
          </a:p>
          <a:p>
            <a:pPr algn="l" indent="0" marL="0">
              <a:buNone/>
            </a:pPr>
            <a:r>
              <a:rPr lang="en-US" sz="1050" dirty="0">
                <a:solidFill>
                  <a:srgbClr val="5B6B7F"/>
                </a:solidFill>
                <a:latin typeface="Calibri" pitchFamily="34" charset="0"/>
                <a:ea typeface="Calibri" pitchFamily="34" charset="-122"/>
                <a:cs typeface="Calibri" pitchFamily="34" charset="-120"/>
              </a:rPr>
              <a:t>GPF · Iodine 36 · OAN 90</a:t>
            </a:r>
            <a:endParaRPr lang="en-US" sz="1450" dirty="0"/>
          </a:p>
        </p:txBody>
      </p:sp>
      <p:sp>
        <p:nvSpPr>
          <p:cNvPr id="48" name="Shape 46"/>
          <p:cNvSpPr/>
          <p:nvPr/>
        </p:nvSpPr>
        <p:spPr>
          <a:xfrm>
            <a:off x="8046720" y="1325880"/>
            <a:ext cx="3593592" cy="4846320"/>
          </a:xfrm>
          <a:prstGeom prst="roundRect">
            <a:avLst>
              <a:gd name="adj" fmla="val 3562"/>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9" name="Text 47"/>
          <p:cNvSpPr txBox="1"/>
          <p:nvPr/>
        </p:nvSpPr>
        <p:spPr>
          <a:xfrm>
            <a:off x="8275320" y="1508760"/>
            <a:ext cx="3154680" cy="384048"/>
          </a:xfrm>
          <a:prstGeom prst="rect">
            <a:avLst/>
          </a:prstGeom>
          <a:noFill/>
          <a:ln/>
        </p:spPr>
        <p:txBody>
          <a:bodyPr wrap="square" lIns="0" tIns="0" rIns="0" bIns="0" rtlCol="0" anchor="ctr"/>
          <a:lstStyle/>
          <a:p>
            <a:pPr algn="l" indent="0" marL="0">
              <a:buNone/>
            </a:pPr>
            <a:r>
              <a:rPr lang="en-US" sz="1700" b="1" dirty="0">
                <a:solidFill>
                  <a:srgbClr val="10233F"/>
                </a:solidFill>
                <a:latin typeface="Arial" pitchFamily="34" charset="0"/>
                <a:ea typeface="Arial" pitchFamily="34" charset="-122"/>
                <a:cs typeface="Arial" pitchFamily="34" charset="-120"/>
              </a:rPr>
              <a:t>Reading the map</a:t>
            </a:r>
            <a:endParaRPr lang="en-US" sz="1700" dirty="0"/>
          </a:p>
        </p:txBody>
      </p:sp>
      <p:sp>
        <p:nvSpPr>
          <p:cNvPr id="50" name="Text 48"/>
          <p:cNvSpPr txBox="1"/>
          <p:nvPr/>
        </p:nvSpPr>
        <p:spPr>
          <a:xfrm>
            <a:off x="8275320" y="2057400"/>
            <a:ext cx="320040" cy="320040"/>
          </a:xfrm>
          <a:prstGeom prst="rect">
            <a:avLst/>
          </a:prstGeom>
          <a:noFill/>
          <a:ln/>
        </p:spPr>
        <p:txBody>
          <a:bodyPr wrap="square" lIns="0" tIns="0" rIns="0" bIns="0" rtlCol="0" anchor="t"/>
          <a:lstStyle/>
          <a:p>
            <a:pPr algn="ctr" indent="0" marL="0">
              <a:buNone/>
            </a:pPr>
            <a:r>
              <a:rPr lang="en-US" sz="1600" b="1" dirty="0">
                <a:solidFill>
                  <a:srgbClr val="10233F"/>
                </a:solidFill>
                <a:latin typeface="Arial" pitchFamily="34" charset="0"/>
                <a:ea typeface="Arial" pitchFamily="34" charset="-122"/>
                <a:cs typeface="Arial" pitchFamily="34" charset="-120"/>
              </a:rPr>
              <a:t>→</a:t>
            </a:r>
            <a:endParaRPr lang="en-US" sz="1600" dirty="0"/>
          </a:p>
        </p:txBody>
      </p:sp>
      <p:sp>
        <p:nvSpPr>
          <p:cNvPr id="51" name="Text 49"/>
          <p:cNvSpPr txBox="1"/>
          <p:nvPr/>
        </p:nvSpPr>
        <p:spPr>
          <a:xfrm>
            <a:off x="8641080" y="2057400"/>
            <a:ext cx="283464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Right: finer particles and more surface area — more reinforcement and abrasion resistance, more heat build-up.</a:t>
            </a:r>
            <a:endParaRPr lang="en-US" sz="1250" dirty="0"/>
          </a:p>
        </p:txBody>
      </p:sp>
      <p:sp>
        <p:nvSpPr>
          <p:cNvPr id="52" name="Text 50"/>
          <p:cNvSpPr txBox="1"/>
          <p:nvPr/>
        </p:nvSpPr>
        <p:spPr>
          <a:xfrm>
            <a:off x="8275320" y="2926080"/>
            <a:ext cx="320040" cy="320040"/>
          </a:xfrm>
          <a:prstGeom prst="rect">
            <a:avLst/>
          </a:prstGeom>
          <a:noFill/>
          <a:ln/>
        </p:spPr>
        <p:txBody>
          <a:bodyPr wrap="square" lIns="0" tIns="0" rIns="0" bIns="0" rtlCol="0" anchor="t"/>
          <a:lstStyle/>
          <a:p>
            <a:pPr algn="ctr" indent="0" marL="0">
              <a:buNone/>
            </a:pPr>
            <a:r>
              <a:rPr lang="en-US" sz="1600" b="1" dirty="0">
                <a:solidFill>
                  <a:srgbClr val="10233F"/>
                </a:solidFill>
                <a:latin typeface="Arial" pitchFamily="34" charset="0"/>
                <a:ea typeface="Arial" pitchFamily="34" charset="-122"/>
                <a:cs typeface="Arial" pitchFamily="34" charset="-120"/>
              </a:rPr>
              <a:t>↑</a:t>
            </a:r>
            <a:endParaRPr lang="en-US" sz="1600" dirty="0"/>
          </a:p>
        </p:txBody>
      </p:sp>
      <p:sp>
        <p:nvSpPr>
          <p:cNvPr id="53" name="Text 51"/>
          <p:cNvSpPr txBox="1"/>
          <p:nvPr/>
        </p:nvSpPr>
        <p:spPr>
          <a:xfrm>
            <a:off x="8641080" y="2926080"/>
            <a:ext cx="283464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Up: higher structure — faster extrusion, higher modulus, lower die swell.</a:t>
            </a:r>
            <a:endParaRPr lang="en-US" sz="1250" dirty="0"/>
          </a:p>
        </p:txBody>
      </p:sp>
      <p:sp>
        <p:nvSpPr>
          <p:cNvPr id="54" name="Text 52"/>
          <p:cNvSpPr txBox="1"/>
          <p:nvPr/>
        </p:nvSpPr>
        <p:spPr>
          <a:xfrm>
            <a:off x="8275320" y="3794760"/>
            <a:ext cx="320040" cy="320040"/>
          </a:xfrm>
          <a:prstGeom prst="rect">
            <a:avLst/>
          </a:prstGeom>
          <a:noFill/>
          <a:ln/>
        </p:spPr>
        <p:txBody>
          <a:bodyPr wrap="square" lIns="0" tIns="0" rIns="0" bIns="0" rtlCol="0" anchor="t"/>
          <a:lstStyle/>
          <a:p>
            <a:pPr algn="ctr" indent="0" marL="0">
              <a:buNone/>
            </a:pPr>
            <a:r>
              <a:rPr lang="en-US" sz="1600" b="1" dirty="0">
                <a:solidFill>
                  <a:srgbClr val="0B4DA2"/>
                </a:solidFill>
                <a:latin typeface="Arial" pitchFamily="34" charset="0"/>
                <a:ea typeface="Arial" pitchFamily="34" charset="-122"/>
                <a:cs typeface="Arial" pitchFamily="34" charset="-120"/>
              </a:rPr>
              <a:t>●</a:t>
            </a:r>
            <a:endParaRPr lang="en-US" sz="1600" dirty="0"/>
          </a:p>
        </p:txBody>
      </p:sp>
      <p:sp>
        <p:nvSpPr>
          <p:cNvPr id="55" name="Text 53"/>
          <p:cNvSpPr txBox="1"/>
          <p:nvPr/>
        </p:nvSpPr>
        <p:spPr>
          <a:xfrm>
            <a:off x="8641080" y="3794760"/>
            <a:ext cx="283464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Hard blacks: treads and reinforcing compounds.</a:t>
            </a:r>
            <a:endParaRPr lang="en-US" sz="1250" dirty="0"/>
          </a:p>
        </p:txBody>
      </p:sp>
      <p:sp>
        <p:nvSpPr>
          <p:cNvPr id="56" name="Text 54"/>
          <p:cNvSpPr txBox="1"/>
          <p:nvPr/>
        </p:nvSpPr>
        <p:spPr>
          <a:xfrm>
            <a:off x="8275320" y="4663440"/>
            <a:ext cx="320040" cy="320040"/>
          </a:xfrm>
          <a:prstGeom prst="rect">
            <a:avLst/>
          </a:prstGeom>
          <a:noFill/>
          <a:ln/>
        </p:spPr>
        <p:txBody>
          <a:bodyPr wrap="square" lIns="0" tIns="0" rIns="0" bIns="0" rtlCol="0" anchor="t"/>
          <a:lstStyle/>
          <a:p>
            <a:pPr algn="ctr" indent="0" marL="0">
              <a:buNone/>
            </a:pPr>
            <a:r>
              <a:rPr lang="en-US" sz="1600" b="1" dirty="0">
                <a:solidFill>
                  <a:srgbClr val="E8453C"/>
                </a:solidFill>
                <a:latin typeface="Arial" pitchFamily="34" charset="0"/>
                <a:ea typeface="Arial" pitchFamily="34" charset="-122"/>
                <a:cs typeface="Arial" pitchFamily="34" charset="-120"/>
              </a:rPr>
              <a:t>●</a:t>
            </a:r>
            <a:endParaRPr lang="en-US" sz="1600" dirty="0"/>
          </a:p>
        </p:txBody>
      </p:sp>
      <p:sp>
        <p:nvSpPr>
          <p:cNvPr id="57" name="Text 55"/>
          <p:cNvSpPr txBox="1"/>
          <p:nvPr/>
        </p:nvSpPr>
        <p:spPr>
          <a:xfrm>
            <a:off x="8641080" y="4663440"/>
            <a:ext cx="283464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Soft blacks: innerliners, carcass and extruded goods.</a:t>
            </a:r>
            <a:endParaRPr lang="en-US" sz="1250" dirty="0"/>
          </a:p>
        </p:txBody>
      </p:sp>
      <p:sp>
        <p:nvSpPr>
          <p:cNvPr id="58" name="Text 56"/>
          <p:cNvSpPr txBox="1"/>
          <p:nvPr/>
        </p:nvSpPr>
        <p:spPr>
          <a:xfrm>
            <a:off x="8275320" y="5504688"/>
            <a:ext cx="3154680" cy="566928"/>
          </a:xfrm>
          <a:prstGeom prst="rect">
            <a:avLst/>
          </a:prstGeom>
          <a:noFill/>
          <a:ln/>
        </p:spPr>
        <p:txBody>
          <a:bodyPr wrap="square" lIns="0" tIns="0" rIns="0" bIns="0" rtlCol="0" anchor="t"/>
          <a:lstStyle/>
          <a:p>
            <a:pPr algn="l" indent="0" marL="0">
              <a:buNone/>
            </a:pPr>
            <a:r>
              <a:rPr lang="en-US" sz="1000" i="1" dirty="0">
                <a:solidFill>
                  <a:srgbClr val="5B6B7F"/>
                </a:solidFill>
                <a:latin typeface="Calibri" pitchFamily="34" charset="0"/>
                <a:ea typeface="Calibri" pitchFamily="34" charset="-122"/>
                <a:cs typeface="Calibri" pitchFamily="34" charset="-120"/>
              </a:rPr>
              <a:t>Plotted at TDS mid-points. ASTM D1765 naming: N = normal cure rate; the first digit is the particle-size group.</a:t>
            </a:r>
            <a:endParaRPr lang="en-US" sz="10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Grade N220 · ISAF</a:t>
            </a:r>
            <a:endParaRPr lang="en-US" sz="2800" dirty="0"/>
          </a:p>
        </p:txBody>
      </p:sp>
      <p:sp>
        <p:nvSpPr>
          <p:cNvPr id="3" name="Shape 1"/>
          <p:cNvSpPr/>
          <p:nvPr/>
        </p:nvSpPr>
        <p:spPr>
          <a:xfrm>
            <a:off x="548640" y="1325880"/>
            <a:ext cx="3886200" cy="4892040"/>
          </a:xfrm>
          <a:prstGeom prst="roundRect">
            <a:avLst>
              <a:gd name="adj" fmla="val 3294"/>
            </a:avLst>
          </a:prstGeom>
          <a:solidFill>
            <a:srgbClr val="0B4DA2"/>
          </a:solidFill>
          <a:ln w="12700">
            <a:solidFill>
              <a:srgbClr val="0B4DA2"/>
            </a:solidFill>
            <a:prstDash val="solid"/>
          </a:ln>
          <a:effectLst>
            <a:outerShdw sx="100000" sy="100000" kx="0" ky="0" algn="bl" rotWithShape="0" blurRad="127000" dist="38100" dir="5400000">
              <a:srgbClr val="0B2A55">
                <a:alpha val="18000"/>
              </a:srgbClr>
            </a:outerShdw>
          </a:effectLst>
        </p:spPr>
      </p:sp>
      <p:sp>
        <p:nvSpPr>
          <p:cNvPr id="4" name="Text 2"/>
          <p:cNvSpPr txBox="1"/>
          <p:nvPr/>
        </p:nvSpPr>
        <p:spPr>
          <a:xfrm>
            <a:off x="822960" y="1481328"/>
            <a:ext cx="3383280" cy="868680"/>
          </a:xfrm>
          <a:prstGeom prst="rect">
            <a:avLst/>
          </a:prstGeom>
          <a:noFill/>
          <a:ln/>
        </p:spPr>
        <p:txBody>
          <a:bodyPr wrap="square" lIns="0" tIns="0" rIns="0" bIns="0" rtlCol="0" anchor="ctr"/>
          <a:lstStyle/>
          <a:p>
            <a:pPr algn="l" indent="0" marL="0">
              <a:buNone/>
            </a:pPr>
            <a:r>
              <a:rPr lang="en-US" sz="5400" b="1" dirty="0">
                <a:solidFill>
                  <a:srgbClr val="FFFFFF"/>
                </a:solidFill>
                <a:latin typeface="Arial" pitchFamily="34" charset="0"/>
                <a:ea typeface="Arial" pitchFamily="34" charset="-122"/>
                <a:cs typeface="Arial" pitchFamily="34" charset="-120"/>
              </a:rPr>
              <a:t>N220</a:t>
            </a:r>
            <a:endParaRPr lang="en-US" sz="5400" dirty="0"/>
          </a:p>
        </p:txBody>
      </p:sp>
      <p:sp>
        <p:nvSpPr>
          <p:cNvPr id="5" name="Text 3"/>
          <p:cNvSpPr txBox="1"/>
          <p:nvPr/>
        </p:nvSpPr>
        <p:spPr>
          <a:xfrm>
            <a:off x="822960" y="2331720"/>
            <a:ext cx="3429000" cy="457200"/>
          </a:xfrm>
          <a:prstGeom prst="rect">
            <a:avLst/>
          </a:prstGeom>
          <a:noFill/>
          <a:ln/>
        </p:spPr>
        <p:txBody>
          <a:bodyPr wrap="square" lIns="0" tIns="0" rIns="0" bIns="0" rtlCol="0" anchor="t"/>
          <a:lstStyle/>
          <a:p>
            <a:pPr algn="l" indent="0" marL="0">
              <a:buNone/>
            </a:pPr>
            <a:r>
              <a:rPr lang="en-US" sz="1250" dirty="0">
                <a:solidFill>
                  <a:srgbClr val="BFD9FF"/>
                </a:solidFill>
                <a:latin typeface="Calibri" pitchFamily="34" charset="0"/>
                <a:ea typeface="Calibri" pitchFamily="34" charset="-122"/>
                <a:cs typeface="Calibri" pitchFamily="34" charset="-120"/>
              </a:rPr>
              <a:t>ISAF · Intermediate Super Abrasion Furnace</a:t>
            </a:r>
            <a:endParaRPr lang="en-US" sz="1250" dirty="0"/>
          </a:p>
        </p:txBody>
      </p:sp>
      <p:sp>
        <p:nvSpPr>
          <p:cNvPr id="6" name="Text 4"/>
          <p:cNvSpPr txBox="1"/>
          <p:nvPr/>
        </p:nvSpPr>
        <p:spPr>
          <a:xfrm>
            <a:off x="822960" y="2788920"/>
            <a:ext cx="3429000" cy="868680"/>
          </a:xfrm>
          <a:prstGeom prst="rect">
            <a:avLst/>
          </a:prstGeom>
          <a:noFill/>
          <a:ln/>
        </p:spPr>
        <p:txBody>
          <a:bodyPr wrap="square" lIns="0" tIns="0" rIns="0" bIns="0" rtlCol="0" anchor="t"/>
          <a:lstStyle/>
          <a:p>
            <a:pPr algn="l" indent="0" marL="0">
              <a:buNone/>
            </a:pPr>
            <a:r>
              <a:rPr lang="en-US" sz="1450" b="1" i="1" dirty="0">
                <a:solidFill>
                  <a:srgbClr val="FFFFFF"/>
                </a:solidFill>
                <a:latin typeface="Calibri" pitchFamily="34" charset="0"/>
                <a:ea typeface="Calibri" pitchFamily="34" charset="-122"/>
                <a:cs typeface="Calibri" pitchFamily="34" charset="-120"/>
              </a:rPr>
              <a:t>Our highest-reinforcing standard grade — the first choice for tread wear.</a:t>
            </a:r>
            <a:endParaRPr lang="en-US" sz="1450" dirty="0"/>
          </a:p>
        </p:txBody>
      </p:sp>
      <p:sp>
        <p:nvSpPr>
          <p:cNvPr id="7" name="Text 5"/>
          <p:cNvSpPr txBox="1"/>
          <p:nvPr/>
        </p:nvSpPr>
        <p:spPr>
          <a:xfrm>
            <a:off x="822960" y="3703320"/>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Iodine adsorption</a:t>
            </a:r>
            <a:endParaRPr lang="en-US" sz="1200" dirty="0"/>
          </a:p>
        </p:txBody>
      </p:sp>
      <p:sp>
        <p:nvSpPr>
          <p:cNvPr id="8" name="Text 6"/>
          <p:cNvSpPr txBox="1"/>
          <p:nvPr/>
        </p:nvSpPr>
        <p:spPr>
          <a:xfrm>
            <a:off x="2606040" y="3703320"/>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121 ± 6 g/kg</a:t>
            </a:r>
            <a:endParaRPr lang="en-US" sz="1250" dirty="0"/>
          </a:p>
        </p:txBody>
      </p:sp>
      <p:sp>
        <p:nvSpPr>
          <p:cNvPr id="9" name="Shape 7"/>
          <p:cNvSpPr/>
          <p:nvPr/>
        </p:nvSpPr>
        <p:spPr>
          <a:xfrm>
            <a:off x="822960" y="4014216"/>
            <a:ext cx="3383280" cy="0"/>
          </a:xfrm>
          <a:prstGeom prst="line">
            <a:avLst/>
          </a:prstGeom>
          <a:noFill/>
          <a:ln w="9525">
            <a:solidFill>
              <a:srgbClr val="3D6FB8"/>
            </a:solidFill>
            <a:prstDash val="solid"/>
          </a:ln>
        </p:spPr>
      </p:sp>
      <p:sp>
        <p:nvSpPr>
          <p:cNvPr id="10" name="Text 8"/>
          <p:cNvSpPr txBox="1"/>
          <p:nvPr/>
        </p:nvSpPr>
        <p:spPr>
          <a:xfrm>
            <a:off x="822960" y="4014216"/>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OAN</a:t>
            </a:r>
            <a:endParaRPr lang="en-US" sz="1200" dirty="0"/>
          </a:p>
        </p:txBody>
      </p:sp>
      <p:sp>
        <p:nvSpPr>
          <p:cNvPr id="11" name="Text 9"/>
          <p:cNvSpPr txBox="1"/>
          <p:nvPr/>
        </p:nvSpPr>
        <p:spPr>
          <a:xfrm>
            <a:off x="2606040" y="4014216"/>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114 ± 6 mL/100 g</a:t>
            </a:r>
            <a:endParaRPr lang="en-US" sz="1250" dirty="0"/>
          </a:p>
        </p:txBody>
      </p:sp>
      <p:sp>
        <p:nvSpPr>
          <p:cNvPr id="12" name="Shape 10"/>
          <p:cNvSpPr/>
          <p:nvPr/>
        </p:nvSpPr>
        <p:spPr>
          <a:xfrm>
            <a:off x="822960" y="4325112"/>
            <a:ext cx="3383280" cy="0"/>
          </a:xfrm>
          <a:prstGeom prst="line">
            <a:avLst/>
          </a:prstGeom>
          <a:noFill/>
          <a:ln w="9525">
            <a:solidFill>
              <a:srgbClr val="3D6FB8"/>
            </a:solidFill>
            <a:prstDash val="solid"/>
          </a:ln>
        </p:spPr>
      </p:sp>
      <p:sp>
        <p:nvSpPr>
          <p:cNvPr id="13" name="Text 11"/>
          <p:cNvSpPr txBox="1"/>
          <p:nvPr/>
        </p:nvSpPr>
        <p:spPr>
          <a:xfrm>
            <a:off x="822960" y="4325112"/>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COAN</a:t>
            </a:r>
            <a:endParaRPr lang="en-US" sz="1200" dirty="0"/>
          </a:p>
        </p:txBody>
      </p:sp>
      <p:sp>
        <p:nvSpPr>
          <p:cNvPr id="14" name="Text 12"/>
          <p:cNvSpPr txBox="1"/>
          <p:nvPr/>
        </p:nvSpPr>
        <p:spPr>
          <a:xfrm>
            <a:off x="2606040" y="4325112"/>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98 ± 6 mL/100 g</a:t>
            </a:r>
            <a:endParaRPr lang="en-US" sz="1250" dirty="0"/>
          </a:p>
        </p:txBody>
      </p:sp>
      <p:sp>
        <p:nvSpPr>
          <p:cNvPr id="15" name="Shape 13"/>
          <p:cNvSpPr/>
          <p:nvPr/>
        </p:nvSpPr>
        <p:spPr>
          <a:xfrm>
            <a:off x="822960" y="4636008"/>
            <a:ext cx="3383280" cy="0"/>
          </a:xfrm>
          <a:prstGeom prst="line">
            <a:avLst/>
          </a:prstGeom>
          <a:noFill/>
          <a:ln w="9525">
            <a:solidFill>
              <a:srgbClr val="3D6FB8"/>
            </a:solidFill>
            <a:prstDash val="solid"/>
          </a:ln>
        </p:spPr>
      </p:sp>
      <p:sp>
        <p:nvSpPr>
          <p:cNvPr id="16" name="Text 14"/>
          <p:cNvSpPr txBox="1"/>
          <p:nvPr/>
        </p:nvSpPr>
        <p:spPr>
          <a:xfrm>
            <a:off x="822960" y="4636008"/>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Tint strength</a:t>
            </a:r>
            <a:endParaRPr lang="en-US" sz="1200" dirty="0"/>
          </a:p>
        </p:txBody>
      </p:sp>
      <p:sp>
        <p:nvSpPr>
          <p:cNvPr id="17" name="Text 15"/>
          <p:cNvSpPr txBox="1"/>
          <p:nvPr/>
        </p:nvSpPr>
        <p:spPr>
          <a:xfrm>
            <a:off x="2606040" y="4636008"/>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116 ± 8 %</a:t>
            </a:r>
            <a:endParaRPr lang="en-US" sz="1250" dirty="0"/>
          </a:p>
        </p:txBody>
      </p:sp>
      <p:sp>
        <p:nvSpPr>
          <p:cNvPr id="18" name="Shape 16"/>
          <p:cNvSpPr/>
          <p:nvPr/>
        </p:nvSpPr>
        <p:spPr>
          <a:xfrm>
            <a:off x="822960" y="4946904"/>
            <a:ext cx="3383280" cy="0"/>
          </a:xfrm>
          <a:prstGeom prst="line">
            <a:avLst/>
          </a:prstGeom>
          <a:noFill/>
          <a:ln w="9525">
            <a:solidFill>
              <a:srgbClr val="3D6FB8"/>
            </a:solidFill>
            <a:prstDash val="solid"/>
          </a:ln>
        </p:spPr>
      </p:sp>
      <p:sp>
        <p:nvSpPr>
          <p:cNvPr id="19" name="Text 17"/>
          <p:cNvSpPr txBox="1"/>
          <p:nvPr/>
        </p:nvSpPr>
        <p:spPr>
          <a:xfrm>
            <a:off x="822960" y="4946904"/>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Particle size (typical)</a:t>
            </a:r>
            <a:endParaRPr lang="en-US" sz="1200" dirty="0"/>
          </a:p>
        </p:txBody>
      </p:sp>
      <p:sp>
        <p:nvSpPr>
          <p:cNvPr id="20" name="Text 18"/>
          <p:cNvSpPr txBox="1"/>
          <p:nvPr/>
        </p:nvSpPr>
        <p:spPr>
          <a:xfrm>
            <a:off x="2606040" y="4946904"/>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20–25 nm</a:t>
            </a:r>
            <a:endParaRPr lang="en-US" sz="1250" dirty="0"/>
          </a:p>
        </p:txBody>
      </p:sp>
      <p:sp>
        <p:nvSpPr>
          <p:cNvPr id="21" name="Shape 19"/>
          <p:cNvSpPr/>
          <p:nvPr/>
        </p:nvSpPr>
        <p:spPr>
          <a:xfrm>
            <a:off x="822960" y="5257800"/>
            <a:ext cx="3383280" cy="0"/>
          </a:xfrm>
          <a:prstGeom prst="line">
            <a:avLst/>
          </a:prstGeom>
          <a:noFill/>
          <a:ln w="9525">
            <a:solidFill>
              <a:srgbClr val="3D6FB8"/>
            </a:solidFill>
            <a:prstDash val="solid"/>
          </a:ln>
        </p:spPr>
      </p:sp>
      <p:sp>
        <p:nvSpPr>
          <p:cNvPr id="22" name="Shape 20"/>
          <p:cNvSpPr/>
          <p:nvPr/>
        </p:nvSpPr>
        <p:spPr>
          <a:xfrm>
            <a:off x="822960" y="5440680"/>
            <a:ext cx="3383280" cy="457200"/>
          </a:xfrm>
          <a:prstGeom prst="roundRect">
            <a:avLst>
              <a:gd name="adj" fmla="val 50000"/>
            </a:avLst>
          </a:prstGeom>
          <a:solidFill>
            <a:srgbClr val="FFFFFF"/>
          </a:solidFill>
          <a:ln w="12700">
            <a:solidFill>
              <a:srgbClr val="FFFFFF"/>
            </a:solidFill>
            <a:prstDash val="solid"/>
          </a:ln>
        </p:spPr>
      </p:sp>
      <p:sp>
        <p:nvSpPr>
          <p:cNvPr id="23" name="Text 21"/>
          <p:cNvSpPr txBox="1"/>
          <p:nvPr/>
        </p:nvSpPr>
        <p:spPr>
          <a:xfrm>
            <a:off x="822960" y="5440680"/>
            <a:ext cx="3383280" cy="457200"/>
          </a:xfrm>
          <a:prstGeom prst="rect">
            <a:avLst/>
          </a:prstGeom>
          <a:noFill/>
          <a:ln/>
        </p:spPr>
        <p:txBody>
          <a:bodyPr wrap="square" lIns="0" tIns="0" rIns="0" bIns="0" rtlCol="0" anchor="ctr"/>
          <a:lstStyle/>
          <a:p>
            <a:pPr algn="ctr" indent="0" marL="0">
              <a:buNone/>
            </a:pPr>
            <a:r>
              <a:rPr lang="en-US" sz="1250" b="1" dirty="0">
                <a:solidFill>
                  <a:srgbClr val="0B4DA2"/>
                </a:solidFill>
                <a:latin typeface="Calibri" pitchFamily="34" charset="0"/>
                <a:ea typeface="Calibri" pitchFamily="34" charset="-122"/>
                <a:cs typeface="Calibri" pitchFamily="34" charset="-120"/>
              </a:rPr>
              <a:t>Produced at: Fangchenggang, Guangxi</a:t>
            </a:r>
            <a:endParaRPr lang="en-US" sz="1250" dirty="0"/>
          </a:p>
        </p:txBody>
      </p:sp>
      <p:sp>
        <p:nvSpPr>
          <p:cNvPr id="24" name="Shape 22"/>
          <p:cNvSpPr/>
          <p:nvPr/>
        </p:nvSpPr>
        <p:spPr>
          <a:xfrm>
            <a:off x="4663440" y="1325880"/>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5" name="Shape 23"/>
          <p:cNvSpPr/>
          <p:nvPr/>
        </p:nvSpPr>
        <p:spPr>
          <a:xfrm>
            <a:off x="4846320" y="1508760"/>
            <a:ext cx="530352" cy="530352"/>
          </a:xfrm>
          <a:prstGeom prst="ellipse">
            <a:avLst/>
          </a:prstGeom>
          <a:solidFill>
            <a:srgbClr val="E8453C"/>
          </a:solidFill>
          <a:ln w="12700">
            <a:solidFill>
              <a:srgbClr val="E8453C"/>
            </a:solidFill>
            <a:prstDash val="solid"/>
          </a:ln>
        </p:spPr>
      </p:sp>
      <p:sp>
        <p:nvSpPr>
          <p:cNvPr id="26" name="Text 24"/>
          <p:cNvSpPr txBox="1"/>
          <p:nvPr/>
        </p:nvSpPr>
        <p:spPr>
          <a:xfrm>
            <a:off x="4846320" y="1508760"/>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1</a:t>
            </a:r>
            <a:endParaRPr lang="en-US" sz="1508" dirty="0"/>
          </a:p>
        </p:txBody>
      </p:sp>
      <p:sp>
        <p:nvSpPr>
          <p:cNvPr id="27" name="Text 25"/>
          <p:cNvSpPr txBox="1"/>
          <p:nvPr/>
        </p:nvSpPr>
        <p:spPr>
          <a:xfrm>
            <a:off x="5577840" y="1426464"/>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Top-tier reinforcement and abrasion resistance</a:t>
            </a:r>
            <a:endParaRPr lang="en-US" sz="1600" dirty="0"/>
          </a:p>
        </p:txBody>
      </p:sp>
      <p:sp>
        <p:nvSpPr>
          <p:cNvPr id="28" name="Text 26"/>
          <p:cNvSpPr txBox="1"/>
          <p:nvPr/>
        </p:nvSpPr>
        <p:spPr>
          <a:xfrm>
            <a:off x="5577840" y="1783080"/>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Fine 20–25 nm particles with about 45 % more surface area than N330 lift abrasion resistance and tensile strength — longer tread life.</a:t>
            </a:r>
            <a:endParaRPr lang="en-US" sz="1250" dirty="0"/>
          </a:p>
        </p:txBody>
      </p:sp>
      <p:sp>
        <p:nvSpPr>
          <p:cNvPr id="29" name="Shape 27"/>
          <p:cNvSpPr/>
          <p:nvPr/>
        </p:nvSpPr>
        <p:spPr>
          <a:xfrm>
            <a:off x="4663440" y="2587752"/>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0" name="Shape 28"/>
          <p:cNvSpPr/>
          <p:nvPr/>
        </p:nvSpPr>
        <p:spPr>
          <a:xfrm>
            <a:off x="4846320" y="2770632"/>
            <a:ext cx="530352" cy="530352"/>
          </a:xfrm>
          <a:prstGeom prst="ellipse">
            <a:avLst/>
          </a:prstGeom>
          <a:solidFill>
            <a:srgbClr val="E8453C"/>
          </a:solidFill>
          <a:ln w="12700">
            <a:solidFill>
              <a:srgbClr val="E8453C"/>
            </a:solidFill>
            <a:prstDash val="solid"/>
          </a:ln>
        </p:spPr>
      </p:sp>
      <p:sp>
        <p:nvSpPr>
          <p:cNvPr id="31" name="Text 29"/>
          <p:cNvSpPr txBox="1"/>
          <p:nvPr/>
        </p:nvSpPr>
        <p:spPr>
          <a:xfrm>
            <a:off x="4846320" y="2770632"/>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2</a:t>
            </a:r>
            <a:endParaRPr lang="en-US" sz="1508" dirty="0"/>
          </a:p>
        </p:txBody>
      </p:sp>
      <p:sp>
        <p:nvSpPr>
          <p:cNvPr id="32" name="Text 30"/>
          <p:cNvSpPr txBox="1"/>
          <p:nvPr/>
        </p:nvSpPr>
        <p:spPr>
          <a:xfrm>
            <a:off x="5577840" y="2688336"/>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The balance of wear, heat and processing</a:t>
            </a:r>
            <a:endParaRPr lang="en-US" sz="1600" dirty="0"/>
          </a:p>
        </p:txBody>
      </p:sp>
      <p:sp>
        <p:nvSpPr>
          <p:cNvPr id="33" name="Text 31"/>
          <p:cNvSpPr txBox="1"/>
          <p:nvPr/>
        </p:nvSpPr>
        <p:spPr>
          <a:xfrm>
            <a:off x="5577840" y="3044952"/>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Runs cooler and disperses more easily than N110 / N115, and wears far better than N330 — the mainstream tread grade for passenger, truck, bus and OTR tires.</a:t>
            </a:r>
            <a:endParaRPr lang="en-US" sz="1250" dirty="0"/>
          </a:p>
        </p:txBody>
      </p:sp>
      <p:sp>
        <p:nvSpPr>
          <p:cNvPr id="34" name="Shape 32"/>
          <p:cNvSpPr/>
          <p:nvPr/>
        </p:nvSpPr>
        <p:spPr>
          <a:xfrm>
            <a:off x="4663440" y="3849624"/>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5" name="Shape 33"/>
          <p:cNvSpPr/>
          <p:nvPr/>
        </p:nvSpPr>
        <p:spPr>
          <a:xfrm>
            <a:off x="4846320" y="4032504"/>
            <a:ext cx="530352" cy="530352"/>
          </a:xfrm>
          <a:prstGeom prst="ellipse">
            <a:avLst/>
          </a:prstGeom>
          <a:solidFill>
            <a:srgbClr val="E8453C"/>
          </a:solidFill>
          <a:ln w="12700">
            <a:solidFill>
              <a:srgbClr val="E8453C"/>
            </a:solidFill>
            <a:prstDash val="solid"/>
          </a:ln>
        </p:spPr>
      </p:sp>
      <p:sp>
        <p:nvSpPr>
          <p:cNvPr id="36" name="Text 34"/>
          <p:cNvSpPr txBox="1"/>
          <p:nvPr/>
        </p:nvSpPr>
        <p:spPr>
          <a:xfrm>
            <a:off x="4846320" y="4032504"/>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3</a:t>
            </a:r>
            <a:endParaRPr lang="en-US" sz="1508" dirty="0"/>
          </a:p>
        </p:txBody>
      </p:sp>
      <p:sp>
        <p:nvSpPr>
          <p:cNvPr id="37" name="Text 35"/>
          <p:cNvSpPr txBox="1"/>
          <p:nvPr/>
        </p:nvSpPr>
        <p:spPr>
          <a:xfrm>
            <a:off x="5577840" y="3950208"/>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High tint, low impurities</a:t>
            </a:r>
            <a:endParaRPr lang="en-US" sz="1600" dirty="0"/>
          </a:p>
        </p:txBody>
      </p:sp>
      <p:sp>
        <p:nvSpPr>
          <p:cNvPr id="38" name="Text 36"/>
          <p:cNvSpPr txBox="1"/>
          <p:nvPr/>
        </p:nvSpPr>
        <p:spPr>
          <a:xfrm>
            <a:off x="5577840" y="4306824"/>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Tint 116 ± 8 %, heating loss ≤ 0.8 %, ash ≤ 0.7 %, 45 µm residue ≤ 300 ppm, heavy metals not detected — for goods that need wear resistance and a deep black.</a:t>
            </a:r>
            <a:endParaRPr lang="en-US" sz="1250" dirty="0"/>
          </a:p>
        </p:txBody>
      </p:sp>
      <p:sp>
        <p:nvSpPr>
          <p:cNvPr id="39" name="Shape 37"/>
          <p:cNvSpPr/>
          <p:nvPr/>
        </p:nvSpPr>
        <p:spPr>
          <a:xfrm>
            <a:off x="4663440" y="5120640"/>
            <a:ext cx="6976872" cy="1097280"/>
          </a:xfrm>
          <a:prstGeom prst="roundRect">
            <a:avLst>
              <a:gd name="adj" fmla="val 1166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0" name="Text 38"/>
          <p:cNvSpPr txBox="1"/>
          <p:nvPr/>
        </p:nvSpPr>
        <p:spPr>
          <a:xfrm>
            <a:off x="4846320" y="5212080"/>
            <a:ext cx="2743200" cy="274320"/>
          </a:xfrm>
          <a:prstGeom prst="rect">
            <a:avLst/>
          </a:prstGeom>
          <a:noFill/>
          <a:ln/>
        </p:spPr>
        <p:txBody>
          <a:bodyPr wrap="square" lIns="0" tIns="0" rIns="0" bIns="0" rtlCol="0" anchor="ctr"/>
          <a:lstStyle/>
          <a:p>
            <a:pPr algn="l" indent="0" marL="0">
              <a:buNone/>
            </a:pPr>
            <a:r>
              <a:rPr lang="en-US" sz="1250" b="1" dirty="0">
                <a:solidFill>
                  <a:srgbClr val="10233F"/>
                </a:solidFill>
                <a:latin typeface="Calibri" pitchFamily="34" charset="0"/>
                <a:ea typeface="Calibri" pitchFamily="34" charset="-122"/>
                <a:cs typeface="Calibri" pitchFamily="34" charset="-120"/>
              </a:rPr>
              <a:t>Typical applications</a:t>
            </a:r>
            <a:endParaRPr lang="en-US" sz="1250" dirty="0"/>
          </a:p>
        </p:txBody>
      </p:sp>
      <p:sp>
        <p:nvSpPr>
          <p:cNvPr id="41" name="Shape 39"/>
          <p:cNvSpPr/>
          <p:nvPr/>
        </p:nvSpPr>
        <p:spPr>
          <a:xfrm>
            <a:off x="4846320" y="5532120"/>
            <a:ext cx="1034369" cy="256032"/>
          </a:xfrm>
          <a:prstGeom prst="roundRect">
            <a:avLst>
              <a:gd name="adj" fmla="val 50000"/>
            </a:avLst>
          </a:prstGeom>
          <a:solidFill>
            <a:srgbClr val="E8F1FC"/>
          </a:solidFill>
          <a:ln w="9525">
            <a:solidFill>
              <a:srgbClr val="C9DCF5"/>
            </a:solidFill>
            <a:prstDash val="solid"/>
          </a:ln>
        </p:spPr>
      </p:sp>
      <p:sp>
        <p:nvSpPr>
          <p:cNvPr id="42" name="Text 40"/>
          <p:cNvSpPr txBox="1"/>
          <p:nvPr/>
        </p:nvSpPr>
        <p:spPr>
          <a:xfrm>
            <a:off x="4846320" y="5532120"/>
            <a:ext cx="1034369"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Tire treads</a:t>
            </a:r>
            <a:endParaRPr lang="en-US" sz="1100" dirty="0"/>
          </a:p>
        </p:txBody>
      </p:sp>
      <p:sp>
        <p:nvSpPr>
          <p:cNvPr id="43" name="Shape 41"/>
          <p:cNvSpPr/>
          <p:nvPr/>
        </p:nvSpPr>
        <p:spPr>
          <a:xfrm>
            <a:off x="5990417" y="5532120"/>
            <a:ext cx="1686154" cy="256032"/>
          </a:xfrm>
          <a:prstGeom prst="roundRect">
            <a:avLst>
              <a:gd name="adj" fmla="val 50000"/>
            </a:avLst>
          </a:prstGeom>
          <a:solidFill>
            <a:srgbClr val="E8F1FC"/>
          </a:solidFill>
          <a:ln w="9525">
            <a:solidFill>
              <a:srgbClr val="C9DCF5"/>
            </a:solidFill>
            <a:prstDash val="solid"/>
          </a:ln>
        </p:spPr>
      </p:sp>
      <p:sp>
        <p:nvSpPr>
          <p:cNvPr id="44" name="Text 42"/>
          <p:cNvSpPr txBox="1"/>
          <p:nvPr/>
        </p:nvSpPr>
        <p:spPr>
          <a:xfrm>
            <a:off x="5990417" y="5532120"/>
            <a:ext cx="1686154"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Conveyor-belt covers</a:t>
            </a:r>
            <a:endParaRPr lang="en-US" sz="1100" dirty="0"/>
          </a:p>
        </p:txBody>
      </p:sp>
      <p:sp>
        <p:nvSpPr>
          <p:cNvPr id="45" name="Shape 43"/>
          <p:cNvSpPr/>
          <p:nvPr/>
        </p:nvSpPr>
        <p:spPr>
          <a:xfrm>
            <a:off x="7786299" y="5532120"/>
            <a:ext cx="1034369" cy="256032"/>
          </a:xfrm>
          <a:prstGeom prst="roundRect">
            <a:avLst>
              <a:gd name="adj" fmla="val 50000"/>
            </a:avLst>
          </a:prstGeom>
          <a:solidFill>
            <a:srgbClr val="E8F1FC"/>
          </a:solidFill>
          <a:ln w="9525">
            <a:solidFill>
              <a:srgbClr val="C9DCF5"/>
            </a:solidFill>
            <a:prstDash val="solid"/>
          </a:ln>
        </p:spPr>
      </p:sp>
      <p:sp>
        <p:nvSpPr>
          <p:cNvPr id="46" name="Text 44"/>
          <p:cNvSpPr txBox="1"/>
          <p:nvPr/>
        </p:nvSpPr>
        <p:spPr>
          <a:xfrm>
            <a:off x="7786299" y="5532120"/>
            <a:ext cx="1034369"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Solid tires</a:t>
            </a:r>
            <a:endParaRPr lang="en-US" sz="1100" dirty="0"/>
          </a:p>
        </p:txBody>
      </p:sp>
      <p:sp>
        <p:nvSpPr>
          <p:cNvPr id="47" name="Shape 45"/>
          <p:cNvSpPr/>
          <p:nvPr/>
        </p:nvSpPr>
        <p:spPr>
          <a:xfrm>
            <a:off x="8930396" y="5532120"/>
            <a:ext cx="1251631" cy="256032"/>
          </a:xfrm>
          <a:prstGeom prst="roundRect">
            <a:avLst>
              <a:gd name="adj" fmla="val 50000"/>
            </a:avLst>
          </a:prstGeom>
          <a:solidFill>
            <a:srgbClr val="E8F1FC"/>
          </a:solidFill>
          <a:ln w="9525">
            <a:solidFill>
              <a:srgbClr val="C9DCF5"/>
            </a:solidFill>
            <a:prstDash val="solid"/>
          </a:ln>
        </p:spPr>
      </p:sp>
      <p:sp>
        <p:nvSpPr>
          <p:cNvPr id="48" name="Text 46"/>
          <p:cNvSpPr txBox="1"/>
          <p:nvPr/>
        </p:nvSpPr>
        <p:spPr>
          <a:xfrm>
            <a:off x="8930396" y="5532120"/>
            <a:ext cx="1251631"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Footwear soles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Grade N330 · HAF</a:t>
            </a:r>
            <a:endParaRPr lang="en-US" sz="2800" dirty="0"/>
          </a:p>
        </p:txBody>
      </p:sp>
      <p:sp>
        <p:nvSpPr>
          <p:cNvPr id="3" name="Shape 1"/>
          <p:cNvSpPr/>
          <p:nvPr/>
        </p:nvSpPr>
        <p:spPr>
          <a:xfrm>
            <a:off x="548640" y="1325880"/>
            <a:ext cx="3886200" cy="4892040"/>
          </a:xfrm>
          <a:prstGeom prst="roundRect">
            <a:avLst>
              <a:gd name="adj" fmla="val 3294"/>
            </a:avLst>
          </a:prstGeom>
          <a:solidFill>
            <a:srgbClr val="0B4DA2"/>
          </a:solidFill>
          <a:ln w="12700">
            <a:solidFill>
              <a:srgbClr val="0B4DA2"/>
            </a:solidFill>
            <a:prstDash val="solid"/>
          </a:ln>
          <a:effectLst>
            <a:outerShdw sx="100000" sy="100000" kx="0" ky="0" algn="bl" rotWithShape="0" blurRad="127000" dist="38100" dir="5400000">
              <a:srgbClr val="0B2A55">
                <a:alpha val="18000"/>
              </a:srgbClr>
            </a:outerShdw>
          </a:effectLst>
        </p:spPr>
      </p:sp>
      <p:sp>
        <p:nvSpPr>
          <p:cNvPr id="4" name="Text 2"/>
          <p:cNvSpPr txBox="1"/>
          <p:nvPr/>
        </p:nvSpPr>
        <p:spPr>
          <a:xfrm>
            <a:off x="822960" y="1481328"/>
            <a:ext cx="3383280" cy="868680"/>
          </a:xfrm>
          <a:prstGeom prst="rect">
            <a:avLst/>
          </a:prstGeom>
          <a:noFill/>
          <a:ln/>
        </p:spPr>
        <p:txBody>
          <a:bodyPr wrap="square" lIns="0" tIns="0" rIns="0" bIns="0" rtlCol="0" anchor="ctr"/>
          <a:lstStyle/>
          <a:p>
            <a:pPr algn="l" indent="0" marL="0">
              <a:buNone/>
            </a:pPr>
            <a:r>
              <a:rPr lang="en-US" sz="5400" b="1" dirty="0">
                <a:solidFill>
                  <a:srgbClr val="FFFFFF"/>
                </a:solidFill>
                <a:latin typeface="Arial" pitchFamily="34" charset="0"/>
                <a:ea typeface="Arial" pitchFamily="34" charset="-122"/>
                <a:cs typeface="Arial" pitchFamily="34" charset="-120"/>
              </a:rPr>
              <a:t>N330</a:t>
            </a:r>
            <a:endParaRPr lang="en-US" sz="5400" dirty="0"/>
          </a:p>
        </p:txBody>
      </p:sp>
      <p:sp>
        <p:nvSpPr>
          <p:cNvPr id="5" name="Text 3"/>
          <p:cNvSpPr txBox="1"/>
          <p:nvPr/>
        </p:nvSpPr>
        <p:spPr>
          <a:xfrm>
            <a:off x="822960" y="2331720"/>
            <a:ext cx="3429000" cy="457200"/>
          </a:xfrm>
          <a:prstGeom prst="rect">
            <a:avLst/>
          </a:prstGeom>
          <a:noFill/>
          <a:ln/>
        </p:spPr>
        <p:txBody>
          <a:bodyPr wrap="square" lIns="0" tIns="0" rIns="0" bIns="0" rtlCol="0" anchor="t"/>
          <a:lstStyle/>
          <a:p>
            <a:pPr algn="l" indent="0" marL="0">
              <a:buNone/>
            </a:pPr>
            <a:r>
              <a:rPr lang="en-US" sz="1250" dirty="0">
                <a:solidFill>
                  <a:srgbClr val="BFD9FF"/>
                </a:solidFill>
                <a:latin typeface="Calibri" pitchFamily="34" charset="0"/>
                <a:ea typeface="Calibri" pitchFamily="34" charset="-122"/>
                <a:cs typeface="Calibri" pitchFamily="34" charset="-120"/>
              </a:rPr>
              <a:t>HAF · High Abrasion Furnace</a:t>
            </a:r>
            <a:endParaRPr lang="en-US" sz="1250" dirty="0"/>
          </a:p>
        </p:txBody>
      </p:sp>
      <p:sp>
        <p:nvSpPr>
          <p:cNvPr id="6" name="Text 4"/>
          <p:cNvSpPr txBox="1"/>
          <p:nvPr/>
        </p:nvSpPr>
        <p:spPr>
          <a:xfrm>
            <a:off x="822960" y="2788920"/>
            <a:ext cx="3429000" cy="868680"/>
          </a:xfrm>
          <a:prstGeom prst="rect">
            <a:avLst/>
          </a:prstGeom>
          <a:noFill/>
          <a:ln/>
        </p:spPr>
        <p:txBody>
          <a:bodyPr wrap="square" lIns="0" tIns="0" rIns="0" bIns="0" rtlCol="0" anchor="t"/>
          <a:lstStyle/>
          <a:p>
            <a:pPr algn="l" indent="0" marL="0">
              <a:buNone/>
            </a:pPr>
            <a:r>
              <a:rPr lang="en-US" sz="1450" b="1" i="1" dirty="0">
                <a:solidFill>
                  <a:srgbClr val="FFFFFF"/>
                </a:solidFill>
                <a:latin typeface="Calibri" pitchFamily="34" charset="0"/>
                <a:ea typeface="Calibri" pitchFamily="34" charset="-122"/>
                <a:cs typeface="Calibri" pitchFamily="34" charset="-120"/>
              </a:rPr>
              <a:t>The world’s most widely used reinforcing black — the base grade in almost every formulation.</a:t>
            </a:r>
            <a:endParaRPr lang="en-US" sz="1450" dirty="0"/>
          </a:p>
        </p:txBody>
      </p:sp>
      <p:sp>
        <p:nvSpPr>
          <p:cNvPr id="7" name="Text 5"/>
          <p:cNvSpPr txBox="1"/>
          <p:nvPr/>
        </p:nvSpPr>
        <p:spPr>
          <a:xfrm>
            <a:off x="822960" y="3703320"/>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Iodine adsorption</a:t>
            </a:r>
            <a:endParaRPr lang="en-US" sz="1200" dirty="0"/>
          </a:p>
        </p:txBody>
      </p:sp>
      <p:sp>
        <p:nvSpPr>
          <p:cNvPr id="8" name="Text 6"/>
          <p:cNvSpPr txBox="1"/>
          <p:nvPr/>
        </p:nvSpPr>
        <p:spPr>
          <a:xfrm>
            <a:off x="2606040" y="3703320"/>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82 ± 6 g/kg</a:t>
            </a:r>
            <a:endParaRPr lang="en-US" sz="1250" dirty="0"/>
          </a:p>
        </p:txBody>
      </p:sp>
      <p:sp>
        <p:nvSpPr>
          <p:cNvPr id="9" name="Shape 7"/>
          <p:cNvSpPr/>
          <p:nvPr/>
        </p:nvSpPr>
        <p:spPr>
          <a:xfrm>
            <a:off x="822960" y="4014216"/>
            <a:ext cx="3383280" cy="0"/>
          </a:xfrm>
          <a:prstGeom prst="line">
            <a:avLst/>
          </a:prstGeom>
          <a:noFill/>
          <a:ln w="9525">
            <a:solidFill>
              <a:srgbClr val="3D6FB8"/>
            </a:solidFill>
            <a:prstDash val="solid"/>
          </a:ln>
        </p:spPr>
      </p:sp>
      <p:sp>
        <p:nvSpPr>
          <p:cNvPr id="10" name="Text 8"/>
          <p:cNvSpPr txBox="1"/>
          <p:nvPr/>
        </p:nvSpPr>
        <p:spPr>
          <a:xfrm>
            <a:off x="822960" y="4014216"/>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OAN</a:t>
            </a:r>
            <a:endParaRPr lang="en-US" sz="1200" dirty="0"/>
          </a:p>
        </p:txBody>
      </p:sp>
      <p:sp>
        <p:nvSpPr>
          <p:cNvPr id="11" name="Text 9"/>
          <p:cNvSpPr txBox="1"/>
          <p:nvPr/>
        </p:nvSpPr>
        <p:spPr>
          <a:xfrm>
            <a:off x="2606040" y="4014216"/>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102 ± 6 mL/100 g</a:t>
            </a:r>
            <a:endParaRPr lang="en-US" sz="1250" dirty="0"/>
          </a:p>
        </p:txBody>
      </p:sp>
      <p:sp>
        <p:nvSpPr>
          <p:cNvPr id="12" name="Shape 10"/>
          <p:cNvSpPr/>
          <p:nvPr/>
        </p:nvSpPr>
        <p:spPr>
          <a:xfrm>
            <a:off x="822960" y="4325112"/>
            <a:ext cx="3383280" cy="0"/>
          </a:xfrm>
          <a:prstGeom prst="line">
            <a:avLst/>
          </a:prstGeom>
          <a:noFill/>
          <a:ln w="9525">
            <a:solidFill>
              <a:srgbClr val="3D6FB8"/>
            </a:solidFill>
            <a:prstDash val="solid"/>
          </a:ln>
        </p:spPr>
      </p:sp>
      <p:sp>
        <p:nvSpPr>
          <p:cNvPr id="13" name="Text 11"/>
          <p:cNvSpPr txBox="1"/>
          <p:nvPr/>
        </p:nvSpPr>
        <p:spPr>
          <a:xfrm>
            <a:off x="822960" y="4325112"/>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COAN</a:t>
            </a:r>
            <a:endParaRPr lang="en-US" sz="1200" dirty="0"/>
          </a:p>
        </p:txBody>
      </p:sp>
      <p:sp>
        <p:nvSpPr>
          <p:cNvPr id="14" name="Text 12"/>
          <p:cNvSpPr txBox="1"/>
          <p:nvPr/>
        </p:nvSpPr>
        <p:spPr>
          <a:xfrm>
            <a:off x="2606040" y="4325112"/>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88 ± 6 mL/100 g</a:t>
            </a:r>
            <a:endParaRPr lang="en-US" sz="1250" dirty="0"/>
          </a:p>
        </p:txBody>
      </p:sp>
      <p:sp>
        <p:nvSpPr>
          <p:cNvPr id="15" name="Shape 13"/>
          <p:cNvSpPr/>
          <p:nvPr/>
        </p:nvSpPr>
        <p:spPr>
          <a:xfrm>
            <a:off x="822960" y="4636008"/>
            <a:ext cx="3383280" cy="0"/>
          </a:xfrm>
          <a:prstGeom prst="line">
            <a:avLst/>
          </a:prstGeom>
          <a:noFill/>
          <a:ln w="9525">
            <a:solidFill>
              <a:srgbClr val="3D6FB8"/>
            </a:solidFill>
            <a:prstDash val="solid"/>
          </a:ln>
        </p:spPr>
      </p:sp>
      <p:sp>
        <p:nvSpPr>
          <p:cNvPr id="16" name="Text 14"/>
          <p:cNvSpPr txBox="1"/>
          <p:nvPr/>
        </p:nvSpPr>
        <p:spPr>
          <a:xfrm>
            <a:off x="822960" y="4636008"/>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Tint strength</a:t>
            </a:r>
            <a:endParaRPr lang="en-US" sz="1200" dirty="0"/>
          </a:p>
        </p:txBody>
      </p:sp>
      <p:sp>
        <p:nvSpPr>
          <p:cNvPr id="17" name="Text 15"/>
          <p:cNvSpPr txBox="1"/>
          <p:nvPr/>
        </p:nvSpPr>
        <p:spPr>
          <a:xfrm>
            <a:off x="2606040" y="4636008"/>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104 ± 8 %</a:t>
            </a:r>
            <a:endParaRPr lang="en-US" sz="1250" dirty="0"/>
          </a:p>
        </p:txBody>
      </p:sp>
      <p:sp>
        <p:nvSpPr>
          <p:cNvPr id="18" name="Shape 16"/>
          <p:cNvSpPr/>
          <p:nvPr/>
        </p:nvSpPr>
        <p:spPr>
          <a:xfrm>
            <a:off x="822960" y="4946904"/>
            <a:ext cx="3383280" cy="0"/>
          </a:xfrm>
          <a:prstGeom prst="line">
            <a:avLst/>
          </a:prstGeom>
          <a:noFill/>
          <a:ln w="9525">
            <a:solidFill>
              <a:srgbClr val="3D6FB8"/>
            </a:solidFill>
            <a:prstDash val="solid"/>
          </a:ln>
        </p:spPr>
      </p:sp>
      <p:sp>
        <p:nvSpPr>
          <p:cNvPr id="19" name="Text 17"/>
          <p:cNvSpPr txBox="1"/>
          <p:nvPr/>
        </p:nvSpPr>
        <p:spPr>
          <a:xfrm>
            <a:off x="822960" y="4946904"/>
            <a:ext cx="1783080" cy="310896"/>
          </a:xfrm>
          <a:prstGeom prst="rect">
            <a:avLst/>
          </a:prstGeom>
          <a:noFill/>
          <a:ln/>
        </p:spPr>
        <p:txBody>
          <a:bodyPr wrap="square" lIns="0" tIns="0" rIns="0" bIns="0" rtlCol="0" anchor="ctr"/>
          <a:lstStyle/>
          <a:p>
            <a:pPr algn="l" indent="0" marL="0">
              <a:buNone/>
            </a:pPr>
            <a:r>
              <a:rPr lang="en-US" sz="1200" dirty="0">
                <a:solidFill>
                  <a:srgbClr val="BFD9FF"/>
                </a:solidFill>
                <a:latin typeface="Calibri" pitchFamily="34" charset="0"/>
                <a:ea typeface="Calibri" pitchFamily="34" charset="-122"/>
                <a:cs typeface="Calibri" pitchFamily="34" charset="-120"/>
              </a:rPr>
              <a:t>Particle size (typical)</a:t>
            </a:r>
            <a:endParaRPr lang="en-US" sz="1200" dirty="0"/>
          </a:p>
        </p:txBody>
      </p:sp>
      <p:sp>
        <p:nvSpPr>
          <p:cNvPr id="20" name="Text 18"/>
          <p:cNvSpPr txBox="1"/>
          <p:nvPr/>
        </p:nvSpPr>
        <p:spPr>
          <a:xfrm>
            <a:off x="2606040" y="4946904"/>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26–30 nm</a:t>
            </a:r>
            <a:endParaRPr lang="en-US" sz="1250" dirty="0"/>
          </a:p>
        </p:txBody>
      </p:sp>
      <p:sp>
        <p:nvSpPr>
          <p:cNvPr id="21" name="Shape 19"/>
          <p:cNvSpPr/>
          <p:nvPr/>
        </p:nvSpPr>
        <p:spPr>
          <a:xfrm>
            <a:off x="822960" y="5257800"/>
            <a:ext cx="3383280" cy="0"/>
          </a:xfrm>
          <a:prstGeom prst="line">
            <a:avLst/>
          </a:prstGeom>
          <a:noFill/>
          <a:ln w="9525">
            <a:solidFill>
              <a:srgbClr val="3D6FB8"/>
            </a:solidFill>
            <a:prstDash val="solid"/>
          </a:ln>
        </p:spPr>
      </p:sp>
      <p:sp>
        <p:nvSpPr>
          <p:cNvPr id="22" name="Shape 20"/>
          <p:cNvSpPr/>
          <p:nvPr/>
        </p:nvSpPr>
        <p:spPr>
          <a:xfrm>
            <a:off x="822960" y="5440680"/>
            <a:ext cx="3383280" cy="457200"/>
          </a:xfrm>
          <a:prstGeom prst="roundRect">
            <a:avLst>
              <a:gd name="adj" fmla="val 50000"/>
            </a:avLst>
          </a:prstGeom>
          <a:solidFill>
            <a:srgbClr val="FFFFFF"/>
          </a:solidFill>
          <a:ln w="12700">
            <a:solidFill>
              <a:srgbClr val="FFFFFF"/>
            </a:solidFill>
            <a:prstDash val="solid"/>
          </a:ln>
        </p:spPr>
      </p:sp>
      <p:sp>
        <p:nvSpPr>
          <p:cNvPr id="23" name="Text 21"/>
          <p:cNvSpPr txBox="1"/>
          <p:nvPr/>
        </p:nvSpPr>
        <p:spPr>
          <a:xfrm>
            <a:off x="822960" y="5440680"/>
            <a:ext cx="3383280" cy="457200"/>
          </a:xfrm>
          <a:prstGeom prst="rect">
            <a:avLst/>
          </a:prstGeom>
          <a:noFill/>
          <a:ln/>
        </p:spPr>
        <p:txBody>
          <a:bodyPr wrap="square" lIns="0" tIns="0" rIns="0" bIns="0" rtlCol="0" anchor="ctr"/>
          <a:lstStyle/>
          <a:p>
            <a:pPr algn="ctr" indent="0" marL="0">
              <a:buNone/>
            </a:pPr>
            <a:r>
              <a:rPr lang="en-US" sz="1250" b="1" dirty="0">
                <a:solidFill>
                  <a:srgbClr val="0B4DA2"/>
                </a:solidFill>
                <a:latin typeface="Calibri" pitchFamily="34" charset="0"/>
                <a:ea typeface="Calibri" pitchFamily="34" charset="-122"/>
                <a:cs typeface="Calibri" pitchFamily="34" charset="-120"/>
              </a:rPr>
              <a:t>Produced at all three bases</a:t>
            </a:r>
            <a:endParaRPr lang="en-US" sz="1250" dirty="0"/>
          </a:p>
        </p:txBody>
      </p:sp>
      <p:sp>
        <p:nvSpPr>
          <p:cNvPr id="24" name="Shape 22"/>
          <p:cNvSpPr/>
          <p:nvPr/>
        </p:nvSpPr>
        <p:spPr>
          <a:xfrm>
            <a:off x="4663440" y="1325880"/>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5" name="Shape 23"/>
          <p:cNvSpPr/>
          <p:nvPr/>
        </p:nvSpPr>
        <p:spPr>
          <a:xfrm>
            <a:off x="4846320" y="1508760"/>
            <a:ext cx="530352" cy="530352"/>
          </a:xfrm>
          <a:prstGeom prst="ellipse">
            <a:avLst/>
          </a:prstGeom>
          <a:solidFill>
            <a:srgbClr val="E8453C"/>
          </a:solidFill>
          <a:ln w="12700">
            <a:solidFill>
              <a:srgbClr val="E8453C"/>
            </a:solidFill>
            <a:prstDash val="solid"/>
          </a:ln>
        </p:spPr>
      </p:sp>
      <p:sp>
        <p:nvSpPr>
          <p:cNvPr id="26" name="Text 24"/>
          <p:cNvSpPr txBox="1"/>
          <p:nvPr/>
        </p:nvSpPr>
        <p:spPr>
          <a:xfrm>
            <a:off x="4846320" y="1508760"/>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1</a:t>
            </a:r>
            <a:endParaRPr lang="en-US" sz="1508" dirty="0"/>
          </a:p>
        </p:txBody>
      </p:sp>
      <p:sp>
        <p:nvSpPr>
          <p:cNvPr id="27" name="Text 25"/>
          <p:cNvSpPr txBox="1"/>
          <p:nvPr/>
        </p:nvSpPr>
        <p:spPr>
          <a:xfrm>
            <a:off x="5577840" y="1426464"/>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The all-rounder</a:t>
            </a:r>
            <a:endParaRPr lang="en-US" sz="1600" dirty="0"/>
          </a:p>
        </p:txBody>
      </p:sp>
      <p:sp>
        <p:nvSpPr>
          <p:cNvPr id="28" name="Text 26"/>
          <p:cNvSpPr txBox="1"/>
          <p:nvPr/>
        </p:nvSpPr>
        <p:spPr>
          <a:xfrm>
            <a:off x="5577840" y="1783080"/>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Balanced tensile, tear, abrasion and processing: one grade covers tread, carcass, sidewall, conveyor belts, hoses and general rubber goods.</a:t>
            </a:r>
            <a:endParaRPr lang="en-US" sz="1250" dirty="0"/>
          </a:p>
        </p:txBody>
      </p:sp>
      <p:sp>
        <p:nvSpPr>
          <p:cNvPr id="29" name="Shape 27"/>
          <p:cNvSpPr/>
          <p:nvPr/>
        </p:nvSpPr>
        <p:spPr>
          <a:xfrm>
            <a:off x="4663440" y="2587752"/>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0" name="Shape 28"/>
          <p:cNvSpPr/>
          <p:nvPr/>
        </p:nvSpPr>
        <p:spPr>
          <a:xfrm>
            <a:off x="4846320" y="2770632"/>
            <a:ext cx="530352" cy="530352"/>
          </a:xfrm>
          <a:prstGeom prst="ellipse">
            <a:avLst/>
          </a:prstGeom>
          <a:solidFill>
            <a:srgbClr val="E8453C"/>
          </a:solidFill>
          <a:ln w="12700">
            <a:solidFill>
              <a:srgbClr val="E8453C"/>
            </a:solidFill>
            <a:prstDash val="solid"/>
          </a:ln>
        </p:spPr>
      </p:sp>
      <p:sp>
        <p:nvSpPr>
          <p:cNvPr id="31" name="Text 29"/>
          <p:cNvSpPr txBox="1"/>
          <p:nvPr/>
        </p:nvSpPr>
        <p:spPr>
          <a:xfrm>
            <a:off x="4846320" y="2770632"/>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2</a:t>
            </a:r>
            <a:endParaRPr lang="en-US" sz="1508" dirty="0"/>
          </a:p>
        </p:txBody>
      </p:sp>
      <p:sp>
        <p:nvSpPr>
          <p:cNvPr id="32" name="Text 30"/>
          <p:cNvSpPr txBox="1"/>
          <p:nvPr/>
        </p:nvSpPr>
        <p:spPr>
          <a:xfrm>
            <a:off x="5577840" y="2688336"/>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Fast to qualify, secure supply</a:t>
            </a:r>
            <a:endParaRPr lang="en-US" sz="1600" dirty="0"/>
          </a:p>
        </p:txBody>
      </p:sp>
      <p:sp>
        <p:nvSpPr>
          <p:cNvPr id="33" name="Text 31"/>
          <p:cNvSpPr txBox="1"/>
          <p:nvPr/>
        </p:nvSpPr>
        <p:spPr>
          <a:xfrm>
            <a:off x="5577840" y="3044952"/>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Almost every compounder already runs N330, so a new source qualifies without reformulation. Made at all three of our bases — our most secure supply.</a:t>
            </a:r>
            <a:endParaRPr lang="en-US" sz="1250" dirty="0"/>
          </a:p>
        </p:txBody>
      </p:sp>
      <p:sp>
        <p:nvSpPr>
          <p:cNvPr id="34" name="Shape 32"/>
          <p:cNvSpPr/>
          <p:nvPr/>
        </p:nvSpPr>
        <p:spPr>
          <a:xfrm>
            <a:off x="4663440" y="3849624"/>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5" name="Shape 33"/>
          <p:cNvSpPr/>
          <p:nvPr/>
        </p:nvSpPr>
        <p:spPr>
          <a:xfrm>
            <a:off x="4846320" y="4032504"/>
            <a:ext cx="530352" cy="530352"/>
          </a:xfrm>
          <a:prstGeom prst="ellipse">
            <a:avLst/>
          </a:prstGeom>
          <a:solidFill>
            <a:srgbClr val="E8453C"/>
          </a:solidFill>
          <a:ln w="12700">
            <a:solidFill>
              <a:srgbClr val="E8453C"/>
            </a:solidFill>
            <a:prstDash val="solid"/>
          </a:ln>
        </p:spPr>
      </p:sp>
      <p:sp>
        <p:nvSpPr>
          <p:cNvPr id="36" name="Text 34"/>
          <p:cNvSpPr txBox="1"/>
          <p:nvPr/>
        </p:nvSpPr>
        <p:spPr>
          <a:xfrm>
            <a:off x="4846320" y="4032504"/>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3</a:t>
            </a:r>
            <a:endParaRPr lang="en-US" sz="1508" dirty="0"/>
          </a:p>
        </p:txBody>
      </p:sp>
      <p:sp>
        <p:nvSpPr>
          <p:cNvPr id="37" name="Text 35"/>
          <p:cNvSpPr txBox="1"/>
          <p:nvPr/>
        </p:nvSpPr>
        <p:spPr>
          <a:xfrm>
            <a:off x="5577840" y="3950208"/>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Processing-friendly, low impurities</a:t>
            </a:r>
            <a:endParaRPr lang="en-US" sz="1600" dirty="0"/>
          </a:p>
        </p:txBody>
      </p:sp>
      <p:sp>
        <p:nvSpPr>
          <p:cNvPr id="38" name="Text 36"/>
          <p:cNvSpPr txBox="1"/>
          <p:nvPr/>
        </p:nvSpPr>
        <p:spPr>
          <a:xfrm>
            <a:off x="5577840" y="4306824"/>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Lower heat build-up and quicker dispersion than N220; heating loss ≤ 0.8 %, ash ≤ 0.7 %, 45 µm residue ≤ 300 ppm, heavy metals not detected — less grit in mixing.</a:t>
            </a:r>
            <a:endParaRPr lang="en-US" sz="1250" dirty="0"/>
          </a:p>
        </p:txBody>
      </p:sp>
      <p:sp>
        <p:nvSpPr>
          <p:cNvPr id="39" name="Shape 37"/>
          <p:cNvSpPr/>
          <p:nvPr/>
        </p:nvSpPr>
        <p:spPr>
          <a:xfrm>
            <a:off x="4663440" y="5120640"/>
            <a:ext cx="6976872" cy="1097280"/>
          </a:xfrm>
          <a:prstGeom prst="roundRect">
            <a:avLst>
              <a:gd name="adj" fmla="val 1166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0" name="Text 38"/>
          <p:cNvSpPr txBox="1"/>
          <p:nvPr/>
        </p:nvSpPr>
        <p:spPr>
          <a:xfrm>
            <a:off x="4846320" y="5212080"/>
            <a:ext cx="2743200" cy="274320"/>
          </a:xfrm>
          <a:prstGeom prst="rect">
            <a:avLst/>
          </a:prstGeom>
          <a:noFill/>
          <a:ln/>
        </p:spPr>
        <p:txBody>
          <a:bodyPr wrap="square" lIns="0" tIns="0" rIns="0" bIns="0" rtlCol="0" anchor="ctr"/>
          <a:lstStyle/>
          <a:p>
            <a:pPr algn="l" indent="0" marL="0">
              <a:buNone/>
            </a:pPr>
            <a:r>
              <a:rPr lang="en-US" sz="1250" b="1" dirty="0">
                <a:solidFill>
                  <a:srgbClr val="10233F"/>
                </a:solidFill>
                <a:latin typeface="Calibri" pitchFamily="34" charset="0"/>
                <a:ea typeface="Calibri" pitchFamily="34" charset="-122"/>
                <a:cs typeface="Calibri" pitchFamily="34" charset="-120"/>
              </a:rPr>
              <a:t>Typical applications</a:t>
            </a:r>
            <a:endParaRPr lang="en-US" sz="1250" dirty="0"/>
          </a:p>
        </p:txBody>
      </p:sp>
      <p:sp>
        <p:nvSpPr>
          <p:cNvPr id="41" name="Shape 39"/>
          <p:cNvSpPr/>
          <p:nvPr/>
        </p:nvSpPr>
        <p:spPr>
          <a:xfrm>
            <a:off x="4846320" y="5532120"/>
            <a:ext cx="672267" cy="256032"/>
          </a:xfrm>
          <a:prstGeom prst="roundRect">
            <a:avLst>
              <a:gd name="adj" fmla="val 50000"/>
            </a:avLst>
          </a:prstGeom>
          <a:solidFill>
            <a:srgbClr val="E8F1FC"/>
          </a:solidFill>
          <a:ln w="9525">
            <a:solidFill>
              <a:srgbClr val="C9DCF5"/>
            </a:solidFill>
            <a:prstDash val="solid"/>
          </a:ln>
        </p:spPr>
      </p:sp>
      <p:sp>
        <p:nvSpPr>
          <p:cNvPr id="42" name="Text 40"/>
          <p:cNvSpPr txBox="1"/>
          <p:nvPr/>
        </p:nvSpPr>
        <p:spPr>
          <a:xfrm>
            <a:off x="4846320" y="5532120"/>
            <a:ext cx="672267"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Treads</a:t>
            </a:r>
            <a:endParaRPr lang="en-US" sz="1100" dirty="0"/>
          </a:p>
        </p:txBody>
      </p:sp>
      <p:sp>
        <p:nvSpPr>
          <p:cNvPr id="43" name="Shape 41"/>
          <p:cNvSpPr/>
          <p:nvPr/>
        </p:nvSpPr>
        <p:spPr>
          <a:xfrm>
            <a:off x="5628315" y="5532120"/>
            <a:ext cx="1541313" cy="256032"/>
          </a:xfrm>
          <a:prstGeom prst="roundRect">
            <a:avLst>
              <a:gd name="adj" fmla="val 50000"/>
            </a:avLst>
          </a:prstGeom>
          <a:solidFill>
            <a:srgbClr val="E8F1FC"/>
          </a:solidFill>
          <a:ln w="9525">
            <a:solidFill>
              <a:srgbClr val="C9DCF5"/>
            </a:solidFill>
            <a:prstDash val="solid"/>
          </a:ln>
        </p:spPr>
      </p:sp>
      <p:sp>
        <p:nvSpPr>
          <p:cNvPr id="44" name="Text 42"/>
          <p:cNvSpPr txBox="1"/>
          <p:nvPr/>
        </p:nvSpPr>
        <p:spPr>
          <a:xfrm>
            <a:off x="5628315" y="5532120"/>
            <a:ext cx="1541313"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Carcass &amp; sidewall</a:t>
            </a:r>
            <a:endParaRPr lang="en-US" sz="1100" dirty="0"/>
          </a:p>
        </p:txBody>
      </p:sp>
      <p:sp>
        <p:nvSpPr>
          <p:cNvPr id="45" name="Shape 43"/>
          <p:cNvSpPr/>
          <p:nvPr/>
        </p:nvSpPr>
        <p:spPr>
          <a:xfrm>
            <a:off x="7279356" y="5532120"/>
            <a:ext cx="1251631" cy="256032"/>
          </a:xfrm>
          <a:prstGeom prst="roundRect">
            <a:avLst>
              <a:gd name="adj" fmla="val 50000"/>
            </a:avLst>
          </a:prstGeom>
          <a:solidFill>
            <a:srgbClr val="E8F1FC"/>
          </a:solidFill>
          <a:ln w="9525">
            <a:solidFill>
              <a:srgbClr val="C9DCF5"/>
            </a:solidFill>
            <a:prstDash val="solid"/>
          </a:ln>
        </p:spPr>
      </p:sp>
      <p:sp>
        <p:nvSpPr>
          <p:cNvPr id="46" name="Text 44"/>
          <p:cNvSpPr txBox="1"/>
          <p:nvPr/>
        </p:nvSpPr>
        <p:spPr>
          <a:xfrm>
            <a:off x="7279356" y="5532120"/>
            <a:ext cx="1251631"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Conveyor belts</a:t>
            </a:r>
            <a:endParaRPr lang="en-US" sz="1100" dirty="0"/>
          </a:p>
        </p:txBody>
      </p:sp>
      <p:sp>
        <p:nvSpPr>
          <p:cNvPr id="47" name="Shape 45"/>
          <p:cNvSpPr/>
          <p:nvPr/>
        </p:nvSpPr>
        <p:spPr>
          <a:xfrm>
            <a:off x="8640714" y="5532120"/>
            <a:ext cx="640080" cy="256032"/>
          </a:xfrm>
          <a:prstGeom prst="roundRect">
            <a:avLst>
              <a:gd name="adj" fmla="val 50000"/>
            </a:avLst>
          </a:prstGeom>
          <a:solidFill>
            <a:srgbClr val="E8F1FC"/>
          </a:solidFill>
          <a:ln w="9525">
            <a:solidFill>
              <a:srgbClr val="C9DCF5"/>
            </a:solidFill>
            <a:prstDash val="solid"/>
          </a:ln>
        </p:spPr>
      </p:sp>
      <p:sp>
        <p:nvSpPr>
          <p:cNvPr id="48" name="Text 46"/>
          <p:cNvSpPr txBox="1"/>
          <p:nvPr/>
        </p:nvSpPr>
        <p:spPr>
          <a:xfrm>
            <a:off x="8640714" y="5532120"/>
            <a:ext cx="640080"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Hoses</a:t>
            </a:r>
            <a:endParaRPr lang="en-US" sz="1100" dirty="0"/>
          </a:p>
        </p:txBody>
      </p:sp>
      <p:sp>
        <p:nvSpPr>
          <p:cNvPr id="49" name="Shape 47"/>
          <p:cNvSpPr/>
          <p:nvPr/>
        </p:nvSpPr>
        <p:spPr>
          <a:xfrm>
            <a:off x="9390522" y="5532120"/>
            <a:ext cx="1613733" cy="256032"/>
          </a:xfrm>
          <a:prstGeom prst="roundRect">
            <a:avLst>
              <a:gd name="adj" fmla="val 50000"/>
            </a:avLst>
          </a:prstGeom>
          <a:solidFill>
            <a:srgbClr val="E8F1FC"/>
          </a:solidFill>
          <a:ln w="9525">
            <a:solidFill>
              <a:srgbClr val="C9DCF5"/>
            </a:solidFill>
            <a:prstDash val="solid"/>
          </a:ln>
        </p:spPr>
      </p:sp>
      <p:sp>
        <p:nvSpPr>
          <p:cNvPr id="50" name="Text 48"/>
          <p:cNvSpPr txBox="1"/>
          <p:nvPr/>
        </p:nvSpPr>
        <p:spPr>
          <a:xfrm>
            <a:off x="9390522" y="5532120"/>
            <a:ext cx="1613733"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Molded rubber goods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Grade N550 · FEF</a:t>
            </a:r>
            <a:endParaRPr lang="en-US" sz="2800" dirty="0"/>
          </a:p>
        </p:txBody>
      </p:sp>
      <p:sp>
        <p:nvSpPr>
          <p:cNvPr id="3" name="Shape 1"/>
          <p:cNvSpPr/>
          <p:nvPr/>
        </p:nvSpPr>
        <p:spPr>
          <a:xfrm>
            <a:off x="548640" y="1325880"/>
            <a:ext cx="3886200" cy="4892040"/>
          </a:xfrm>
          <a:prstGeom prst="roundRect">
            <a:avLst>
              <a:gd name="adj" fmla="val 3294"/>
            </a:avLst>
          </a:prstGeom>
          <a:solidFill>
            <a:srgbClr val="E8453C"/>
          </a:solidFill>
          <a:ln w="12700">
            <a:solidFill>
              <a:srgbClr val="E8453C"/>
            </a:solidFill>
            <a:prstDash val="solid"/>
          </a:ln>
          <a:effectLst>
            <a:outerShdw sx="100000" sy="100000" kx="0" ky="0" algn="bl" rotWithShape="0" blurRad="127000" dist="38100" dir="5400000">
              <a:srgbClr val="0B2A55">
                <a:alpha val="18000"/>
              </a:srgbClr>
            </a:outerShdw>
          </a:effectLst>
        </p:spPr>
      </p:sp>
      <p:sp>
        <p:nvSpPr>
          <p:cNvPr id="4" name="Text 2"/>
          <p:cNvSpPr txBox="1"/>
          <p:nvPr/>
        </p:nvSpPr>
        <p:spPr>
          <a:xfrm>
            <a:off x="822960" y="1481328"/>
            <a:ext cx="3383280" cy="868680"/>
          </a:xfrm>
          <a:prstGeom prst="rect">
            <a:avLst/>
          </a:prstGeom>
          <a:noFill/>
          <a:ln/>
        </p:spPr>
        <p:txBody>
          <a:bodyPr wrap="square" lIns="0" tIns="0" rIns="0" bIns="0" rtlCol="0" anchor="ctr"/>
          <a:lstStyle/>
          <a:p>
            <a:pPr algn="l" indent="0" marL="0">
              <a:buNone/>
            </a:pPr>
            <a:r>
              <a:rPr lang="en-US" sz="5400" b="1" dirty="0">
                <a:solidFill>
                  <a:srgbClr val="FFFFFF"/>
                </a:solidFill>
                <a:latin typeface="Arial" pitchFamily="34" charset="0"/>
                <a:ea typeface="Arial" pitchFamily="34" charset="-122"/>
                <a:cs typeface="Arial" pitchFamily="34" charset="-120"/>
              </a:rPr>
              <a:t>N550</a:t>
            </a:r>
            <a:endParaRPr lang="en-US" sz="5400" dirty="0"/>
          </a:p>
        </p:txBody>
      </p:sp>
      <p:sp>
        <p:nvSpPr>
          <p:cNvPr id="5" name="Text 3"/>
          <p:cNvSpPr txBox="1"/>
          <p:nvPr/>
        </p:nvSpPr>
        <p:spPr>
          <a:xfrm>
            <a:off x="822960" y="2331720"/>
            <a:ext cx="3429000" cy="457200"/>
          </a:xfrm>
          <a:prstGeom prst="rect">
            <a:avLst/>
          </a:prstGeom>
          <a:noFill/>
          <a:ln/>
        </p:spPr>
        <p:txBody>
          <a:bodyPr wrap="square" lIns="0" tIns="0" rIns="0" bIns="0" rtlCol="0" anchor="t"/>
          <a:lstStyle/>
          <a:p>
            <a:pPr algn="l" indent="0" marL="0">
              <a:buNone/>
            </a:pPr>
            <a:r>
              <a:rPr lang="en-US" sz="1250" dirty="0">
                <a:solidFill>
                  <a:srgbClr val="FFE3E0"/>
                </a:solidFill>
                <a:latin typeface="Calibri" pitchFamily="34" charset="0"/>
                <a:ea typeface="Calibri" pitchFamily="34" charset="-122"/>
                <a:cs typeface="Calibri" pitchFamily="34" charset="-120"/>
              </a:rPr>
              <a:t>FEF · Fast Extrusion Furnace</a:t>
            </a:r>
            <a:endParaRPr lang="en-US" sz="1250" dirty="0"/>
          </a:p>
        </p:txBody>
      </p:sp>
      <p:sp>
        <p:nvSpPr>
          <p:cNvPr id="6" name="Text 4"/>
          <p:cNvSpPr txBox="1"/>
          <p:nvPr/>
        </p:nvSpPr>
        <p:spPr>
          <a:xfrm>
            <a:off x="822960" y="2788920"/>
            <a:ext cx="3429000" cy="868680"/>
          </a:xfrm>
          <a:prstGeom prst="rect">
            <a:avLst/>
          </a:prstGeom>
          <a:noFill/>
          <a:ln/>
        </p:spPr>
        <p:txBody>
          <a:bodyPr wrap="square" lIns="0" tIns="0" rIns="0" bIns="0" rtlCol="0" anchor="t"/>
          <a:lstStyle/>
          <a:p>
            <a:pPr algn="l" indent="0" marL="0">
              <a:buNone/>
            </a:pPr>
            <a:r>
              <a:rPr lang="en-US" sz="1450" b="1" i="1" dirty="0">
                <a:solidFill>
                  <a:srgbClr val="FFFFFF"/>
                </a:solidFill>
                <a:latin typeface="Calibri" pitchFamily="34" charset="0"/>
                <a:ea typeface="Calibri" pitchFamily="34" charset="-122"/>
                <a:cs typeface="Calibri" pitchFamily="34" charset="-120"/>
              </a:rPr>
              <a:t>The classic fast-extrusion grade — the workhorse for non-tread and extruded goods.</a:t>
            </a:r>
            <a:endParaRPr lang="en-US" sz="1450" dirty="0"/>
          </a:p>
        </p:txBody>
      </p:sp>
      <p:sp>
        <p:nvSpPr>
          <p:cNvPr id="7" name="Text 5"/>
          <p:cNvSpPr txBox="1"/>
          <p:nvPr/>
        </p:nvSpPr>
        <p:spPr>
          <a:xfrm>
            <a:off x="822960" y="3703320"/>
            <a:ext cx="1783080" cy="310896"/>
          </a:xfrm>
          <a:prstGeom prst="rect">
            <a:avLst/>
          </a:prstGeom>
          <a:noFill/>
          <a:ln/>
        </p:spPr>
        <p:txBody>
          <a:bodyPr wrap="square" lIns="0" tIns="0" rIns="0" bIns="0" rtlCol="0" anchor="ctr"/>
          <a:lstStyle/>
          <a:p>
            <a:pPr algn="l" indent="0" marL="0">
              <a:buNone/>
            </a:pPr>
            <a:r>
              <a:rPr lang="en-US" sz="1200" dirty="0">
                <a:solidFill>
                  <a:srgbClr val="FFE3E0"/>
                </a:solidFill>
                <a:latin typeface="Calibri" pitchFamily="34" charset="0"/>
                <a:ea typeface="Calibri" pitchFamily="34" charset="-122"/>
                <a:cs typeface="Calibri" pitchFamily="34" charset="-120"/>
              </a:rPr>
              <a:t>Iodine adsorption</a:t>
            </a:r>
            <a:endParaRPr lang="en-US" sz="1200" dirty="0"/>
          </a:p>
        </p:txBody>
      </p:sp>
      <p:sp>
        <p:nvSpPr>
          <p:cNvPr id="8" name="Text 6"/>
          <p:cNvSpPr txBox="1"/>
          <p:nvPr/>
        </p:nvSpPr>
        <p:spPr>
          <a:xfrm>
            <a:off x="2606040" y="3703320"/>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39–47 g/kg</a:t>
            </a:r>
            <a:endParaRPr lang="en-US" sz="1250" dirty="0"/>
          </a:p>
        </p:txBody>
      </p:sp>
      <p:sp>
        <p:nvSpPr>
          <p:cNvPr id="9" name="Shape 7"/>
          <p:cNvSpPr/>
          <p:nvPr/>
        </p:nvSpPr>
        <p:spPr>
          <a:xfrm>
            <a:off x="822960" y="4014216"/>
            <a:ext cx="3383280" cy="0"/>
          </a:xfrm>
          <a:prstGeom prst="line">
            <a:avLst/>
          </a:prstGeom>
          <a:noFill/>
          <a:ln w="9525">
            <a:solidFill>
              <a:srgbClr val="F08A83"/>
            </a:solidFill>
            <a:prstDash val="solid"/>
          </a:ln>
        </p:spPr>
      </p:sp>
      <p:sp>
        <p:nvSpPr>
          <p:cNvPr id="10" name="Text 8"/>
          <p:cNvSpPr txBox="1"/>
          <p:nvPr/>
        </p:nvSpPr>
        <p:spPr>
          <a:xfrm>
            <a:off x="822960" y="4014216"/>
            <a:ext cx="1783080" cy="310896"/>
          </a:xfrm>
          <a:prstGeom prst="rect">
            <a:avLst/>
          </a:prstGeom>
          <a:noFill/>
          <a:ln/>
        </p:spPr>
        <p:txBody>
          <a:bodyPr wrap="square" lIns="0" tIns="0" rIns="0" bIns="0" rtlCol="0" anchor="ctr"/>
          <a:lstStyle/>
          <a:p>
            <a:pPr algn="l" indent="0" marL="0">
              <a:buNone/>
            </a:pPr>
            <a:r>
              <a:rPr lang="en-US" sz="1200" dirty="0">
                <a:solidFill>
                  <a:srgbClr val="FFE3E0"/>
                </a:solidFill>
                <a:latin typeface="Calibri" pitchFamily="34" charset="0"/>
                <a:ea typeface="Calibri" pitchFamily="34" charset="-122"/>
                <a:cs typeface="Calibri" pitchFamily="34" charset="-120"/>
              </a:rPr>
              <a:t>OAN</a:t>
            </a:r>
            <a:endParaRPr lang="en-US" sz="1200" dirty="0"/>
          </a:p>
        </p:txBody>
      </p:sp>
      <p:sp>
        <p:nvSpPr>
          <p:cNvPr id="11" name="Text 9"/>
          <p:cNvSpPr txBox="1"/>
          <p:nvPr/>
        </p:nvSpPr>
        <p:spPr>
          <a:xfrm>
            <a:off x="2606040" y="4014216"/>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116–126 mL/100 g</a:t>
            </a:r>
            <a:endParaRPr lang="en-US" sz="1250" dirty="0"/>
          </a:p>
        </p:txBody>
      </p:sp>
      <p:sp>
        <p:nvSpPr>
          <p:cNvPr id="12" name="Shape 10"/>
          <p:cNvSpPr/>
          <p:nvPr/>
        </p:nvSpPr>
        <p:spPr>
          <a:xfrm>
            <a:off x="822960" y="4325112"/>
            <a:ext cx="3383280" cy="0"/>
          </a:xfrm>
          <a:prstGeom prst="line">
            <a:avLst/>
          </a:prstGeom>
          <a:noFill/>
          <a:ln w="9525">
            <a:solidFill>
              <a:srgbClr val="F08A83"/>
            </a:solidFill>
            <a:prstDash val="solid"/>
          </a:ln>
        </p:spPr>
      </p:sp>
      <p:sp>
        <p:nvSpPr>
          <p:cNvPr id="13" name="Text 11"/>
          <p:cNvSpPr txBox="1"/>
          <p:nvPr/>
        </p:nvSpPr>
        <p:spPr>
          <a:xfrm>
            <a:off x="822960" y="4325112"/>
            <a:ext cx="1783080" cy="310896"/>
          </a:xfrm>
          <a:prstGeom prst="rect">
            <a:avLst/>
          </a:prstGeom>
          <a:noFill/>
          <a:ln/>
        </p:spPr>
        <p:txBody>
          <a:bodyPr wrap="square" lIns="0" tIns="0" rIns="0" bIns="0" rtlCol="0" anchor="ctr"/>
          <a:lstStyle/>
          <a:p>
            <a:pPr algn="l" indent="0" marL="0">
              <a:buNone/>
            </a:pPr>
            <a:r>
              <a:rPr lang="en-US" sz="1200" dirty="0">
                <a:solidFill>
                  <a:srgbClr val="FFE3E0"/>
                </a:solidFill>
                <a:latin typeface="Calibri" pitchFamily="34" charset="0"/>
                <a:ea typeface="Calibri" pitchFamily="34" charset="-122"/>
                <a:cs typeface="Calibri" pitchFamily="34" charset="-120"/>
              </a:rPr>
              <a:t>COAN</a:t>
            </a:r>
            <a:endParaRPr lang="en-US" sz="1200" dirty="0"/>
          </a:p>
        </p:txBody>
      </p:sp>
      <p:sp>
        <p:nvSpPr>
          <p:cNvPr id="14" name="Text 12"/>
          <p:cNvSpPr txBox="1"/>
          <p:nvPr/>
        </p:nvSpPr>
        <p:spPr>
          <a:xfrm>
            <a:off x="2606040" y="4325112"/>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80–90 mL/100 g</a:t>
            </a:r>
            <a:endParaRPr lang="en-US" sz="1250" dirty="0"/>
          </a:p>
        </p:txBody>
      </p:sp>
      <p:sp>
        <p:nvSpPr>
          <p:cNvPr id="15" name="Shape 13"/>
          <p:cNvSpPr/>
          <p:nvPr/>
        </p:nvSpPr>
        <p:spPr>
          <a:xfrm>
            <a:off x="822960" y="4636008"/>
            <a:ext cx="3383280" cy="0"/>
          </a:xfrm>
          <a:prstGeom prst="line">
            <a:avLst/>
          </a:prstGeom>
          <a:noFill/>
          <a:ln w="9525">
            <a:solidFill>
              <a:srgbClr val="F08A83"/>
            </a:solidFill>
            <a:prstDash val="solid"/>
          </a:ln>
        </p:spPr>
      </p:sp>
      <p:sp>
        <p:nvSpPr>
          <p:cNvPr id="16" name="Text 14"/>
          <p:cNvSpPr txBox="1"/>
          <p:nvPr/>
        </p:nvSpPr>
        <p:spPr>
          <a:xfrm>
            <a:off x="822960" y="4636008"/>
            <a:ext cx="1783080" cy="310896"/>
          </a:xfrm>
          <a:prstGeom prst="rect">
            <a:avLst/>
          </a:prstGeom>
          <a:noFill/>
          <a:ln/>
        </p:spPr>
        <p:txBody>
          <a:bodyPr wrap="square" lIns="0" tIns="0" rIns="0" bIns="0" rtlCol="0" anchor="ctr"/>
          <a:lstStyle/>
          <a:p>
            <a:pPr algn="l" indent="0" marL="0">
              <a:buNone/>
            </a:pPr>
            <a:r>
              <a:rPr lang="en-US" sz="1200" dirty="0">
                <a:solidFill>
                  <a:srgbClr val="FFE3E0"/>
                </a:solidFill>
                <a:latin typeface="Calibri" pitchFamily="34" charset="0"/>
                <a:ea typeface="Calibri" pitchFamily="34" charset="-122"/>
                <a:cs typeface="Calibri" pitchFamily="34" charset="-120"/>
              </a:rPr>
              <a:t>Ash</a:t>
            </a:r>
            <a:endParaRPr lang="en-US" sz="1200" dirty="0"/>
          </a:p>
        </p:txBody>
      </p:sp>
      <p:sp>
        <p:nvSpPr>
          <p:cNvPr id="17" name="Text 15"/>
          <p:cNvSpPr txBox="1"/>
          <p:nvPr/>
        </p:nvSpPr>
        <p:spPr>
          <a:xfrm>
            <a:off x="2606040" y="4636008"/>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 0.5 %</a:t>
            </a:r>
            <a:endParaRPr lang="en-US" sz="1250" dirty="0"/>
          </a:p>
        </p:txBody>
      </p:sp>
      <p:sp>
        <p:nvSpPr>
          <p:cNvPr id="18" name="Shape 16"/>
          <p:cNvSpPr/>
          <p:nvPr/>
        </p:nvSpPr>
        <p:spPr>
          <a:xfrm>
            <a:off x="822960" y="4946904"/>
            <a:ext cx="3383280" cy="0"/>
          </a:xfrm>
          <a:prstGeom prst="line">
            <a:avLst/>
          </a:prstGeom>
          <a:noFill/>
          <a:ln w="9525">
            <a:solidFill>
              <a:srgbClr val="F08A83"/>
            </a:solidFill>
            <a:prstDash val="solid"/>
          </a:ln>
        </p:spPr>
      </p:sp>
      <p:sp>
        <p:nvSpPr>
          <p:cNvPr id="19" name="Text 17"/>
          <p:cNvSpPr txBox="1"/>
          <p:nvPr/>
        </p:nvSpPr>
        <p:spPr>
          <a:xfrm>
            <a:off x="822960" y="4946904"/>
            <a:ext cx="1783080" cy="310896"/>
          </a:xfrm>
          <a:prstGeom prst="rect">
            <a:avLst/>
          </a:prstGeom>
          <a:noFill/>
          <a:ln/>
        </p:spPr>
        <p:txBody>
          <a:bodyPr wrap="square" lIns="0" tIns="0" rIns="0" bIns="0" rtlCol="0" anchor="ctr"/>
          <a:lstStyle/>
          <a:p>
            <a:pPr algn="l" indent="0" marL="0">
              <a:buNone/>
            </a:pPr>
            <a:r>
              <a:rPr lang="en-US" sz="1200" dirty="0">
                <a:solidFill>
                  <a:srgbClr val="FFE3E0"/>
                </a:solidFill>
                <a:latin typeface="Calibri" pitchFamily="34" charset="0"/>
                <a:ea typeface="Calibri" pitchFamily="34" charset="-122"/>
                <a:cs typeface="Calibri" pitchFamily="34" charset="-120"/>
              </a:rPr>
              <a:t>Particle size (typical)</a:t>
            </a:r>
            <a:endParaRPr lang="en-US" sz="1200" dirty="0"/>
          </a:p>
        </p:txBody>
      </p:sp>
      <p:sp>
        <p:nvSpPr>
          <p:cNvPr id="20" name="Text 18"/>
          <p:cNvSpPr txBox="1"/>
          <p:nvPr/>
        </p:nvSpPr>
        <p:spPr>
          <a:xfrm>
            <a:off x="2606040" y="4946904"/>
            <a:ext cx="1600200" cy="310896"/>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40–48 nm</a:t>
            </a:r>
            <a:endParaRPr lang="en-US" sz="1250" dirty="0"/>
          </a:p>
        </p:txBody>
      </p:sp>
      <p:sp>
        <p:nvSpPr>
          <p:cNvPr id="21" name="Shape 19"/>
          <p:cNvSpPr/>
          <p:nvPr/>
        </p:nvSpPr>
        <p:spPr>
          <a:xfrm>
            <a:off x="822960" y="5257800"/>
            <a:ext cx="3383280" cy="0"/>
          </a:xfrm>
          <a:prstGeom prst="line">
            <a:avLst/>
          </a:prstGeom>
          <a:noFill/>
          <a:ln w="9525">
            <a:solidFill>
              <a:srgbClr val="F08A83"/>
            </a:solidFill>
            <a:prstDash val="solid"/>
          </a:ln>
        </p:spPr>
      </p:sp>
      <p:sp>
        <p:nvSpPr>
          <p:cNvPr id="22" name="Shape 20"/>
          <p:cNvSpPr/>
          <p:nvPr/>
        </p:nvSpPr>
        <p:spPr>
          <a:xfrm>
            <a:off x="822960" y="5440680"/>
            <a:ext cx="3383280" cy="457200"/>
          </a:xfrm>
          <a:prstGeom prst="roundRect">
            <a:avLst>
              <a:gd name="adj" fmla="val 50000"/>
            </a:avLst>
          </a:prstGeom>
          <a:solidFill>
            <a:srgbClr val="FFFFFF"/>
          </a:solidFill>
          <a:ln w="12700">
            <a:solidFill>
              <a:srgbClr val="FFFFFF"/>
            </a:solidFill>
            <a:prstDash val="solid"/>
          </a:ln>
        </p:spPr>
      </p:sp>
      <p:sp>
        <p:nvSpPr>
          <p:cNvPr id="23" name="Text 21"/>
          <p:cNvSpPr txBox="1"/>
          <p:nvPr/>
        </p:nvSpPr>
        <p:spPr>
          <a:xfrm>
            <a:off x="822960" y="5440680"/>
            <a:ext cx="3383280" cy="457200"/>
          </a:xfrm>
          <a:prstGeom prst="rect">
            <a:avLst/>
          </a:prstGeom>
          <a:noFill/>
          <a:ln/>
        </p:spPr>
        <p:txBody>
          <a:bodyPr wrap="square" lIns="0" tIns="0" rIns="0" bIns="0" rtlCol="0" anchor="ctr"/>
          <a:lstStyle/>
          <a:p>
            <a:pPr algn="ctr" indent="0" marL="0">
              <a:buNone/>
            </a:pPr>
            <a:r>
              <a:rPr lang="en-US" sz="1250" b="1" dirty="0">
                <a:solidFill>
                  <a:srgbClr val="E8453C"/>
                </a:solidFill>
                <a:latin typeface="Calibri" pitchFamily="34" charset="0"/>
                <a:ea typeface="Calibri" pitchFamily="34" charset="-122"/>
                <a:cs typeface="Calibri" pitchFamily="34" charset="-120"/>
              </a:rPr>
              <a:t>Produced at: Fangchenggang, Guangxi</a:t>
            </a:r>
            <a:endParaRPr lang="en-US" sz="1250" dirty="0"/>
          </a:p>
        </p:txBody>
      </p:sp>
      <p:sp>
        <p:nvSpPr>
          <p:cNvPr id="24" name="Shape 22"/>
          <p:cNvSpPr/>
          <p:nvPr/>
        </p:nvSpPr>
        <p:spPr>
          <a:xfrm>
            <a:off x="4663440" y="1325880"/>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5" name="Shape 23"/>
          <p:cNvSpPr/>
          <p:nvPr/>
        </p:nvSpPr>
        <p:spPr>
          <a:xfrm>
            <a:off x="4846320" y="1508760"/>
            <a:ext cx="530352" cy="530352"/>
          </a:xfrm>
          <a:prstGeom prst="ellipse">
            <a:avLst/>
          </a:prstGeom>
          <a:solidFill>
            <a:srgbClr val="0B4DA2"/>
          </a:solidFill>
          <a:ln w="12700">
            <a:solidFill>
              <a:srgbClr val="0B4DA2"/>
            </a:solidFill>
            <a:prstDash val="solid"/>
          </a:ln>
        </p:spPr>
      </p:sp>
      <p:sp>
        <p:nvSpPr>
          <p:cNvPr id="26" name="Text 24"/>
          <p:cNvSpPr txBox="1"/>
          <p:nvPr/>
        </p:nvSpPr>
        <p:spPr>
          <a:xfrm>
            <a:off x="4846320" y="1508760"/>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1</a:t>
            </a:r>
            <a:endParaRPr lang="en-US" sz="1508" dirty="0"/>
          </a:p>
        </p:txBody>
      </p:sp>
      <p:sp>
        <p:nvSpPr>
          <p:cNvPr id="27" name="Text 25"/>
          <p:cNvSpPr txBox="1"/>
          <p:nvPr/>
        </p:nvSpPr>
        <p:spPr>
          <a:xfrm>
            <a:off x="5577840" y="1426464"/>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High structure, fast extrusion</a:t>
            </a:r>
            <a:endParaRPr lang="en-US" sz="1600" dirty="0"/>
          </a:p>
        </p:txBody>
      </p:sp>
      <p:sp>
        <p:nvSpPr>
          <p:cNvPr id="28" name="Text 26"/>
          <p:cNvSpPr txBox="1"/>
          <p:nvPr/>
        </p:nvSpPr>
        <p:spPr>
          <a:xfrm>
            <a:off x="5577840" y="1783080"/>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OAN 116–126 mL/100 g, the highest structure in our range: fast extrusion, low die swell, a smooth surface and stable dimensions.</a:t>
            </a:r>
            <a:endParaRPr lang="en-US" sz="1250" dirty="0"/>
          </a:p>
        </p:txBody>
      </p:sp>
      <p:sp>
        <p:nvSpPr>
          <p:cNvPr id="29" name="Shape 27"/>
          <p:cNvSpPr/>
          <p:nvPr/>
        </p:nvSpPr>
        <p:spPr>
          <a:xfrm>
            <a:off x="4663440" y="2587752"/>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0" name="Shape 28"/>
          <p:cNvSpPr/>
          <p:nvPr/>
        </p:nvSpPr>
        <p:spPr>
          <a:xfrm>
            <a:off x="4846320" y="2770632"/>
            <a:ext cx="530352" cy="530352"/>
          </a:xfrm>
          <a:prstGeom prst="ellipse">
            <a:avLst/>
          </a:prstGeom>
          <a:solidFill>
            <a:srgbClr val="0B4DA2"/>
          </a:solidFill>
          <a:ln w="12700">
            <a:solidFill>
              <a:srgbClr val="0B4DA2"/>
            </a:solidFill>
            <a:prstDash val="solid"/>
          </a:ln>
        </p:spPr>
      </p:sp>
      <p:sp>
        <p:nvSpPr>
          <p:cNvPr id="31" name="Text 29"/>
          <p:cNvSpPr txBox="1"/>
          <p:nvPr/>
        </p:nvSpPr>
        <p:spPr>
          <a:xfrm>
            <a:off x="4846320" y="2770632"/>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2</a:t>
            </a:r>
            <a:endParaRPr lang="en-US" sz="1508" dirty="0"/>
          </a:p>
        </p:txBody>
      </p:sp>
      <p:sp>
        <p:nvSpPr>
          <p:cNvPr id="32" name="Text 30"/>
          <p:cNvSpPr txBox="1"/>
          <p:nvPr/>
        </p:nvSpPr>
        <p:spPr>
          <a:xfrm>
            <a:off x="5577840" y="2688336"/>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Low heat build-up, low ash and moisture</a:t>
            </a:r>
            <a:endParaRPr lang="en-US" sz="1600" dirty="0"/>
          </a:p>
        </p:txBody>
      </p:sp>
      <p:sp>
        <p:nvSpPr>
          <p:cNvPr id="33" name="Text 31"/>
          <p:cNvSpPr txBox="1"/>
          <p:nvPr/>
        </p:nvSpPr>
        <p:spPr>
          <a:xfrm>
            <a:off x="5577840" y="3044952"/>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Coarser particles mean lower compound viscosity, lower hysteresis and good flex-fatigue life; heating loss ≤ 0.8 %, ash ≤ 0.5 %, 45 µm residue ≤ 300 ppm.</a:t>
            </a:r>
            <a:endParaRPr lang="en-US" sz="1250" dirty="0"/>
          </a:p>
        </p:txBody>
      </p:sp>
      <p:sp>
        <p:nvSpPr>
          <p:cNvPr id="34" name="Shape 32"/>
          <p:cNvSpPr/>
          <p:nvPr/>
        </p:nvSpPr>
        <p:spPr>
          <a:xfrm>
            <a:off x="4663440" y="3849624"/>
            <a:ext cx="6976872" cy="1143000"/>
          </a:xfrm>
          <a:prstGeom prst="roundRect">
            <a:avLst>
              <a:gd name="adj" fmla="val 11200"/>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35" name="Shape 33"/>
          <p:cNvSpPr/>
          <p:nvPr/>
        </p:nvSpPr>
        <p:spPr>
          <a:xfrm>
            <a:off x="4846320" y="4032504"/>
            <a:ext cx="530352" cy="530352"/>
          </a:xfrm>
          <a:prstGeom prst="ellipse">
            <a:avLst/>
          </a:prstGeom>
          <a:solidFill>
            <a:srgbClr val="0B4DA2"/>
          </a:solidFill>
          <a:ln w="12700">
            <a:solidFill>
              <a:srgbClr val="0B4DA2"/>
            </a:solidFill>
            <a:prstDash val="solid"/>
          </a:ln>
        </p:spPr>
      </p:sp>
      <p:sp>
        <p:nvSpPr>
          <p:cNvPr id="36" name="Text 34"/>
          <p:cNvSpPr txBox="1"/>
          <p:nvPr/>
        </p:nvSpPr>
        <p:spPr>
          <a:xfrm>
            <a:off x="4846320" y="4032504"/>
            <a:ext cx="530352" cy="530352"/>
          </a:xfrm>
          <a:prstGeom prst="rect">
            <a:avLst/>
          </a:prstGeom>
          <a:noFill/>
          <a:ln/>
        </p:spPr>
        <p:txBody>
          <a:bodyPr wrap="square" lIns="0" tIns="0" rIns="0" bIns="0" rtlCol="0" anchor="ctr"/>
          <a:lstStyle/>
          <a:p>
            <a:pPr algn="ctr" indent="0" marL="0">
              <a:buNone/>
            </a:pPr>
            <a:r>
              <a:rPr lang="en-US" sz="1508" b="1" dirty="0">
                <a:solidFill>
                  <a:srgbClr val="FFFFFF"/>
                </a:solidFill>
                <a:latin typeface="Arial" pitchFamily="34" charset="0"/>
                <a:ea typeface="Arial" pitchFamily="34" charset="-122"/>
                <a:cs typeface="Arial" pitchFamily="34" charset="-120"/>
              </a:rPr>
              <a:t>3</a:t>
            </a:r>
            <a:endParaRPr lang="en-US" sz="1508" dirty="0"/>
          </a:p>
        </p:txBody>
      </p:sp>
      <p:sp>
        <p:nvSpPr>
          <p:cNvPr id="37" name="Text 35"/>
          <p:cNvSpPr txBox="1"/>
          <p:nvPr/>
        </p:nvSpPr>
        <p:spPr>
          <a:xfrm>
            <a:off x="5577840" y="3950208"/>
            <a:ext cx="5897880" cy="365760"/>
          </a:xfrm>
          <a:prstGeom prst="rect">
            <a:avLst/>
          </a:prstGeom>
          <a:noFill/>
          <a:ln/>
        </p:spPr>
        <p:txBody>
          <a:bodyPr wrap="square" lIns="0" tIns="0" rIns="0" bIns="0" rtlCol="0" anchor="ctr"/>
          <a:lstStyle/>
          <a:p>
            <a:pPr algn="l" indent="0" marL="0">
              <a:buNone/>
            </a:pPr>
            <a:r>
              <a:rPr lang="en-US" sz="1600" b="1" dirty="0">
                <a:solidFill>
                  <a:srgbClr val="10233F"/>
                </a:solidFill>
                <a:latin typeface="Arial" pitchFamily="34" charset="0"/>
                <a:ea typeface="Arial" pitchFamily="34" charset="-122"/>
                <a:cs typeface="Arial" pitchFamily="34" charset="-120"/>
              </a:rPr>
              <a:t>Cost-efficient and close to Southeast Asia</a:t>
            </a:r>
            <a:endParaRPr lang="en-US" sz="1600" dirty="0"/>
          </a:p>
        </p:txBody>
      </p:sp>
      <p:sp>
        <p:nvSpPr>
          <p:cNvPr id="38" name="Text 36"/>
          <p:cNvSpPr txBox="1"/>
          <p:nvPr/>
        </p:nvSpPr>
        <p:spPr>
          <a:xfrm>
            <a:off x="5577840" y="4306824"/>
            <a:ext cx="5897880" cy="658368"/>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Takes high loadings while keeping flow. Ships 35 km to the port for direct sea freight across Southeast Asia.</a:t>
            </a:r>
            <a:endParaRPr lang="en-US" sz="1250" dirty="0"/>
          </a:p>
        </p:txBody>
      </p:sp>
      <p:sp>
        <p:nvSpPr>
          <p:cNvPr id="39" name="Shape 37"/>
          <p:cNvSpPr/>
          <p:nvPr/>
        </p:nvSpPr>
        <p:spPr>
          <a:xfrm>
            <a:off x="4663440" y="5120640"/>
            <a:ext cx="6976872" cy="1097280"/>
          </a:xfrm>
          <a:prstGeom prst="roundRect">
            <a:avLst>
              <a:gd name="adj" fmla="val 1166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0" name="Text 38"/>
          <p:cNvSpPr txBox="1"/>
          <p:nvPr/>
        </p:nvSpPr>
        <p:spPr>
          <a:xfrm>
            <a:off x="4846320" y="5212080"/>
            <a:ext cx="2743200" cy="274320"/>
          </a:xfrm>
          <a:prstGeom prst="rect">
            <a:avLst/>
          </a:prstGeom>
          <a:noFill/>
          <a:ln/>
        </p:spPr>
        <p:txBody>
          <a:bodyPr wrap="square" lIns="0" tIns="0" rIns="0" bIns="0" rtlCol="0" anchor="ctr"/>
          <a:lstStyle/>
          <a:p>
            <a:pPr algn="l" indent="0" marL="0">
              <a:buNone/>
            </a:pPr>
            <a:r>
              <a:rPr lang="en-US" sz="1250" b="1" dirty="0">
                <a:solidFill>
                  <a:srgbClr val="10233F"/>
                </a:solidFill>
                <a:latin typeface="Calibri" pitchFamily="34" charset="0"/>
                <a:ea typeface="Calibri" pitchFamily="34" charset="-122"/>
                <a:cs typeface="Calibri" pitchFamily="34" charset="-120"/>
              </a:rPr>
              <a:t>Typical applications</a:t>
            </a:r>
            <a:endParaRPr lang="en-US" sz="1250" dirty="0"/>
          </a:p>
        </p:txBody>
      </p:sp>
      <p:sp>
        <p:nvSpPr>
          <p:cNvPr id="41" name="Shape 39"/>
          <p:cNvSpPr/>
          <p:nvPr/>
        </p:nvSpPr>
        <p:spPr>
          <a:xfrm>
            <a:off x="4846320" y="5532120"/>
            <a:ext cx="1034369" cy="256032"/>
          </a:xfrm>
          <a:prstGeom prst="roundRect">
            <a:avLst>
              <a:gd name="adj" fmla="val 50000"/>
            </a:avLst>
          </a:prstGeom>
          <a:solidFill>
            <a:srgbClr val="E8F1FC"/>
          </a:solidFill>
          <a:ln w="9525">
            <a:solidFill>
              <a:srgbClr val="C9DCF5"/>
            </a:solidFill>
            <a:prstDash val="solid"/>
          </a:ln>
        </p:spPr>
      </p:sp>
      <p:sp>
        <p:nvSpPr>
          <p:cNvPr id="42" name="Text 40"/>
          <p:cNvSpPr txBox="1"/>
          <p:nvPr/>
        </p:nvSpPr>
        <p:spPr>
          <a:xfrm>
            <a:off x="4846320" y="5532120"/>
            <a:ext cx="1034369"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Innerliners</a:t>
            </a:r>
            <a:endParaRPr lang="en-US" sz="1100" dirty="0"/>
          </a:p>
        </p:txBody>
      </p:sp>
      <p:sp>
        <p:nvSpPr>
          <p:cNvPr id="43" name="Shape 41"/>
          <p:cNvSpPr/>
          <p:nvPr/>
        </p:nvSpPr>
        <p:spPr>
          <a:xfrm>
            <a:off x="5990417" y="5532120"/>
            <a:ext cx="1613733" cy="256032"/>
          </a:xfrm>
          <a:prstGeom prst="roundRect">
            <a:avLst>
              <a:gd name="adj" fmla="val 50000"/>
            </a:avLst>
          </a:prstGeom>
          <a:solidFill>
            <a:srgbClr val="E8F1FC"/>
          </a:solidFill>
          <a:ln w="9525">
            <a:solidFill>
              <a:srgbClr val="C9DCF5"/>
            </a:solidFill>
            <a:prstDash val="solid"/>
          </a:ln>
        </p:spPr>
      </p:sp>
      <p:sp>
        <p:nvSpPr>
          <p:cNvPr id="44" name="Text 42"/>
          <p:cNvSpPr txBox="1"/>
          <p:nvPr/>
        </p:nvSpPr>
        <p:spPr>
          <a:xfrm>
            <a:off x="5990417" y="5532120"/>
            <a:ext cx="1613733"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Sidewalls &amp; carcass</a:t>
            </a:r>
            <a:endParaRPr lang="en-US" sz="1100" dirty="0"/>
          </a:p>
        </p:txBody>
      </p:sp>
      <p:sp>
        <p:nvSpPr>
          <p:cNvPr id="45" name="Shape 43"/>
          <p:cNvSpPr/>
          <p:nvPr/>
        </p:nvSpPr>
        <p:spPr>
          <a:xfrm>
            <a:off x="7713878" y="5532120"/>
            <a:ext cx="640080" cy="256032"/>
          </a:xfrm>
          <a:prstGeom prst="roundRect">
            <a:avLst>
              <a:gd name="adj" fmla="val 50000"/>
            </a:avLst>
          </a:prstGeom>
          <a:solidFill>
            <a:srgbClr val="E8F1FC"/>
          </a:solidFill>
          <a:ln w="9525">
            <a:solidFill>
              <a:srgbClr val="C9DCF5"/>
            </a:solidFill>
            <a:prstDash val="solid"/>
          </a:ln>
        </p:spPr>
      </p:sp>
      <p:sp>
        <p:nvSpPr>
          <p:cNvPr id="46" name="Text 44"/>
          <p:cNvSpPr txBox="1"/>
          <p:nvPr/>
        </p:nvSpPr>
        <p:spPr>
          <a:xfrm>
            <a:off x="7713878" y="5532120"/>
            <a:ext cx="640080"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Hoses</a:t>
            </a:r>
            <a:endParaRPr lang="en-US" sz="1100" dirty="0"/>
          </a:p>
        </p:txBody>
      </p:sp>
      <p:sp>
        <p:nvSpPr>
          <p:cNvPr id="47" name="Shape 45"/>
          <p:cNvSpPr/>
          <p:nvPr/>
        </p:nvSpPr>
        <p:spPr>
          <a:xfrm>
            <a:off x="8463686" y="5532120"/>
            <a:ext cx="1396472" cy="256032"/>
          </a:xfrm>
          <a:prstGeom prst="roundRect">
            <a:avLst>
              <a:gd name="adj" fmla="val 50000"/>
            </a:avLst>
          </a:prstGeom>
          <a:solidFill>
            <a:srgbClr val="E8F1FC"/>
          </a:solidFill>
          <a:ln w="9525">
            <a:solidFill>
              <a:srgbClr val="C9DCF5"/>
            </a:solidFill>
            <a:prstDash val="solid"/>
          </a:ln>
        </p:spPr>
      </p:sp>
      <p:sp>
        <p:nvSpPr>
          <p:cNvPr id="48" name="Text 46"/>
          <p:cNvSpPr txBox="1"/>
          <p:nvPr/>
        </p:nvSpPr>
        <p:spPr>
          <a:xfrm>
            <a:off x="8463686" y="5532120"/>
            <a:ext cx="1396472"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Seals &amp; profiles</a:t>
            </a:r>
            <a:endParaRPr lang="en-US" sz="1100" dirty="0"/>
          </a:p>
        </p:txBody>
      </p:sp>
      <p:sp>
        <p:nvSpPr>
          <p:cNvPr id="49" name="Shape 47"/>
          <p:cNvSpPr/>
          <p:nvPr/>
        </p:nvSpPr>
        <p:spPr>
          <a:xfrm>
            <a:off x="9969886" y="5532120"/>
            <a:ext cx="1324051" cy="256032"/>
          </a:xfrm>
          <a:prstGeom prst="roundRect">
            <a:avLst>
              <a:gd name="adj" fmla="val 50000"/>
            </a:avLst>
          </a:prstGeom>
          <a:solidFill>
            <a:srgbClr val="E8F1FC"/>
          </a:solidFill>
          <a:ln w="9525">
            <a:solidFill>
              <a:srgbClr val="C9DCF5"/>
            </a:solidFill>
            <a:prstDash val="solid"/>
          </a:ln>
        </p:spPr>
      </p:sp>
      <p:sp>
        <p:nvSpPr>
          <p:cNvPr id="50" name="Text 48"/>
          <p:cNvSpPr txBox="1"/>
          <p:nvPr/>
        </p:nvSpPr>
        <p:spPr>
          <a:xfrm>
            <a:off x="9969886" y="5532120"/>
            <a:ext cx="1324051"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Cable sheathing</a:t>
            </a:r>
            <a:endParaRPr lang="en-US" sz="1100" dirty="0"/>
          </a:p>
        </p:txBody>
      </p:sp>
      <p:sp>
        <p:nvSpPr>
          <p:cNvPr id="51" name="Shape 49"/>
          <p:cNvSpPr/>
          <p:nvPr/>
        </p:nvSpPr>
        <p:spPr>
          <a:xfrm>
            <a:off x="4846320" y="5879592"/>
            <a:ext cx="1686154" cy="256032"/>
          </a:xfrm>
          <a:prstGeom prst="roundRect">
            <a:avLst>
              <a:gd name="adj" fmla="val 50000"/>
            </a:avLst>
          </a:prstGeom>
          <a:solidFill>
            <a:srgbClr val="E8F1FC"/>
          </a:solidFill>
          <a:ln w="9525">
            <a:solidFill>
              <a:srgbClr val="C9DCF5"/>
            </a:solidFill>
            <a:prstDash val="solid"/>
          </a:ln>
        </p:spPr>
      </p:sp>
      <p:sp>
        <p:nvSpPr>
          <p:cNvPr id="52" name="Text 50"/>
          <p:cNvSpPr txBox="1"/>
          <p:nvPr/>
        </p:nvSpPr>
        <p:spPr>
          <a:xfrm>
            <a:off x="4846320" y="5879592"/>
            <a:ext cx="1686154" cy="256032"/>
          </a:xfrm>
          <a:prstGeom prst="rect">
            <a:avLst/>
          </a:prstGeom>
          <a:noFill/>
          <a:ln/>
        </p:spPr>
        <p:txBody>
          <a:bodyPr wrap="square" lIns="0" tIns="0" rIns="0" bIns="0" rtlCol="0" anchor="ctr"/>
          <a:lstStyle/>
          <a:p>
            <a:pPr algn="ctr" indent="0" marL="0">
              <a:buNone/>
            </a:pPr>
            <a:r>
              <a:rPr lang="en-US" sz="1100" b="1" dirty="0">
                <a:solidFill>
                  <a:srgbClr val="0B4DA2"/>
                </a:solidFill>
                <a:latin typeface="Calibri" pitchFamily="34" charset="0"/>
                <a:ea typeface="Calibri" pitchFamily="34" charset="-122"/>
                <a:cs typeface="Calibri" pitchFamily="34" charset="-120"/>
              </a:rPr>
              <a:t>Anti-vibration parts</a:t>
            </a:r>
            <a:endParaRPr lang="en-US" sz="11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Completing the Range: N326 &amp; N660</a:t>
            </a:r>
            <a:endParaRPr lang="en-US" sz="2800" dirty="0"/>
          </a:p>
        </p:txBody>
      </p:sp>
      <p:sp>
        <p:nvSpPr>
          <p:cNvPr id="3" name="Shape 1"/>
          <p:cNvSpPr/>
          <p:nvPr/>
        </p:nvSpPr>
        <p:spPr>
          <a:xfrm>
            <a:off x="548640" y="1325880"/>
            <a:ext cx="5440680" cy="4892040"/>
          </a:xfrm>
          <a:prstGeom prst="roundRect">
            <a:avLst>
              <a:gd name="adj" fmla="val 261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777240" y="1554480"/>
            <a:ext cx="4983480" cy="868680"/>
          </a:xfrm>
          <a:prstGeom prst="roundRect">
            <a:avLst>
              <a:gd name="adj" fmla="val 12632"/>
            </a:avLst>
          </a:prstGeom>
          <a:solidFill>
            <a:srgbClr val="0B4DA2"/>
          </a:solidFill>
          <a:ln w="12700">
            <a:solidFill>
              <a:srgbClr val="0B4DA2"/>
            </a:solidFill>
            <a:prstDash val="solid"/>
          </a:ln>
        </p:spPr>
      </p:sp>
      <p:sp>
        <p:nvSpPr>
          <p:cNvPr id="5" name="Text 3"/>
          <p:cNvSpPr txBox="1"/>
          <p:nvPr/>
        </p:nvSpPr>
        <p:spPr>
          <a:xfrm>
            <a:off x="960120" y="1554480"/>
            <a:ext cx="173736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N326</a:t>
            </a:r>
            <a:endParaRPr lang="en-US" sz="3400" dirty="0"/>
          </a:p>
        </p:txBody>
      </p:sp>
      <p:sp>
        <p:nvSpPr>
          <p:cNvPr id="6" name="Text 4"/>
          <p:cNvSpPr txBox="1"/>
          <p:nvPr/>
        </p:nvSpPr>
        <p:spPr>
          <a:xfrm>
            <a:off x="2651760" y="1554480"/>
            <a:ext cx="2926080" cy="868680"/>
          </a:xfrm>
          <a:prstGeom prst="rect">
            <a:avLst/>
          </a:prstGeom>
          <a:noFill/>
          <a:ln/>
        </p:spPr>
        <p:txBody>
          <a:bodyPr wrap="square" lIns="0" tIns="0" rIns="0" bIns="0" rtlCol="0" anchor="ctr"/>
          <a:lstStyle/>
          <a:p>
            <a:pPr algn="l" indent="0" marL="0">
              <a:buNone/>
            </a:pPr>
            <a:r>
              <a:rPr lang="en-US" sz="1400" b="1" dirty="0">
                <a:solidFill>
                  <a:srgbClr val="BFD9FF"/>
                </a:solidFill>
                <a:latin typeface="Calibri" pitchFamily="34" charset="0"/>
                <a:ea typeface="Calibri" pitchFamily="34" charset="-122"/>
                <a:cs typeface="Calibri" pitchFamily="34" charset="-120"/>
              </a:rPr>
              <a:t>HAF-LS · low-structure HAF</a:t>
            </a:r>
            <a:endParaRPr lang="en-US" sz="1400" dirty="0"/>
          </a:p>
        </p:txBody>
      </p:sp>
      <p:sp>
        <p:nvSpPr>
          <p:cNvPr id="7" name="Shape 5"/>
          <p:cNvSpPr/>
          <p:nvPr/>
        </p:nvSpPr>
        <p:spPr>
          <a:xfrm>
            <a:off x="777240" y="2624328"/>
            <a:ext cx="2414016" cy="731520"/>
          </a:xfrm>
          <a:prstGeom prst="roundRect">
            <a:avLst>
              <a:gd name="adj" fmla="val 12500"/>
            </a:avLst>
          </a:prstGeom>
          <a:solidFill>
            <a:srgbClr val="F3F8FE"/>
          </a:solidFill>
          <a:ln w="9525">
            <a:solidFill>
              <a:srgbClr val="D6E4F5"/>
            </a:solidFill>
            <a:prstDash val="solid"/>
          </a:ln>
        </p:spPr>
      </p:sp>
      <p:sp>
        <p:nvSpPr>
          <p:cNvPr id="8" name="Text 6"/>
          <p:cNvSpPr txBox="1"/>
          <p:nvPr/>
        </p:nvSpPr>
        <p:spPr>
          <a:xfrm>
            <a:off x="914400" y="2697480"/>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Iodine adsorption</a:t>
            </a:r>
            <a:endParaRPr lang="en-US" sz="1100" dirty="0"/>
          </a:p>
        </p:txBody>
      </p:sp>
      <p:sp>
        <p:nvSpPr>
          <p:cNvPr id="9" name="Text 7"/>
          <p:cNvSpPr txBox="1"/>
          <p:nvPr/>
        </p:nvSpPr>
        <p:spPr>
          <a:xfrm>
            <a:off x="914400" y="2953512"/>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82 ± 6 g/kg</a:t>
            </a:r>
            <a:endParaRPr lang="en-US" sz="1500" dirty="0"/>
          </a:p>
        </p:txBody>
      </p:sp>
      <p:sp>
        <p:nvSpPr>
          <p:cNvPr id="10" name="Shape 8"/>
          <p:cNvSpPr/>
          <p:nvPr/>
        </p:nvSpPr>
        <p:spPr>
          <a:xfrm>
            <a:off x="3319272" y="2624328"/>
            <a:ext cx="2414016" cy="731520"/>
          </a:xfrm>
          <a:prstGeom prst="roundRect">
            <a:avLst>
              <a:gd name="adj" fmla="val 12500"/>
            </a:avLst>
          </a:prstGeom>
          <a:solidFill>
            <a:srgbClr val="F3F8FE"/>
          </a:solidFill>
          <a:ln w="9525">
            <a:solidFill>
              <a:srgbClr val="D6E4F5"/>
            </a:solidFill>
            <a:prstDash val="solid"/>
          </a:ln>
        </p:spPr>
      </p:sp>
      <p:sp>
        <p:nvSpPr>
          <p:cNvPr id="11" name="Text 9"/>
          <p:cNvSpPr txBox="1"/>
          <p:nvPr/>
        </p:nvSpPr>
        <p:spPr>
          <a:xfrm>
            <a:off x="3456432" y="2697480"/>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OAN</a:t>
            </a:r>
            <a:endParaRPr lang="en-US" sz="1100" dirty="0"/>
          </a:p>
        </p:txBody>
      </p:sp>
      <p:sp>
        <p:nvSpPr>
          <p:cNvPr id="12" name="Text 10"/>
          <p:cNvSpPr txBox="1"/>
          <p:nvPr/>
        </p:nvSpPr>
        <p:spPr>
          <a:xfrm>
            <a:off x="3456432" y="2953512"/>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72 ± 6 mL/100 g</a:t>
            </a:r>
            <a:endParaRPr lang="en-US" sz="1500" dirty="0"/>
          </a:p>
        </p:txBody>
      </p:sp>
      <p:sp>
        <p:nvSpPr>
          <p:cNvPr id="13" name="Shape 11"/>
          <p:cNvSpPr/>
          <p:nvPr/>
        </p:nvSpPr>
        <p:spPr>
          <a:xfrm>
            <a:off x="777240" y="3465576"/>
            <a:ext cx="2414016" cy="731520"/>
          </a:xfrm>
          <a:prstGeom prst="roundRect">
            <a:avLst>
              <a:gd name="adj" fmla="val 12500"/>
            </a:avLst>
          </a:prstGeom>
          <a:solidFill>
            <a:srgbClr val="F3F8FE"/>
          </a:solidFill>
          <a:ln w="9525">
            <a:solidFill>
              <a:srgbClr val="D6E4F5"/>
            </a:solidFill>
            <a:prstDash val="solid"/>
          </a:ln>
        </p:spPr>
      </p:sp>
      <p:sp>
        <p:nvSpPr>
          <p:cNvPr id="14" name="Text 12"/>
          <p:cNvSpPr txBox="1"/>
          <p:nvPr/>
        </p:nvSpPr>
        <p:spPr>
          <a:xfrm>
            <a:off x="914400" y="3538728"/>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COAN</a:t>
            </a:r>
            <a:endParaRPr lang="en-US" sz="1100" dirty="0"/>
          </a:p>
        </p:txBody>
      </p:sp>
      <p:sp>
        <p:nvSpPr>
          <p:cNvPr id="15" name="Text 13"/>
          <p:cNvSpPr txBox="1"/>
          <p:nvPr/>
        </p:nvSpPr>
        <p:spPr>
          <a:xfrm>
            <a:off x="914400" y="3794760"/>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68 ± 6 mL/100 g</a:t>
            </a:r>
            <a:endParaRPr lang="en-US" sz="1500" dirty="0"/>
          </a:p>
        </p:txBody>
      </p:sp>
      <p:sp>
        <p:nvSpPr>
          <p:cNvPr id="16" name="Shape 14"/>
          <p:cNvSpPr/>
          <p:nvPr/>
        </p:nvSpPr>
        <p:spPr>
          <a:xfrm>
            <a:off x="3319272" y="3465576"/>
            <a:ext cx="2414016" cy="731520"/>
          </a:xfrm>
          <a:prstGeom prst="roundRect">
            <a:avLst>
              <a:gd name="adj" fmla="val 12500"/>
            </a:avLst>
          </a:prstGeom>
          <a:solidFill>
            <a:srgbClr val="F3F8FE"/>
          </a:solidFill>
          <a:ln w="9525">
            <a:solidFill>
              <a:srgbClr val="D6E4F5"/>
            </a:solidFill>
            <a:prstDash val="solid"/>
          </a:ln>
        </p:spPr>
      </p:sp>
      <p:sp>
        <p:nvSpPr>
          <p:cNvPr id="17" name="Text 15"/>
          <p:cNvSpPr txBox="1"/>
          <p:nvPr/>
        </p:nvSpPr>
        <p:spPr>
          <a:xfrm>
            <a:off x="3456432" y="3538728"/>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Tint strength</a:t>
            </a:r>
            <a:endParaRPr lang="en-US" sz="1100" dirty="0"/>
          </a:p>
        </p:txBody>
      </p:sp>
      <p:sp>
        <p:nvSpPr>
          <p:cNvPr id="18" name="Text 16"/>
          <p:cNvSpPr txBox="1"/>
          <p:nvPr/>
        </p:nvSpPr>
        <p:spPr>
          <a:xfrm>
            <a:off x="3456432" y="3794760"/>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111 ± 8 %</a:t>
            </a:r>
            <a:endParaRPr lang="en-US" sz="1500" dirty="0"/>
          </a:p>
        </p:txBody>
      </p:sp>
      <p:sp>
        <p:nvSpPr>
          <p:cNvPr id="19" name="Text 17"/>
          <p:cNvSpPr txBox="1"/>
          <p:nvPr/>
        </p:nvSpPr>
        <p:spPr>
          <a:xfrm>
            <a:off x="822960" y="4361688"/>
            <a:ext cx="4892040" cy="566928"/>
          </a:xfrm>
          <a:prstGeom prst="rect">
            <a:avLst/>
          </a:prstGeom>
          <a:noFill/>
          <a:ln/>
        </p:spPr>
        <p:txBody>
          <a:bodyPr wrap="square" lIns="0" tIns="0" rIns="0" bIns="0" rtlCol="0" anchor="t"/>
          <a:lstStyle/>
          <a:p>
            <a:pPr algn="l" indent="0" marL="0">
              <a:buNone/>
            </a:pPr>
            <a:r>
              <a:rPr lang="en-US" sz="1400" b="1" dirty="0">
                <a:solidFill>
                  <a:srgbClr val="E8453C"/>
                </a:solidFill>
                <a:latin typeface="Calibri" pitchFamily="34" charset="0"/>
                <a:ea typeface="Calibri" pitchFamily="34" charset="-122"/>
                <a:cs typeface="Calibri" pitchFamily="34" charset="-120"/>
              </a:rPr>
              <a:t>113 % tint strength — above the 108 % industry average</a:t>
            </a:r>
            <a:endParaRPr lang="en-US" sz="1400" dirty="0"/>
          </a:p>
        </p:txBody>
      </p:sp>
      <p:sp>
        <p:nvSpPr>
          <p:cNvPr id="20" name="Text 18"/>
          <p:cNvSpPr txBox="1"/>
          <p:nvPr/>
        </p:nvSpPr>
        <p:spPr>
          <a:xfrm>
            <a:off x="822960" y="4937760"/>
            <a:ext cx="4892040" cy="77724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Low structure gives high tensile and tear strength at a lower modulus: steel-cord skim and bead compounds, plus general rubber goods.</a:t>
            </a:r>
            <a:endParaRPr lang="en-US" sz="1300" dirty="0"/>
          </a:p>
        </p:txBody>
      </p:sp>
      <p:sp>
        <p:nvSpPr>
          <p:cNvPr id="21" name="Text 19"/>
          <p:cNvSpPr txBox="1"/>
          <p:nvPr/>
        </p:nvSpPr>
        <p:spPr>
          <a:xfrm>
            <a:off x="822960" y="5742432"/>
            <a:ext cx="4892040" cy="320040"/>
          </a:xfrm>
          <a:prstGeom prst="rect">
            <a:avLst/>
          </a:prstGeom>
          <a:noFill/>
          <a:ln/>
        </p:spPr>
        <p:txBody>
          <a:bodyPr wrap="square" lIns="0" tIns="0" rIns="0" bIns="0" rtlCol="0" anchor="ctr"/>
          <a:lstStyle/>
          <a:p>
            <a:pPr algn="l" indent="0" marL="0">
              <a:buNone/>
            </a:pPr>
            <a:r>
              <a:rPr lang="en-US" sz="1200" b="1" dirty="0">
                <a:solidFill>
                  <a:srgbClr val="0B4DA2"/>
                </a:solidFill>
                <a:latin typeface="Calibri" pitchFamily="34" charset="0"/>
                <a:ea typeface="Calibri" pitchFamily="34" charset="-122"/>
                <a:cs typeface="Calibri" pitchFamily="34" charset="-120"/>
              </a:rPr>
              <a:t>Produced at all three bases</a:t>
            </a:r>
            <a:endParaRPr lang="en-US" sz="1200" dirty="0"/>
          </a:p>
        </p:txBody>
      </p:sp>
      <p:sp>
        <p:nvSpPr>
          <p:cNvPr id="22" name="Shape 20"/>
          <p:cNvSpPr/>
          <p:nvPr/>
        </p:nvSpPr>
        <p:spPr>
          <a:xfrm>
            <a:off x="6199632" y="1325880"/>
            <a:ext cx="5440680" cy="4892040"/>
          </a:xfrm>
          <a:prstGeom prst="roundRect">
            <a:avLst>
              <a:gd name="adj" fmla="val 261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3" name="Shape 21"/>
          <p:cNvSpPr/>
          <p:nvPr/>
        </p:nvSpPr>
        <p:spPr>
          <a:xfrm>
            <a:off x="6428232" y="1554480"/>
            <a:ext cx="4983480" cy="868680"/>
          </a:xfrm>
          <a:prstGeom prst="roundRect">
            <a:avLst>
              <a:gd name="adj" fmla="val 12632"/>
            </a:avLst>
          </a:prstGeom>
          <a:solidFill>
            <a:srgbClr val="E8453C"/>
          </a:solidFill>
          <a:ln w="12700">
            <a:solidFill>
              <a:srgbClr val="E8453C"/>
            </a:solidFill>
            <a:prstDash val="solid"/>
          </a:ln>
        </p:spPr>
      </p:sp>
      <p:sp>
        <p:nvSpPr>
          <p:cNvPr id="24" name="Text 22"/>
          <p:cNvSpPr txBox="1"/>
          <p:nvPr/>
        </p:nvSpPr>
        <p:spPr>
          <a:xfrm>
            <a:off x="6611112" y="1554480"/>
            <a:ext cx="173736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N660</a:t>
            </a:r>
            <a:endParaRPr lang="en-US" sz="3400" dirty="0"/>
          </a:p>
        </p:txBody>
      </p:sp>
      <p:sp>
        <p:nvSpPr>
          <p:cNvPr id="25" name="Text 23"/>
          <p:cNvSpPr txBox="1"/>
          <p:nvPr/>
        </p:nvSpPr>
        <p:spPr>
          <a:xfrm>
            <a:off x="8302752" y="1554480"/>
            <a:ext cx="2926080" cy="868680"/>
          </a:xfrm>
          <a:prstGeom prst="rect">
            <a:avLst/>
          </a:prstGeom>
          <a:noFill/>
          <a:ln/>
        </p:spPr>
        <p:txBody>
          <a:bodyPr wrap="square" lIns="0" tIns="0" rIns="0" bIns="0" rtlCol="0" anchor="ctr"/>
          <a:lstStyle/>
          <a:p>
            <a:pPr algn="l" indent="0" marL="0">
              <a:buNone/>
            </a:pPr>
            <a:r>
              <a:rPr lang="en-US" sz="1400" b="1" dirty="0">
                <a:solidFill>
                  <a:srgbClr val="FFE3E0"/>
                </a:solidFill>
                <a:latin typeface="Calibri" pitchFamily="34" charset="0"/>
                <a:ea typeface="Calibri" pitchFamily="34" charset="-122"/>
                <a:cs typeface="Calibri" pitchFamily="34" charset="-120"/>
              </a:rPr>
              <a:t>GPF · General Purpose Furnace</a:t>
            </a:r>
            <a:endParaRPr lang="en-US" sz="1400" dirty="0"/>
          </a:p>
        </p:txBody>
      </p:sp>
      <p:sp>
        <p:nvSpPr>
          <p:cNvPr id="26" name="Shape 24"/>
          <p:cNvSpPr/>
          <p:nvPr/>
        </p:nvSpPr>
        <p:spPr>
          <a:xfrm>
            <a:off x="6428232" y="2624328"/>
            <a:ext cx="2414016" cy="731520"/>
          </a:xfrm>
          <a:prstGeom prst="roundRect">
            <a:avLst>
              <a:gd name="adj" fmla="val 12500"/>
            </a:avLst>
          </a:prstGeom>
          <a:solidFill>
            <a:srgbClr val="F3F8FE"/>
          </a:solidFill>
          <a:ln w="9525">
            <a:solidFill>
              <a:srgbClr val="D6E4F5"/>
            </a:solidFill>
            <a:prstDash val="solid"/>
          </a:ln>
        </p:spPr>
      </p:sp>
      <p:sp>
        <p:nvSpPr>
          <p:cNvPr id="27" name="Text 25"/>
          <p:cNvSpPr txBox="1"/>
          <p:nvPr/>
        </p:nvSpPr>
        <p:spPr>
          <a:xfrm>
            <a:off x="6565392" y="2697480"/>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Iodine adsorption</a:t>
            </a:r>
            <a:endParaRPr lang="en-US" sz="1100" dirty="0"/>
          </a:p>
        </p:txBody>
      </p:sp>
      <p:sp>
        <p:nvSpPr>
          <p:cNvPr id="28" name="Text 26"/>
          <p:cNvSpPr txBox="1"/>
          <p:nvPr/>
        </p:nvSpPr>
        <p:spPr>
          <a:xfrm>
            <a:off x="6565392" y="2953512"/>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32–40 g/kg</a:t>
            </a:r>
            <a:endParaRPr lang="en-US" sz="1500" dirty="0"/>
          </a:p>
        </p:txBody>
      </p:sp>
      <p:sp>
        <p:nvSpPr>
          <p:cNvPr id="29" name="Shape 27"/>
          <p:cNvSpPr/>
          <p:nvPr/>
        </p:nvSpPr>
        <p:spPr>
          <a:xfrm>
            <a:off x="8970264" y="2624328"/>
            <a:ext cx="2414016" cy="731520"/>
          </a:xfrm>
          <a:prstGeom prst="roundRect">
            <a:avLst>
              <a:gd name="adj" fmla="val 12500"/>
            </a:avLst>
          </a:prstGeom>
          <a:solidFill>
            <a:srgbClr val="F3F8FE"/>
          </a:solidFill>
          <a:ln w="9525">
            <a:solidFill>
              <a:srgbClr val="D6E4F5"/>
            </a:solidFill>
            <a:prstDash val="solid"/>
          </a:ln>
        </p:spPr>
      </p:sp>
      <p:sp>
        <p:nvSpPr>
          <p:cNvPr id="30" name="Text 28"/>
          <p:cNvSpPr txBox="1"/>
          <p:nvPr/>
        </p:nvSpPr>
        <p:spPr>
          <a:xfrm>
            <a:off x="9107424" y="2697480"/>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OAN</a:t>
            </a:r>
            <a:endParaRPr lang="en-US" sz="1100" dirty="0"/>
          </a:p>
        </p:txBody>
      </p:sp>
      <p:sp>
        <p:nvSpPr>
          <p:cNvPr id="31" name="Text 29"/>
          <p:cNvSpPr txBox="1"/>
          <p:nvPr/>
        </p:nvSpPr>
        <p:spPr>
          <a:xfrm>
            <a:off x="9107424" y="2953512"/>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85–95 mL/100 g</a:t>
            </a:r>
            <a:endParaRPr lang="en-US" sz="1500" dirty="0"/>
          </a:p>
        </p:txBody>
      </p:sp>
      <p:sp>
        <p:nvSpPr>
          <p:cNvPr id="32" name="Shape 30"/>
          <p:cNvSpPr/>
          <p:nvPr/>
        </p:nvSpPr>
        <p:spPr>
          <a:xfrm>
            <a:off x="6428232" y="3465576"/>
            <a:ext cx="2414016" cy="731520"/>
          </a:xfrm>
          <a:prstGeom prst="roundRect">
            <a:avLst>
              <a:gd name="adj" fmla="val 12500"/>
            </a:avLst>
          </a:prstGeom>
          <a:solidFill>
            <a:srgbClr val="F3F8FE"/>
          </a:solidFill>
          <a:ln w="9525">
            <a:solidFill>
              <a:srgbClr val="D6E4F5"/>
            </a:solidFill>
            <a:prstDash val="solid"/>
          </a:ln>
        </p:spPr>
      </p:sp>
      <p:sp>
        <p:nvSpPr>
          <p:cNvPr id="33" name="Text 31"/>
          <p:cNvSpPr txBox="1"/>
          <p:nvPr/>
        </p:nvSpPr>
        <p:spPr>
          <a:xfrm>
            <a:off x="6565392" y="3538728"/>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COAN</a:t>
            </a:r>
            <a:endParaRPr lang="en-US" sz="1100" dirty="0"/>
          </a:p>
        </p:txBody>
      </p:sp>
      <p:sp>
        <p:nvSpPr>
          <p:cNvPr id="34" name="Text 32"/>
          <p:cNvSpPr txBox="1"/>
          <p:nvPr/>
        </p:nvSpPr>
        <p:spPr>
          <a:xfrm>
            <a:off x="6565392" y="3794760"/>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69–79 mL/100 g</a:t>
            </a:r>
            <a:endParaRPr lang="en-US" sz="1500" dirty="0"/>
          </a:p>
        </p:txBody>
      </p:sp>
      <p:sp>
        <p:nvSpPr>
          <p:cNvPr id="35" name="Shape 33"/>
          <p:cNvSpPr/>
          <p:nvPr/>
        </p:nvSpPr>
        <p:spPr>
          <a:xfrm>
            <a:off x="8970264" y="3465576"/>
            <a:ext cx="2414016" cy="731520"/>
          </a:xfrm>
          <a:prstGeom prst="roundRect">
            <a:avLst>
              <a:gd name="adj" fmla="val 12500"/>
            </a:avLst>
          </a:prstGeom>
          <a:solidFill>
            <a:srgbClr val="F3F8FE"/>
          </a:solidFill>
          <a:ln w="9525">
            <a:solidFill>
              <a:srgbClr val="D6E4F5"/>
            </a:solidFill>
            <a:prstDash val="solid"/>
          </a:ln>
        </p:spPr>
      </p:sp>
      <p:sp>
        <p:nvSpPr>
          <p:cNvPr id="36" name="Text 34"/>
          <p:cNvSpPr txBox="1"/>
          <p:nvPr/>
        </p:nvSpPr>
        <p:spPr>
          <a:xfrm>
            <a:off x="9107424" y="3538728"/>
            <a:ext cx="2139696" cy="256032"/>
          </a:xfrm>
          <a:prstGeom prst="rect">
            <a:avLst/>
          </a:prstGeom>
          <a:noFill/>
          <a:ln/>
        </p:spPr>
        <p:txBody>
          <a:bodyPr wrap="square" lIns="0" tIns="0" rIns="0" bIns="0" rtlCol="0" anchor="t"/>
          <a:lstStyle/>
          <a:p>
            <a:pPr algn="l" indent="0" marL="0">
              <a:buNone/>
            </a:pPr>
            <a:r>
              <a:rPr lang="en-US" sz="1100" dirty="0">
                <a:solidFill>
                  <a:srgbClr val="5B6B7F"/>
                </a:solidFill>
                <a:latin typeface="Calibri" pitchFamily="34" charset="0"/>
                <a:ea typeface="Calibri" pitchFamily="34" charset="-122"/>
                <a:cs typeface="Calibri" pitchFamily="34" charset="-120"/>
              </a:rPr>
              <a:t>pH</a:t>
            </a:r>
            <a:endParaRPr lang="en-US" sz="1100" dirty="0"/>
          </a:p>
        </p:txBody>
      </p:sp>
      <p:sp>
        <p:nvSpPr>
          <p:cNvPr id="37" name="Text 35"/>
          <p:cNvSpPr txBox="1"/>
          <p:nvPr/>
        </p:nvSpPr>
        <p:spPr>
          <a:xfrm>
            <a:off x="9107424" y="3794760"/>
            <a:ext cx="2139696" cy="329184"/>
          </a:xfrm>
          <a:prstGeom prst="rect">
            <a:avLst/>
          </a:prstGeom>
          <a:noFill/>
          <a:ln/>
        </p:spPr>
        <p:txBody>
          <a:bodyPr wrap="square" lIns="0" tIns="0" rIns="0" bIns="0" rtlCol="0" anchor="ctr"/>
          <a:lstStyle/>
          <a:p>
            <a:pPr algn="l" indent="0" marL="0">
              <a:buNone/>
            </a:pPr>
            <a:r>
              <a:rPr lang="en-US" sz="1500" b="1" dirty="0">
                <a:solidFill>
                  <a:srgbClr val="10233F"/>
                </a:solidFill>
                <a:latin typeface="Calibri" pitchFamily="34" charset="0"/>
                <a:ea typeface="Calibri" pitchFamily="34" charset="-122"/>
                <a:cs typeface="Calibri" pitchFamily="34" charset="-120"/>
              </a:rPr>
              <a:t>6.0–10.0</a:t>
            </a:r>
            <a:endParaRPr lang="en-US" sz="1500" dirty="0"/>
          </a:p>
        </p:txBody>
      </p:sp>
      <p:sp>
        <p:nvSpPr>
          <p:cNvPr id="38" name="Text 36"/>
          <p:cNvSpPr txBox="1"/>
          <p:nvPr/>
        </p:nvSpPr>
        <p:spPr>
          <a:xfrm>
            <a:off x="6473952" y="4361688"/>
            <a:ext cx="4892040" cy="566928"/>
          </a:xfrm>
          <a:prstGeom prst="rect">
            <a:avLst/>
          </a:prstGeom>
          <a:noFill/>
          <a:ln/>
        </p:spPr>
        <p:txBody>
          <a:bodyPr wrap="square" lIns="0" tIns="0" rIns="0" bIns="0" rtlCol="0" anchor="t"/>
          <a:lstStyle/>
          <a:p>
            <a:pPr algn="l" indent="0" marL="0">
              <a:buNone/>
            </a:pPr>
            <a:r>
              <a:rPr lang="en-US" sz="1400" b="1" dirty="0">
                <a:solidFill>
                  <a:srgbClr val="E8453C"/>
                </a:solidFill>
                <a:latin typeface="Calibri" pitchFamily="34" charset="0"/>
                <a:ea typeface="Calibri" pitchFamily="34" charset="-122"/>
                <a:cs typeface="Calibri" pitchFamily="34" charset="-120"/>
              </a:rPr>
              <a:t>N550 for extrusion precision; N660 for cost and low heat build-up</a:t>
            </a:r>
            <a:endParaRPr lang="en-US" sz="1400" dirty="0"/>
          </a:p>
        </p:txBody>
      </p:sp>
      <p:sp>
        <p:nvSpPr>
          <p:cNvPr id="39" name="Text 37"/>
          <p:cNvSpPr txBox="1"/>
          <p:nvPr/>
        </p:nvSpPr>
        <p:spPr>
          <a:xfrm>
            <a:off x="6473952" y="4937760"/>
            <a:ext cx="4892040" cy="77724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Coarser particles (typically 49–60 nm) give lower heat build-up, higher loadings and lower cost than N550: innerliners, carcass, hoses, seals and extruded profiles.</a:t>
            </a:r>
            <a:endParaRPr lang="en-US" sz="1300" dirty="0"/>
          </a:p>
        </p:txBody>
      </p:sp>
      <p:sp>
        <p:nvSpPr>
          <p:cNvPr id="40" name="Text 38"/>
          <p:cNvSpPr txBox="1"/>
          <p:nvPr/>
        </p:nvSpPr>
        <p:spPr>
          <a:xfrm>
            <a:off x="6473952" y="5742432"/>
            <a:ext cx="4892040" cy="320040"/>
          </a:xfrm>
          <a:prstGeom prst="rect">
            <a:avLst/>
          </a:prstGeom>
          <a:noFill/>
          <a:ln/>
        </p:spPr>
        <p:txBody>
          <a:bodyPr wrap="square" lIns="0" tIns="0" rIns="0" bIns="0" rtlCol="0" anchor="ctr"/>
          <a:lstStyle/>
          <a:p>
            <a:pPr algn="l" indent="0" marL="0">
              <a:buNone/>
            </a:pPr>
            <a:r>
              <a:rPr lang="en-US" sz="1200" b="1" dirty="0">
                <a:solidFill>
                  <a:srgbClr val="E8453C"/>
                </a:solidFill>
                <a:latin typeface="Calibri" pitchFamily="34" charset="0"/>
                <a:ea typeface="Calibri" pitchFamily="34" charset="-122"/>
                <a:cs typeface="Calibri" pitchFamily="34" charset="-120"/>
              </a:rPr>
              <a:t>Produced at: Fangchenggang, Guangxi</a:t>
            </a:r>
            <a:endParaRPr lang="en-US" sz="12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Grade Selection Guide</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417320"/>
                <a:gridCol w="3273552"/>
                <a:gridCol w="1280160"/>
                <a:gridCol w="1280160"/>
                <a:gridCol w="1280160"/>
                <a:gridCol w="1280160"/>
                <a:gridCol w="1280160"/>
              </a:tblGrid>
              <a:tr h="352044">
                <a:tc>
                  <a:txBody>
                    <a:bodyPr/>
                    <a:lstStyle/>
                    <a:p>
                      <a:pPr algn="l" indent="0" marL="0">
                        <a:buNone/>
                      </a:pP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N220</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N330</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N326</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N550</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N660</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r>
              <a:tr h="352044">
                <a:tc rowSpan="5">
                  <a:txBody>
                    <a:bodyPr/>
                    <a:lstStyle/>
                    <a:p>
                      <a:pPr algn="ctr" indent="0" marL="0">
                        <a:buNone/>
                      </a:pPr>
                      <a:r>
                        <a:rPr lang="en-US" sz="1300" b="1" dirty="0">
                          <a:solidFill>
                            <a:srgbClr val="0B4DA2"/>
                          </a:solidFill>
                          <a:latin typeface="Calibri" pitchFamily="34" charset="0"/>
                          <a:ea typeface="Calibri" pitchFamily="34" charset="-122"/>
                          <a:cs typeface="Calibri" pitchFamily="34" charset="-120"/>
                        </a:rPr>
                        <a:t>Tires</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E8F1FC"/>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Tread</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65C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Sidewall</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500" dirty="0">
                          <a:solidFill>
                            <a:srgbClr val="1565C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Carcass / ply</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Innerliner</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Steel-cord skim &amp; bead</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52044">
                <a:tc rowSpan="6">
                  <a:txBody>
                    <a:bodyPr/>
                    <a:lstStyle/>
                    <a:p>
                      <a:pPr algn="ctr" indent="0" marL="0">
                        <a:buNone/>
                      </a:pPr>
                      <a:r>
                        <a:rPr lang="en-US" sz="1300" b="1" dirty="0">
                          <a:solidFill>
                            <a:srgbClr val="0B4DA2"/>
                          </a:solidFill>
                          <a:latin typeface="Calibri" pitchFamily="34" charset="0"/>
                          <a:ea typeface="Calibri" pitchFamily="34" charset="-122"/>
                          <a:cs typeface="Calibri" pitchFamily="34" charset="-120"/>
                        </a:rPr>
                        <a:t>Rubber goods</a:t>
                      </a:r>
                      <a:endParaRPr lang="en-US" sz="130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E8F1FC"/>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Conveyor-belt covers</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Hoses</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65C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Seals &amp; extruded profiles</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Cable sheathing</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Anti-vibration parts</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500" dirty="0">
                          <a:solidFill>
                            <a:srgbClr val="1565C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52044">
                <a:tc vMerge="1">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Footwear soles</a:t>
                      </a:r>
                      <a:endParaRPr lang="en-US" sz="1250" dirty="0">
                        <a:latin typeface="Calibri" charset="0"/>
                        <a:ea typeface="Calibri" charset="0"/>
                        <a:cs typeface="Calibri"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B4DA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65C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endParaRPr lang="en-US" sz="1500" dirty="0">
                        <a:latin typeface="Arial" charset="0"/>
                        <a:ea typeface="Arial" charset="0"/>
                        <a:cs typeface="Arial" charset="0"/>
                      </a:endParaRPr>
                    </a:p>
                  </a:txBody>
                  <a:tcPr marL="109728" marR="109728"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669280"/>
            <a:ext cx="11091672" cy="502920"/>
          </a:xfrm>
          <a:prstGeom prst="roundRect">
            <a:avLst>
              <a:gd name="adj" fmla="val 25455"/>
            </a:avLst>
          </a:prstGeom>
          <a:solidFill>
            <a:srgbClr val="FFFFFF">
              <a:alpha val="92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5" name="Text 2"/>
          <p:cNvSpPr txBox="1"/>
          <p:nvPr/>
        </p:nvSpPr>
        <p:spPr>
          <a:xfrm>
            <a:off x="777240" y="5669280"/>
            <a:ext cx="10698480" cy="502920"/>
          </a:xfrm>
          <a:prstGeom prst="rect">
            <a:avLst/>
          </a:prstGeom>
          <a:noFill/>
          <a:ln/>
        </p:spPr>
        <p:txBody>
          <a:bodyPr wrap="square" lIns="0" tIns="0" rIns="0" bIns="0" rtlCol="0" anchor="ctr"/>
          <a:lstStyle/>
          <a:p>
            <a:pPr algn="l" indent="0" marL="0">
              <a:buNone/>
            </a:pPr>
            <a:r>
              <a:rPr lang="en-US" sz="1200" dirty="0">
                <a:solidFill>
                  <a:srgbClr val="10233F"/>
                </a:solidFill>
                <a:latin typeface="Calibri" pitchFamily="34" charset="0"/>
                <a:ea typeface="Calibri" pitchFamily="34" charset="-122"/>
                <a:cs typeface="Calibri" pitchFamily="34" charset="-120"/>
              </a:rPr>
              <a:t>●  Recommended      ○  Also used      Final choice depends on your compound and process — we are glad to review your current formulation.</a:t>
            </a:r>
            <a:endParaRPr lang="en-US" sz="12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Technical Data Sheet</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514600"/>
                <a:gridCol w="1051560"/>
                <a:gridCol w="1097280"/>
                <a:gridCol w="1097280"/>
                <a:gridCol w="1097280"/>
                <a:gridCol w="1097280"/>
                <a:gridCol w="1097280"/>
                <a:gridCol w="2039112"/>
              </a:tblGrid>
              <a:tr h="3429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Property</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N220</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N330</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N326</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N550</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N660</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Test method</a:t>
                      </a:r>
                      <a:endParaRPr lang="en-US" sz="130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0B4DA2"/>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Iodine adsorption</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g/kg</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121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82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82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39–47</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32–40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3780.1-2015</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Oil absorption (OAN)</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mL/100 g</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114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102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72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116–126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85–95</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3780.2-2017</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Compressed OAN (COAN)</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mL/100 g</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98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88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68 ± 6</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80–90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69–79</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3780.4-2017</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Tint strength</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116 ± 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104 ± 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111 ± 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3780.6-2016</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Heating loss (125 °C, 1 h)</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0.8</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3780.8-2019</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Ash content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0.7</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0.7</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0.7</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0.5</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0.5</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3780.10-2017</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45 µm sieve residue</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ppm</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300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300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300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300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300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3780.21-2016</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Fines content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7.0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7.0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7.0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10.0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 7.0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14853.2-2016</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Pellet hardness</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cN</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30 ± 10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30 ± 10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30 ± 10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14853.6-2013</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pH</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5.0–9.0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5.0–9.0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5.0–9.0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5.0–9.0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6.0–10.0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3780.7-2016</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3F8FE"/>
                    </a:solidFill>
                  </a:tcPr>
                </a:tc>
              </a:tr>
              <a:tr h="342900">
                <a:tc>
                  <a:txBody>
                    <a:bodyPr/>
                    <a:lstStyle/>
                    <a:p>
                      <a:pPr algn="l" indent="0" marL="0">
                        <a:buNone/>
                      </a:pPr>
                      <a:r>
                        <a:rPr lang="en-US" sz="1250" b="1" dirty="0">
                          <a:solidFill>
                            <a:srgbClr val="10233F"/>
                          </a:solidFill>
                          <a:latin typeface="Calibri" pitchFamily="34" charset="0"/>
                          <a:ea typeface="Calibri" pitchFamily="34" charset="-122"/>
                          <a:cs typeface="Calibri" pitchFamily="34" charset="-120"/>
                        </a:rPr>
                        <a:t>Pour density</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B6B7F"/>
                          </a:solidFill>
                          <a:latin typeface="Calibri" pitchFamily="34" charset="0"/>
                          <a:ea typeface="Calibri" pitchFamily="34" charset="-122"/>
                          <a:cs typeface="Calibri" pitchFamily="34" charset="-120"/>
                        </a:rPr>
                        <a:t>kg/m³</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355 ± 40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380 ± 40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455 ± 40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320–400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400–480</a:t>
                      </a:r>
                      <a:endParaRPr lang="en-US" sz="12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5B6B7F"/>
                          </a:solidFill>
                          <a:latin typeface="Calibri" pitchFamily="34" charset="0"/>
                          <a:ea typeface="Calibri" pitchFamily="34" charset="-122"/>
                          <a:cs typeface="Calibri" pitchFamily="34" charset="-120"/>
                        </a:rPr>
                        <a:t>GB/T 14853.1-2013</a:t>
                      </a:r>
                      <a:endParaRPr lang="en-US" sz="1150" dirty="0">
                        <a:latin typeface="Calibri" charset="0"/>
                        <a:ea typeface="Calibri" charset="0"/>
                        <a:cs typeface="Calibri" charset="0"/>
                      </a:endParaRPr>
                    </a:p>
                  </a:txBody>
                  <a:tcPr marL="91440" marR="91440" marT="0" marB="0" anchor="ctr">
                    <a:lnL w="9525" cap="flat" cmpd="sng" algn="ctr">
                      <a:solidFill>
                        <a:srgbClr val="D6E2F0"/>
                      </a:solidFill>
                      <a:prstDash val="solid"/>
                      <a:round/>
                      <a:headEnd type="none" w="med" len="med"/>
                      <a:tailEnd type="none" w="med" len="med"/>
                    </a:lnL>
                    <a:lnR w="9525" cap="flat" cmpd="sng" algn="ctr">
                      <a:solidFill>
                        <a:srgbClr val="D6E2F0"/>
                      </a:solidFill>
                      <a:prstDash val="solid"/>
                      <a:round/>
                      <a:headEnd type="none" w="med" len="med"/>
                      <a:tailEnd type="none" w="med" len="med"/>
                    </a:lnR>
                    <a:lnT w="9525" cap="flat" cmpd="sng" algn="ctr">
                      <a:solidFill>
                        <a:srgbClr val="D6E2F0"/>
                      </a:solidFill>
                      <a:prstDash val="solid"/>
                      <a:round/>
                      <a:headEnd type="none" w="med" len="med"/>
                      <a:tailEnd type="none" w="med" len="med"/>
                    </a:lnT>
                    <a:lnB w="9525" cap="flat" cmpd="sng" algn="ctr">
                      <a:solidFill>
                        <a:srgbClr val="D6E2F0"/>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650992"/>
            <a:ext cx="11091672" cy="548640"/>
          </a:xfrm>
          <a:prstGeom prst="roundRect">
            <a:avLst>
              <a:gd name="adj" fmla="val 23333"/>
            </a:avLst>
          </a:prstGeom>
          <a:solidFill>
            <a:srgbClr val="FFFFFF">
              <a:alpha val="92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5" name="Text 2"/>
          <p:cNvSpPr txBox="1"/>
          <p:nvPr/>
        </p:nvSpPr>
        <p:spPr>
          <a:xfrm>
            <a:off x="777240" y="5650992"/>
            <a:ext cx="10698480" cy="548640"/>
          </a:xfrm>
          <a:prstGeom prst="rect">
            <a:avLst/>
          </a:prstGeom>
          <a:noFill/>
          <a:ln/>
        </p:spPr>
        <p:txBody>
          <a:bodyPr wrap="square" lIns="0" tIns="0" rIns="0" bIns="0" rtlCol="0" anchor="ctr"/>
          <a:lstStyle/>
          <a:p>
            <a:pPr algn="l" indent="0" marL="0">
              <a:buNone/>
            </a:pPr>
            <a:r>
              <a:rPr lang="en-US" sz="1150" dirty="0">
                <a:solidFill>
                  <a:srgbClr val="10233F"/>
                </a:solidFill>
                <a:latin typeface="Calibri" pitchFamily="34" charset="0"/>
                <a:ea typeface="Calibri" pitchFamily="34" charset="-122"/>
                <a:cs typeface="Calibri" pitchFamily="34" charset="-120"/>
              </a:rPr>
              <a:t>Product specifications of Zhejiang Changhong Biological Material Co., Ltd. OAN and COAN in mL/100 g (= 10⁻⁵ m³/kg). Packing: 25 kg bags; 500 kg and 1,000 kg jumbo bags.</a:t>
            </a:r>
            <a:endParaRPr lang="en-US" sz="115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3355848" y="502920"/>
            <a:ext cx="5486400" cy="2377440"/>
          </a:xfrm>
          <a:prstGeom prst="rect">
            <a:avLst/>
          </a:prstGeom>
          <a:noFill/>
          <a:ln/>
        </p:spPr>
        <p:txBody>
          <a:bodyPr wrap="square" lIns="0" tIns="0" rIns="0" bIns="0" rtlCol="0" anchor="ctr"/>
          <a:lstStyle/>
          <a:p>
            <a:pPr algn="ctr" indent="0" marL="0">
              <a:buNone/>
            </a:pPr>
            <a:r>
              <a:rPr lang="en-US" sz="19000" b="1" dirty="0">
                <a:ln w="25400">
                  <a:solidFill>
                    <a:srgbClr val="D5E1EE"/>
                  </a:solidFill>
                </a:ln>
                <a:solidFill>
                  <a:srgbClr val="FFFFFF">
                    <a:alpha val="30000"/>
                  </a:srgbClr>
                </a:solidFill>
                <a:latin typeface="Arial" pitchFamily="34" charset="0"/>
                <a:ea typeface="Arial" pitchFamily="34" charset="-122"/>
                <a:cs typeface="Arial" pitchFamily="34" charset="-120"/>
              </a:rPr>
              <a:t>04</a:t>
            </a:r>
            <a:endParaRPr lang="en-US" sz="19000" dirty="0"/>
          </a:p>
        </p:txBody>
      </p:sp>
      <p:sp>
        <p:nvSpPr>
          <p:cNvPr id="3" name="Text 1"/>
          <p:cNvSpPr txBox="1"/>
          <p:nvPr/>
        </p:nvSpPr>
        <p:spPr>
          <a:xfrm>
            <a:off x="822960" y="2331720"/>
            <a:ext cx="10543032" cy="1097280"/>
          </a:xfrm>
          <a:prstGeom prst="rect">
            <a:avLst/>
          </a:prstGeom>
          <a:noFill/>
          <a:ln/>
        </p:spPr>
        <p:txBody>
          <a:bodyPr wrap="square" lIns="0" tIns="0" rIns="0" bIns="0" rtlCol="0" anchor="ctr"/>
          <a:lstStyle/>
          <a:p>
            <a:pPr algn="ctr" indent="0" marL="0">
              <a:lnSpc>
                <a:spcPct val="95000"/>
              </a:lnSpc>
              <a:buNone/>
            </a:pPr>
            <a:r>
              <a:rPr lang="en-US" sz="6000" b="1" dirty="0">
                <a:solidFill>
                  <a:srgbClr val="0B4DA2"/>
                </a:solidFill>
                <a:effectLst>
                  <a:glow rad="127000">
                    <a:srgbClr val="FFFFFF">
                      <a:alpha val="90000"/>
                    </a:srgbClr>
                  </a:glow>
                </a:effectLst>
                <a:latin typeface="Cambria" pitchFamily="34" charset="0"/>
                <a:ea typeface="Cambria" pitchFamily="34" charset="-122"/>
                <a:cs typeface="Cambria" pitchFamily="34" charset="-120"/>
              </a:rPr>
              <a:t>Working With Us</a:t>
            </a:r>
            <a:endParaRPr lang="en-US" sz="6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4" type="title" hasCustomPrompt="1"/>
          </p:nvPr>
        </p:nvSpPr>
        <p:spPr>
          <a:xfrm>
            <a:off x="786384" y="182880"/>
            <a:ext cx="8503920" cy="621792"/>
          </a:xfrm>
          <a:prstGeom prst="rect">
            <a:avLst/>
          </a:prstGeom>
          <a:noFill/>
          <a:ln/>
        </p:spPr>
        <p:txBody>
          <a:bodyPr wrap="square" lIns="0" tIns="0" rIns="0" bIns="0" rtlCol="0" anchor="ctr"/>
          <a:lstStyle/>
          <a:p>
            <a:pPr algn="l" indent="0" marL="0">
              <a:buNone/>
            </a:pPr>
            <a:r>
              <a:rPr lang="en-US" sz="2800" b="1" dirty="0">
                <a:solidFill>
                  <a:srgbClr val="10233F"/>
                </a:solidFill>
                <a:effectLst>
                  <a:glow rad="63500">
                    <a:srgbClr val="FFFFFF">
                      <a:alpha val="90000"/>
                    </a:srgbClr>
                  </a:glow>
                </a:effectLst>
                <a:latin typeface="Arial" pitchFamily="34" charset="0"/>
                <a:ea typeface="Arial" pitchFamily="34" charset="-122"/>
                <a:cs typeface="Arial" pitchFamily="34" charset="-120"/>
              </a:rPr>
              <a:t>From Sample to Supply</a:t>
            </a:r>
            <a:endParaRPr lang="en-US" sz="2800" dirty="0"/>
          </a:p>
        </p:txBody>
      </p:sp>
      <p:sp>
        <p:nvSpPr>
          <p:cNvPr id="3" name="Shape 1"/>
          <p:cNvSpPr/>
          <p:nvPr/>
        </p:nvSpPr>
        <p:spPr>
          <a:xfrm>
            <a:off x="548640" y="1325880"/>
            <a:ext cx="2615184" cy="292608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4" name="Shape 2"/>
          <p:cNvSpPr/>
          <p:nvPr/>
        </p:nvSpPr>
        <p:spPr>
          <a:xfrm>
            <a:off x="777240" y="1581912"/>
            <a:ext cx="1097280" cy="530352"/>
          </a:xfrm>
          <a:prstGeom prst="homePlate">
            <a:avLst/>
          </a:prstGeom>
          <a:solidFill>
            <a:srgbClr val="0B4DA2"/>
          </a:solidFill>
          <a:ln w="12700">
            <a:solidFill>
              <a:srgbClr val="0B4DA2"/>
            </a:solidFill>
            <a:prstDash val="solid"/>
          </a:ln>
        </p:spPr>
      </p:sp>
      <p:sp>
        <p:nvSpPr>
          <p:cNvPr id="5" name="Text 3"/>
          <p:cNvSpPr txBox="1"/>
          <p:nvPr/>
        </p:nvSpPr>
        <p:spPr>
          <a:xfrm>
            <a:off x="777240" y="1581912"/>
            <a:ext cx="9144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pic>
        <p:nvPicPr>
          <p:cNvPr id="6" name="Image 0" descr="/tmp/claude-0/-home-user-keyuan/fe094a75-461e-584f-b109-946f5642fe8f/scratchpad/build/img/icon_search_b.png">    </p:cNvPr>
          <p:cNvPicPr>
            <a:picLocks noChangeAspect="1"/>
          </p:cNvPicPr>
          <p:nvPr/>
        </p:nvPicPr>
        <p:blipFill>
          <a:blip r:embed="rId1"/>
          <a:stretch>
            <a:fillRect/>
          </a:stretch>
        </p:blipFill>
        <p:spPr>
          <a:xfrm>
            <a:off x="2432304" y="1600200"/>
            <a:ext cx="475488" cy="475488"/>
          </a:xfrm>
          <a:prstGeom prst="rect">
            <a:avLst/>
          </a:prstGeom>
        </p:spPr>
      </p:pic>
      <p:sp>
        <p:nvSpPr>
          <p:cNvPr id="7" name="Text 4"/>
          <p:cNvSpPr txBox="1"/>
          <p:nvPr/>
        </p:nvSpPr>
        <p:spPr>
          <a:xfrm>
            <a:off x="777240" y="2286000"/>
            <a:ext cx="2157984" cy="384048"/>
          </a:xfrm>
          <a:prstGeom prst="rect">
            <a:avLst/>
          </a:prstGeom>
          <a:noFill/>
          <a:ln/>
        </p:spPr>
        <p:txBody>
          <a:bodyPr wrap="square" lIns="0" tIns="0" rIns="0" bIns="0" rtlCol="0" anchor="ctr"/>
          <a:lstStyle/>
          <a:p>
            <a:pPr algn="l" indent="0" marL="0">
              <a:buNone/>
            </a:pPr>
            <a:r>
              <a:rPr lang="en-US" sz="1650" b="1" dirty="0">
                <a:solidFill>
                  <a:srgbClr val="10233F"/>
                </a:solidFill>
                <a:latin typeface="Arial" pitchFamily="34" charset="0"/>
                <a:ea typeface="Arial" pitchFamily="34" charset="-122"/>
                <a:cs typeface="Arial" pitchFamily="34" charset="-120"/>
              </a:rPr>
              <a:t>Grade match</a:t>
            </a:r>
            <a:endParaRPr lang="en-US" sz="1650" dirty="0"/>
          </a:p>
        </p:txBody>
      </p:sp>
      <p:sp>
        <p:nvSpPr>
          <p:cNvPr id="8" name="Text 5"/>
          <p:cNvSpPr txBox="1"/>
          <p:nvPr/>
        </p:nvSpPr>
        <p:spPr>
          <a:xfrm>
            <a:off x="777240" y="2715768"/>
            <a:ext cx="2157984" cy="14630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Share your current grade, compound and specification; we propose the matching grade with our TDS and recent COA data.</a:t>
            </a:r>
            <a:endParaRPr lang="en-US" sz="1350" dirty="0"/>
          </a:p>
        </p:txBody>
      </p:sp>
      <p:sp>
        <p:nvSpPr>
          <p:cNvPr id="9" name="Shape 6"/>
          <p:cNvSpPr/>
          <p:nvPr/>
        </p:nvSpPr>
        <p:spPr>
          <a:xfrm>
            <a:off x="3374136" y="1325880"/>
            <a:ext cx="2615184" cy="292608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0" name="Shape 7"/>
          <p:cNvSpPr/>
          <p:nvPr/>
        </p:nvSpPr>
        <p:spPr>
          <a:xfrm>
            <a:off x="3602736" y="1581912"/>
            <a:ext cx="1097280" cy="530352"/>
          </a:xfrm>
          <a:prstGeom prst="homePlate">
            <a:avLst/>
          </a:prstGeom>
          <a:solidFill>
            <a:srgbClr val="0B4DA2"/>
          </a:solidFill>
          <a:ln w="12700">
            <a:solidFill>
              <a:srgbClr val="0B4DA2"/>
            </a:solidFill>
            <a:prstDash val="solid"/>
          </a:ln>
        </p:spPr>
      </p:sp>
      <p:sp>
        <p:nvSpPr>
          <p:cNvPr id="11" name="Text 8"/>
          <p:cNvSpPr txBox="1"/>
          <p:nvPr/>
        </p:nvSpPr>
        <p:spPr>
          <a:xfrm>
            <a:off x="3602736" y="1581912"/>
            <a:ext cx="9144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pic>
        <p:nvPicPr>
          <p:cNvPr id="12" name="Image 1" descr="/tmp/claude-0/-home-user-keyuan/fe094a75-461e-584f-b109-946f5642fe8f/scratchpad/build/img/icon_flask_b.png">    </p:cNvPr>
          <p:cNvPicPr>
            <a:picLocks noChangeAspect="1"/>
          </p:cNvPicPr>
          <p:nvPr/>
        </p:nvPicPr>
        <p:blipFill>
          <a:blip r:embed="rId2"/>
          <a:stretch>
            <a:fillRect/>
          </a:stretch>
        </p:blipFill>
        <p:spPr>
          <a:xfrm>
            <a:off x="5257800" y="1600200"/>
            <a:ext cx="475488" cy="475488"/>
          </a:xfrm>
          <a:prstGeom prst="rect">
            <a:avLst/>
          </a:prstGeom>
        </p:spPr>
      </p:pic>
      <p:sp>
        <p:nvSpPr>
          <p:cNvPr id="13" name="Text 9"/>
          <p:cNvSpPr txBox="1"/>
          <p:nvPr/>
        </p:nvSpPr>
        <p:spPr>
          <a:xfrm>
            <a:off x="3602736" y="2286000"/>
            <a:ext cx="2157984" cy="384048"/>
          </a:xfrm>
          <a:prstGeom prst="rect">
            <a:avLst/>
          </a:prstGeom>
          <a:noFill/>
          <a:ln/>
        </p:spPr>
        <p:txBody>
          <a:bodyPr wrap="square" lIns="0" tIns="0" rIns="0" bIns="0" rtlCol="0" anchor="ctr"/>
          <a:lstStyle/>
          <a:p>
            <a:pPr algn="l" indent="0" marL="0">
              <a:buNone/>
            </a:pPr>
            <a:r>
              <a:rPr lang="en-US" sz="1650" b="1" dirty="0">
                <a:solidFill>
                  <a:srgbClr val="10233F"/>
                </a:solidFill>
                <a:latin typeface="Arial" pitchFamily="34" charset="0"/>
                <a:ea typeface="Arial" pitchFamily="34" charset="-122"/>
                <a:cs typeface="Arial" pitchFamily="34" charset="-120"/>
              </a:rPr>
              <a:t>Samples &amp; lab test</a:t>
            </a:r>
            <a:endParaRPr lang="en-US" sz="1650" dirty="0"/>
          </a:p>
        </p:txBody>
      </p:sp>
      <p:sp>
        <p:nvSpPr>
          <p:cNvPr id="14" name="Text 10"/>
          <p:cNvSpPr txBox="1"/>
          <p:nvPr/>
        </p:nvSpPr>
        <p:spPr>
          <a:xfrm>
            <a:off x="3602736" y="2715768"/>
            <a:ext cx="2157984" cy="14630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Samples with a COA for lab evaluation and a side-by-side comparison with your current black.</a:t>
            </a:r>
            <a:endParaRPr lang="en-US" sz="1350" dirty="0"/>
          </a:p>
        </p:txBody>
      </p:sp>
      <p:sp>
        <p:nvSpPr>
          <p:cNvPr id="15" name="Shape 11"/>
          <p:cNvSpPr/>
          <p:nvPr/>
        </p:nvSpPr>
        <p:spPr>
          <a:xfrm>
            <a:off x="6199632" y="1325880"/>
            <a:ext cx="2615184" cy="292608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16" name="Shape 12"/>
          <p:cNvSpPr/>
          <p:nvPr/>
        </p:nvSpPr>
        <p:spPr>
          <a:xfrm>
            <a:off x="6428232" y="1581912"/>
            <a:ext cx="1097280" cy="530352"/>
          </a:xfrm>
          <a:prstGeom prst="homePlate">
            <a:avLst/>
          </a:prstGeom>
          <a:solidFill>
            <a:srgbClr val="0B4DA2"/>
          </a:solidFill>
          <a:ln w="12700">
            <a:solidFill>
              <a:srgbClr val="0B4DA2"/>
            </a:solidFill>
            <a:prstDash val="solid"/>
          </a:ln>
        </p:spPr>
      </p:sp>
      <p:sp>
        <p:nvSpPr>
          <p:cNvPr id="17" name="Text 13"/>
          <p:cNvSpPr txBox="1"/>
          <p:nvPr/>
        </p:nvSpPr>
        <p:spPr>
          <a:xfrm>
            <a:off x="6428232" y="1581912"/>
            <a:ext cx="9144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pic>
        <p:nvPicPr>
          <p:cNvPr id="18" name="Image 2" descr="/tmp/claude-0/-home-user-keyuan/fe094a75-461e-584f-b109-946f5642fe8f/scratchpad/build/img/icon_box_b.png">    </p:cNvPr>
          <p:cNvPicPr>
            <a:picLocks noChangeAspect="1"/>
          </p:cNvPicPr>
          <p:nvPr/>
        </p:nvPicPr>
        <p:blipFill>
          <a:blip r:embed="rId3"/>
          <a:stretch>
            <a:fillRect/>
          </a:stretch>
        </p:blipFill>
        <p:spPr>
          <a:xfrm>
            <a:off x="8083296" y="1600200"/>
            <a:ext cx="475488" cy="475488"/>
          </a:xfrm>
          <a:prstGeom prst="rect">
            <a:avLst/>
          </a:prstGeom>
        </p:spPr>
      </p:pic>
      <p:sp>
        <p:nvSpPr>
          <p:cNvPr id="19" name="Text 14"/>
          <p:cNvSpPr txBox="1"/>
          <p:nvPr/>
        </p:nvSpPr>
        <p:spPr>
          <a:xfrm>
            <a:off x="6428232" y="2286000"/>
            <a:ext cx="2157984" cy="384048"/>
          </a:xfrm>
          <a:prstGeom prst="rect">
            <a:avLst/>
          </a:prstGeom>
          <a:noFill/>
          <a:ln/>
        </p:spPr>
        <p:txBody>
          <a:bodyPr wrap="square" lIns="0" tIns="0" rIns="0" bIns="0" rtlCol="0" anchor="ctr"/>
          <a:lstStyle/>
          <a:p>
            <a:pPr algn="l" indent="0" marL="0">
              <a:buNone/>
            </a:pPr>
            <a:r>
              <a:rPr lang="en-US" sz="1650" b="1" dirty="0">
                <a:solidFill>
                  <a:srgbClr val="10233F"/>
                </a:solidFill>
                <a:latin typeface="Arial" pitchFamily="34" charset="0"/>
                <a:ea typeface="Arial" pitchFamily="34" charset="-122"/>
                <a:cs typeface="Arial" pitchFamily="34" charset="-120"/>
              </a:rPr>
              <a:t>Trial order</a:t>
            </a:r>
            <a:endParaRPr lang="en-US" sz="1650" dirty="0"/>
          </a:p>
        </p:txBody>
      </p:sp>
      <p:sp>
        <p:nvSpPr>
          <p:cNvPr id="20" name="Text 15"/>
          <p:cNvSpPr txBox="1"/>
          <p:nvPr/>
        </p:nvSpPr>
        <p:spPr>
          <a:xfrm>
            <a:off x="6428232" y="2715768"/>
            <a:ext cx="2157984" cy="14630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A trial lot in production confirms lot-to-lot consistency before volumes grow.</a:t>
            </a:r>
            <a:endParaRPr lang="en-US" sz="1350" dirty="0"/>
          </a:p>
        </p:txBody>
      </p:sp>
      <p:sp>
        <p:nvSpPr>
          <p:cNvPr id="21" name="Shape 16"/>
          <p:cNvSpPr/>
          <p:nvPr/>
        </p:nvSpPr>
        <p:spPr>
          <a:xfrm>
            <a:off x="9025128" y="1325880"/>
            <a:ext cx="2615184" cy="2926080"/>
          </a:xfrm>
          <a:prstGeom prst="roundRect">
            <a:avLst>
              <a:gd name="adj" fmla="val 4895"/>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2" name="Shape 17"/>
          <p:cNvSpPr/>
          <p:nvPr/>
        </p:nvSpPr>
        <p:spPr>
          <a:xfrm>
            <a:off x="9253728" y="1581912"/>
            <a:ext cx="1097280" cy="530352"/>
          </a:xfrm>
          <a:prstGeom prst="homePlate">
            <a:avLst/>
          </a:prstGeom>
          <a:solidFill>
            <a:srgbClr val="E8453C"/>
          </a:solidFill>
          <a:ln w="12700">
            <a:solidFill>
              <a:srgbClr val="E8453C"/>
            </a:solidFill>
            <a:prstDash val="solid"/>
          </a:ln>
        </p:spPr>
      </p:sp>
      <p:sp>
        <p:nvSpPr>
          <p:cNvPr id="23" name="Text 18"/>
          <p:cNvSpPr txBox="1"/>
          <p:nvPr/>
        </p:nvSpPr>
        <p:spPr>
          <a:xfrm>
            <a:off x="9253728" y="1581912"/>
            <a:ext cx="9144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04</a:t>
            </a:r>
            <a:endParaRPr lang="en-US" sz="2000" dirty="0"/>
          </a:p>
        </p:txBody>
      </p:sp>
      <p:pic>
        <p:nvPicPr>
          <p:cNvPr id="24" name="Image 3" descr="/tmp/claude-0/-home-user-keyuan/fe094a75-461e-584f-b109-946f5642fe8f/scratchpad/build/img/icon_ship_b.png">    </p:cNvPr>
          <p:cNvPicPr>
            <a:picLocks noChangeAspect="1"/>
          </p:cNvPicPr>
          <p:nvPr/>
        </p:nvPicPr>
        <p:blipFill>
          <a:blip r:embed="rId4"/>
          <a:stretch>
            <a:fillRect/>
          </a:stretch>
        </p:blipFill>
        <p:spPr>
          <a:xfrm>
            <a:off x="10908792" y="1600200"/>
            <a:ext cx="475488" cy="475488"/>
          </a:xfrm>
          <a:prstGeom prst="rect">
            <a:avLst/>
          </a:prstGeom>
        </p:spPr>
      </p:pic>
      <p:sp>
        <p:nvSpPr>
          <p:cNvPr id="25" name="Text 19"/>
          <p:cNvSpPr txBox="1"/>
          <p:nvPr/>
        </p:nvSpPr>
        <p:spPr>
          <a:xfrm>
            <a:off x="9253728" y="2286000"/>
            <a:ext cx="2157984" cy="384048"/>
          </a:xfrm>
          <a:prstGeom prst="rect">
            <a:avLst/>
          </a:prstGeom>
          <a:noFill/>
          <a:ln/>
        </p:spPr>
        <p:txBody>
          <a:bodyPr wrap="square" lIns="0" tIns="0" rIns="0" bIns="0" rtlCol="0" anchor="ctr"/>
          <a:lstStyle/>
          <a:p>
            <a:pPr algn="l" indent="0" marL="0">
              <a:buNone/>
            </a:pPr>
            <a:r>
              <a:rPr lang="en-US" sz="1650" b="1" dirty="0">
                <a:solidFill>
                  <a:srgbClr val="10233F"/>
                </a:solidFill>
                <a:latin typeface="Arial" pitchFamily="34" charset="0"/>
                <a:ea typeface="Arial" pitchFamily="34" charset="-122"/>
                <a:cs typeface="Arial" pitchFamily="34" charset="-120"/>
              </a:rPr>
              <a:t>Regular supply</a:t>
            </a:r>
            <a:endParaRPr lang="en-US" sz="1650" dirty="0"/>
          </a:p>
        </p:txBody>
      </p:sp>
      <p:sp>
        <p:nvSpPr>
          <p:cNvPr id="26" name="Text 20"/>
          <p:cNvSpPr txBox="1"/>
          <p:nvPr/>
        </p:nvSpPr>
        <p:spPr>
          <a:xfrm>
            <a:off x="9253728" y="2715768"/>
            <a:ext cx="2157984" cy="1463040"/>
          </a:xfrm>
          <a:prstGeom prst="rect">
            <a:avLst/>
          </a:prstGeom>
          <a:noFill/>
          <a:ln/>
        </p:spPr>
        <p:txBody>
          <a:bodyPr wrap="square" lIns="0" tIns="0" rIns="0" bIns="0" rtlCol="0" anchor="t"/>
          <a:lstStyle/>
          <a:p>
            <a:pPr algn="l" indent="0" marL="0">
              <a:buNone/>
            </a:pPr>
            <a:r>
              <a:rPr lang="en-US" sz="1350" dirty="0">
                <a:solidFill>
                  <a:srgbClr val="1F2937"/>
                </a:solidFill>
                <a:latin typeface="Calibri" pitchFamily="34" charset="0"/>
                <a:ea typeface="Calibri" pitchFamily="34" charset="-122"/>
                <a:cs typeface="Calibri" pitchFamily="34" charset="-120"/>
              </a:rPr>
              <a:t>Scheduled container shipments from Ningbo or the Beibu Gulf, with a COA for every lot.</a:t>
            </a:r>
            <a:endParaRPr lang="en-US" sz="1350" dirty="0"/>
          </a:p>
        </p:txBody>
      </p:sp>
      <p:sp>
        <p:nvSpPr>
          <p:cNvPr id="27" name="Shape 21"/>
          <p:cNvSpPr/>
          <p:nvPr/>
        </p:nvSpPr>
        <p:spPr>
          <a:xfrm>
            <a:off x="548640" y="4480560"/>
            <a:ext cx="11091672" cy="1719072"/>
          </a:xfrm>
          <a:prstGeom prst="roundRect">
            <a:avLst>
              <a:gd name="adj" fmla="val 7447"/>
            </a:avLst>
          </a:prstGeom>
          <a:solidFill>
            <a:srgbClr val="FFFFFF">
              <a:alpha val="96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28" name="Text 22"/>
          <p:cNvSpPr txBox="1"/>
          <p:nvPr/>
        </p:nvSpPr>
        <p:spPr>
          <a:xfrm>
            <a:off x="777240" y="4590288"/>
            <a:ext cx="3657600" cy="365760"/>
          </a:xfrm>
          <a:prstGeom prst="rect">
            <a:avLst/>
          </a:prstGeom>
          <a:noFill/>
          <a:ln/>
        </p:spPr>
        <p:txBody>
          <a:bodyPr wrap="square" lIns="0" tIns="0" rIns="0" bIns="0" rtlCol="0" anchor="ctr"/>
          <a:lstStyle/>
          <a:p>
            <a:pPr algn="l" indent="0" marL="0">
              <a:buNone/>
            </a:pPr>
            <a:r>
              <a:rPr lang="en-US" sz="1550" b="1" dirty="0">
                <a:solidFill>
                  <a:srgbClr val="10233F"/>
                </a:solidFill>
                <a:latin typeface="Arial" pitchFamily="34" charset="0"/>
                <a:ea typeface="Arial" pitchFamily="34" charset="-122"/>
                <a:cs typeface="Arial" pitchFamily="34" charset="-120"/>
              </a:rPr>
              <a:t>Commercial terms</a:t>
            </a:r>
            <a:endParaRPr lang="en-US" sz="1550" dirty="0"/>
          </a:p>
        </p:txBody>
      </p:sp>
      <p:sp>
        <p:nvSpPr>
          <p:cNvPr id="29" name="Shape 23"/>
          <p:cNvSpPr/>
          <p:nvPr/>
        </p:nvSpPr>
        <p:spPr>
          <a:xfrm>
            <a:off x="777240" y="5074920"/>
            <a:ext cx="502920" cy="502920"/>
          </a:xfrm>
          <a:prstGeom prst="ellipse">
            <a:avLst/>
          </a:prstGeom>
          <a:solidFill>
            <a:srgbClr val="0B4DA2"/>
          </a:solidFill>
          <a:ln w="12700">
            <a:solidFill>
              <a:srgbClr val="0B4DA2"/>
            </a:solidFill>
            <a:prstDash val="solid"/>
          </a:ln>
        </p:spPr>
      </p:sp>
      <p:pic>
        <p:nvPicPr>
          <p:cNvPr id="30" name="Image 4" descr="/tmp/claude-0/-home-user-keyuan/fe094a75-461e-584f-b109-946f5642fe8f/scratchpad/build/img/icon_box_w.png">    </p:cNvPr>
          <p:cNvPicPr>
            <a:picLocks noChangeAspect="1"/>
          </p:cNvPicPr>
          <p:nvPr/>
        </p:nvPicPr>
        <p:blipFill>
          <a:blip r:embed="rId5"/>
          <a:stretch>
            <a:fillRect/>
          </a:stretch>
        </p:blipFill>
        <p:spPr>
          <a:xfrm>
            <a:off x="907999" y="5205679"/>
            <a:ext cx="241402" cy="241402"/>
          </a:xfrm>
          <a:prstGeom prst="rect">
            <a:avLst/>
          </a:prstGeom>
        </p:spPr>
      </p:pic>
      <p:sp>
        <p:nvSpPr>
          <p:cNvPr id="31" name="Text 24"/>
          <p:cNvSpPr txBox="1"/>
          <p:nvPr/>
        </p:nvSpPr>
        <p:spPr>
          <a:xfrm>
            <a:off x="1417320" y="5038344"/>
            <a:ext cx="1965960" cy="274320"/>
          </a:xfrm>
          <a:prstGeom prst="rect">
            <a:avLst/>
          </a:prstGeom>
          <a:noFill/>
          <a:ln/>
        </p:spPr>
        <p:txBody>
          <a:bodyPr wrap="square" lIns="0" tIns="0" rIns="0" bIns="0" rtlCol="0" anchor="ctr"/>
          <a:lstStyle/>
          <a:p>
            <a:pPr algn="l" indent="0" marL="0">
              <a:buNone/>
            </a:pPr>
            <a:r>
              <a:rPr lang="en-US" sz="1250" b="1" dirty="0">
                <a:solidFill>
                  <a:srgbClr val="0B4DA2"/>
                </a:solidFill>
                <a:latin typeface="Calibri" pitchFamily="34" charset="0"/>
                <a:ea typeface="Calibri" pitchFamily="34" charset="-122"/>
                <a:cs typeface="Calibri" pitchFamily="34" charset="-120"/>
              </a:rPr>
              <a:t>Packing</a:t>
            </a:r>
            <a:endParaRPr lang="en-US" sz="1250" dirty="0"/>
          </a:p>
        </p:txBody>
      </p:sp>
      <p:sp>
        <p:nvSpPr>
          <p:cNvPr id="32" name="Text 25"/>
          <p:cNvSpPr txBox="1"/>
          <p:nvPr/>
        </p:nvSpPr>
        <p:spPr>
          <a:xfrm>
            <a:off x="1417320" y="5312664"/>
            <a:ext cx="1965960" cy="82296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25 kg bags; 500 / 1,000 kg jumbo bags</a:t>
            </a:r>
            <a:endParaRPr lang="en-US" sz="1200" dirty="0"/>
          </a:p>
        </p:txBody>
      </p:sp>
      <p:sp>
        <p:nvSpPr>
          <p:cNvPr id="33" name="Shape 26"/>
          <p:cNvSpPr/>
          <p:nvPr/>
        </p:nvSpPr>
        <p:spPr>
          <a:xfrm>
            <a:off x="3520440" y="5074920"/>
            <a:ext cx="502920" cy="502920"/>
          </a:xfrm>
          <a:prstGeom prst="ellipse">
            <a:avLst/>
          </a:prstGeom>
          <a:solidFill>
            <a:srgbClr val="0B4DA2"/>
          </a:solidFill>
          <a:ln w="12700">
            <a:solidFill>
              <a:srgbClr val="0B4DA2"/>
            </a:solidFill>
            <a:prstDash val="solid"/>
          </a:ln>
        </p:spPr>
      </p:sp>
      <p:pic>
        <p:nvPicPr>
          <p:cNvPr id="34" name="Image 5" descr="/tmp/claude-0/-home-user-keyuan/fe094a75-461e-584f-b109-946f5642fe8f/scratchpad/build/img/icon_globe_w.png">    </p:cNvPr>
          <p:cNvPicPr>
            <a:picLocks noChangeAspect="1"/>
          </p:cNvPicPr>
          <p:nvPr/>
        </p:nvPicPr>
        <p:blipFill>
          <a:blip r:embed="rId6"/>
          <a:stretch>
            <a:fillRect/>
          </a:stretch>
        </p:blipFill>
        <p:spPr>
          <a:xfrm>
            <a:off x="3651199" y="5205679"/>
            <a:ext cx="241402" cy="241402"/>
          </a:xfrm>
          <a:prstGeom prst="rect">
            <a:avLst/>
          </a:prstGeom>
        </p:spPr>
      </p:pic>
      <p:sp>
        <p:nvSpPr>
          <p:cNvPr id="35" name="Text 27"/>
          <p:cNvSpPr txBox="1"/>
          <p:nvPr/>
        </p:nvSpPr>
        <p:spPr>
          <a:xfrm>
            <a:off x="4160520" y="5038344"/>
            <a:ext cx="1965960" cy="274320"/>
          </a:xfrm>
          <a:prstGeom prst="rect">
            <a:avLst/>
          </a:prstGeom>
          <a:noFill/>
          <a:ln/>
        </p:spPr>
        <p:txBody>
          <a:bodyPr wrap="square" lIns="0" tIns="0" rIns="0" bIns="0" rtlCol="0" anchor="ctr"/>
          <a:lstStyle/>
          <a:p>
            <a:pPr algn="l" indent="0" marL="0">
              <a:buNone/>
            </a:pPr>
            <a:r>
              <a:rPr lang="en-US" sz="1250" b="1" dirty="0">
                <a:solidFill>
                  <a:srgbClr val="0B4DA2"/>
                </a:solidFill>
                <a:latin typeface="Calibri" pitchFamily="34" charset="0"/>
                <a:ea typeface="Calibri" pitchFamily="34" charset="-122"/>
                <a:cs typeface="Calibri" pitchFamily="34" charset="-120"/>
              </a:rPr>
              <a:t>Incoterms</a:t>
            </a:r>
            <a:endParaRPr lang="en-US" sz="1250" dirty="0"/>
          </a:p>
        </p:txBody>
      </p:sp>
      <p:sp>
        <p:nvSpPr>
          <p:cNvPr id="36" name="Text 28"/>
          <p:cNvSpPr txBox="1"/>
          <p:nvPr/>
        </p:nvSpPr>
        <p:spPr>
          <a:xfrm>
            <a:off x="4160520" y="5312664"/>
            <a:ext cx="1965960" cy="82296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FOB · CFR · CIF</a:t>
            </a:r>
            <a:endParaRPr lang="en-US" sz="1200" dirty="0"/>
          </a:p>
        </p:txBody>
      </p:sp>
      <p:sp>
        <p:nvSpPr>
          <p:cNvPr id="37" name="Shape 29"/>
          <p:cNvSpPr/>
          <p:nvPr/>
        </p:nvSpPr>
        <p:spPr>
          <a:xfrm>
            <a:off x="6263640" y="5074920"/>
            <a:ext cx="502920" cy="502920"/>
          </a:xfrm>
          <a:prstGeom prst="ellipse">
            <a:avLst/>
          </a:prstGeom>
          <a:solidFill>
            <a:srgbClr val="0B4DA2"/>
          </a:solidFill>
          <a:ln w="12700">
            <a:solidFill>
              <a:srgbClr val="0B4DA2"/>
            </a:solidFill>
            <a:prstDash val="solid"/>
          </a:ln>
        </p:spPr>
      </p:sp>
      <p:pic>
        <p:nvPicPr>
          <p:cNvPr id="38" name="Image 6" descr="/tmp/claude-0/-home-user-keyuan/fe094a75-461e-584f-b109-946f5642fe8f/scratchpad/build/img/icon_money_w.png">    </p:cNvPr>
          <p:cNvPicPr>
            <a:picLocks noChangeAspect="1"/>
          </p:cNvPicPr>
          <p:nvPr/>
        </p:nvPicPr>
        <p:blipFill>
          <a:blip r:embed="rId7"/>
          <a:stretch>
            <a:fillRect/>
          </a:stretch>
        </p:blipFill>
        <p:spPr>
          <a:xfrm>
            <a:off x="6394399" y="5205679"/>
            <a:ext cx="241402" cy="241402"/>
          </a:xfrm>
          <a:prstGeom prst="rect">
            <a:avLst/>
          </a:prstGeom>
        </p:spPr>
      </p:pic>
      <p:sp>
        <p:nvSpPr>
          <p:cNvPr id="39" name="Text 30"/>
          <p:cNvSpPr txBox="1"/>
          <p:nvPr/>
        </p:nvSpPr>
        <p:spPr>
          <a:xfrm>
            <a:off x="6903720" y="5038344"/>
            <a:ext cx="1965960" cy="274320"/>
          </a:xfrm>
          <a:prstGeom prst="rect">
            <a:avLst/>
          </a:prstGeom>
          <a:noFill/>
          <a:ln/>
        </p:spPr>
        <p:txBody>
          <a:bodyPr wrap="square" lIns="0" tIns="0" rIns="0" bIns="0" rtlCol="0" anchor="ctr"/>
          <a:lstStyle/>
          <a:p>
            <a:pPr algn="l" indent="0" marL="0">
              <a:buNone/>
            </a:pPr>
            <a:r>
              <a:rPr lang="en-US" sz="1250" b="1" dirty="0">
                <a:solidFill>
                  <a:srgbClr val="0B4DA2"/>
                </a:solidFill>
                <a:latin typeface="Calibri" pitchFamily="34" charset="0"/>
                <a:ea typeface="Calibri" pitchFamily="34" charset="-122"/>
                <a:cs typeface="Calibri" pitchFamily="34" charset="-120"/>
              </a:rPr>
              <a:t>Payment</a:t>
            </a:r>
            <a:endParaRPr lang="en-US" sz="1250" dirty="0"/>
          </a:p>
        </p:txBody>
      </p:sp>
      <p:sp>
        <p:nvSpPr>
          <p:cNvPr id="40" name="Text 31"/>
          <p:cNvSpPr txBox="1"/>
          <p:nvPr/>
        </p:nvSpPr>
        <p:spPr>
          <a:xfrm>
            <a:off x="6903720" y="5312664"/>
            <a:ext cx="1965960" cy="82296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T/T or L/C, subject to credit approval</a:t>
            </a:r>
            <a:endParaRPr lang="en-US" sz="1200" dirty="0"/>
          </a:p>
        </p:txBody>
      </p:sp>
      <p:sp>
        <p:nvSpPr>
          <p:cNvPr id="41" name="Shape 32"/>
          <p:cNvSpPr/>
          <p:nvPr/>
        </p:nvSpPr>
        <p:spPr>
          <a:xfrm>
            <a:off x="9006840" y="5074920"/>
            <a:ext cx="502920" cy="502920"/>
          </a:xfrm>
          <a:prstGeom prst="ellipse">
            <a:avLst/>
          </a:prstGeom>
          <a:solidFill>
            <a:srgbClr val="0B4DA2"/>
          </a:solidFill>
          <a:ln w="12700">
            <a:solidFill>
              <a:srgbClr val="0B4DA2"/>
            </a:solidFill>
            <a:prstDash val="solid"/>
          </a:ln>
        </p:spPr>
      </p:sp>
      <p:pic>
        <p:nvPicPr>
          <p:cNvPr id="42" name="Image 7" descr="/tmp/claude-0/-home-user-keyuan/fe094a75-461e-584f-b109-946f5642fe8f/scratchpad/build/img/icon_doc_w.png">    </p:cNvPr>
          <p:cNvPicPr>
            <a:picLocks noChangeAspect="1"/>
          </p:cNvPicPr>
          <p:nvPr/>
        </p:nvPicPr>
        <p:blipFill>
          <a:blip r:embed="rId8"/>
          <a:stretch>
            <a:fillRect/>
          </a:stretch>
        </p:blipFill>
        <p:spPr>
          <a:xfrm>
            <a:off x="9137599" y="5205679"/>
            <a:ext cx="241402" cy="241402"/>
          </a:xfrm>
          <a:prstGeom prst="rect">
            <a:avLst/>
          </a:prstGeom>
        </p:spPr>
      </p:pic>
      <p:sp>
        <p:nvSpPr>
          <p:cNvPr id="43" name="Text 33"/>
          <p:cNvSpPr txBox="1"/>
          <p:nvPr/>
        </p:nvSpPr>
        <p:spPr>
          <a:xfrm>
            <a:off x="9646920" y="5038344"/>
            <a:ext cx="1965960" cy="274320"/>
          </a:xfrm>
          <a:prstGeom prst="rect">
            <a:avLst/>
          </a:prstGeom>
          <a:noFill/>
          <a:ln/>
        </p:spPr>
        <p:txBody>
          <a:bodyPr wrap="square" lIns="0" tIns="0" rIns="0" bIns="0" rtlCol="0" anchor="ctr"/>
          <a:lstStyle/>
          <a:p>
            <a:pPr algn="l" indent="0" marL="0">
              <a:buNone/>
            </a:pPr>
            <a:r>
              <a:rPr lang="en-US" sz="1250" b="1" dirty="0">
                <a:solidFill>
                  <a:srgbClr val="0B4DA2"/>
                </a:solidFill>
                <a:latin typeface="Calibri" pitchFamily="34" charset="0"/>
                <a:ea typeface="Calibri" pitchFamily="34" charset="-122"/>
                <a:cs typeface="Calibri" pitchFamily="34" charset="-120"/>
              </a:rPr>
              <a:t>Documents</a:t>
            </a:r>
            <a:endParaRPr lang="en-US" sz="1250" dirty="0"/>
          </a:p>
        </p:txBody>
      </p:sp>
      <p:sp>
        <p:nvSpPr>
          <p:cNvPr id="44" name="Text 34"/>
          <p:cNvSpPr txBox="1"/>
          <p:nvPr/>
        </p:nvSpPr>
        <p:spPr>
          <a:xfrm>
            <a:off x="9646920" y="5312664"/>
            <a:ext cx="1965960" cy="82296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COA per lot · TDS · Form E / RCEP C/O · HS 2803.00</a:t>
            </a:r>
            <a:endParaRPr lang="en-US" sz="1200" dirty="0"/>
          </a:p>
        </p:txBody>
      </p:sp>
      <p:sp>
        <p:nvSpPr>
          <p:cNvPr id="25" name="Slide Number Placeholder 0"/>
          <p:cNvSpPr>
            <a:spLocks noGrp="1"/>
          </p:cNvSpPr>
          <p:nvPr>
            <p:ph type="sldNum" sz="quarter" idx="4294967295"/>
          </p:nvPr>
        </p:nvSpPr>
        <p:spPr>
          <a:xfrm>
            <a:off x="113842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3108960" y="411480"/>
            <a:ext cx="5971032" cy="1143000"/>
          </a:xfrm>
          <a:prstGeom prst="rect">
            <a:avLst/>
          </a:prstGeom>
          <a:noFill/>
          <a:ln/>
        </p:spPr>
        <p:txBody>
          <a:bodyPr wrap="square" lIns="0" tIns="0" rIns="0" bIns="0" rtlCol="0" anchor="ctr"/>
          <a:lstStyle/>
          <a:p>
            <a:pPr algn="ctr" indent="0" marL="0">
              <a:buNone/>
            </a:pPr>
            <a:r>
              <a:rPr lang="en-US" sz="6400" b="1" dirty="0">
                <a:ln w="15875">
                  <a:solidFill>
                    <a:srgbClr val="C3D3E6"/>
                  </a:solidFill>
                </a:ln>
                <a:solidFill>
                  <a:srgbClr val="FFFFFF">
                    <a:alpha val="15000"/>
                  </a:srgbClr>
                </a:solidFill>
                <a:latin typeface="Arial" pitchFamily="34" charset="0"/>
                <a:ea typeface="Arial" pitchFamily="34" charset="-122"/>
                <a:cs typeface="Arial" pitchFamily="34" charset="-120"/>
              </a:rPr>
              <a:t>CHANGHONG</a:t>
            </a:r>
            <a:endParaRPr lang="en-US" sz="6400" dirty="0"/>
          </a:p>
        </p:txBody>
      </p:sp>
      <p:sp>
        <p:nvSpPr>
          <p:cNvPr id="3" name="Text 1"/>
          <p:cNvSpPr txBox="1"/>
          <p:nvPr/>
        </p:nvSpPr>
        <p:spPr>
          <a:xfrm>
            <a:off x="914400" y="1600200"/>
            <a:ext cx="10360152" cy="1463040"/>
          </a:xfrm>
          <a:prstGeom prst="rect">
            <a:avLst/>
          </a:prstGeom>
          <a:noFill/>
          <a:ln/>
        </p:spPr>
        <p:txBody>
          <a:bodyPr wrap="square" lIns="0" tIns="0" rIns="0" bIns="0" rtlCol="0" anchor="ctr"/>
          <a:lstStyle/>
          <a:p>
            <a:pPr algn="ctr" indent="0" marL="0">
              <a:buNone/>
            </a:pPr>
            <a:r>
              <a:rPr lang="en-US" sz="8800" b="1" i="1" dirty="0">
                <a:solidFill>
                  <a:srgbClr val="1E88E5"/>
                </a:solidFill>
                <a:effectLst>
                  <a:glow rad="152400">
                    <a:srgbClr val="FFFFFF">
                      <a:alpha val="95000"/>
                    </a:srgbClr>
                  </a:glow>
                </a:effectLst>
                <a:latin typeface="Cambria" pitchFamily="34" charset="0"/>
                <a:ea typeface="Cambria" pitchFamily="34" charset="-122"/>
                <a:cs typeface="Cambria" pitchFamily="34" charset="-120"/>
              </a:rPr>
              <a:t>Thank you</a:t>
            </a:r>
            <a:endParaRPr lang="en-US" sz="8800" dirty="0"/>
          </a:p>
        </p:txBody>
      </p:sp>
      <p:sp>
        <p:nvSpPr>
          <p:cNvPr id="4" name="Shape 2"/>
          <p:cNvSpPr/>
          <p:nvPr/>
        </p:nvSpPr>
        <p:spPr>
          <a:xfrm>
            <a:off x="1527048" y="3401568"/>
            <a:ext cx="9144000" cy="1828800"/>
          </a:xfrm>
          <a:prstGeom prst="roundRect">
            <a:avLst>
              <a:gd name="adj" fmla="val 8000"/>
            </a:avLst>
          </a:prstGeom>
          <a:solidFill>
            <a:srgbClr val="FFFFFF">
              <a:alpha val="88000"/>
            </a:srgbClr>
          </a:solidFill>
          <a:ln w="12700">
            <a:solidFill>
              <a:srgbClr val="FFFFFF"/>
            </a:solidFill>
            <a:prstDash val="solid"/>
          </a:ln>
          <a:effectLst>
            <a:outerShdw sx="100000" sy="100000" kx="0" ky="0" algn="bl" rotWithShape="0" blurRad="127000" dist="38100" dir="5400000">
              <a:srgbClr val="0B2A55">
                <a:alpha val="18000"/>
              </a:srgbClr>
            </a:outerShdw>
          </a:effectLst>
        </p:spPr>
      </p:sp>
      <p:sp>
        <p:nvSpPr>
          <p:cNvPr id="5" name="Text 3"/>
          <p:cNvSpPr txBox="1"/>
          <p:nvPr/>
        </p:nvSpPr>
        <p:spPr>
          <a:xfrm>
            <a:off x="1828800" y="3538728"/>
            <a:ext cx="5120640" cy="1554480"/>
          </a:xfrm>
          <a:prstGeom prst="rect">
            <a:avLst/>
          </a:prstGeom>
          <a:noFill/>
          <a:ln/>
        </p:spPr>
        <p:txBody>
          <a:bodyPr wrap="square" lIns="0" tIns="0" rIns="0" bIns="0" rtlCol="0" anchor="ctr"/>
          <a:lstStyle/>
          <a:p>
            <a:pPr algn="l" indent="0" marL="0">
              <a:lnSpc>
                <a:spcPct val="112000"/>
              </a:lnSpc>
              <a:buNone/>
            </a:pPr>
            <a:r>
              <a:rPr lang="en-US" sz="2000" b="1" dirty="0">
                <a:solidFill>
                  <a:srgbClr val="10233F"/>
                </a:solidFill>
                <a:latin typeface="Calibri" pitchFamily="34" charset="0"/>
                <a:ea typeface="Calibri" pitchFamily="34" charset="-122"/>
                <a:cs typeface="Calibri" pitchFamily="34" charset="-120"/>
              </a:rPr>
              <a:t>Xuzhe (Batiste) Gao</a:t>
            </a:r>
            <a:endParaRPr lang="en-US" sz="2000" dirty="0"/>
          </a:p>
          <a:p>
            <a:pPr algn="l" indent="0" marL="0">
              <a:lnSpc>
                <a:spcPct val="112000"/>
              </a:lnSpc>
              <a:buNone/>
            </a:pPr>
            <a:r>
              <a:rPr lang="en-US" sz="1300" dirty="0">
                <a:solidFill>
                  <a:srgbClr val="1F2937"/>
                </a:solidFill>
                <a:latin typeface="Calibri" pitchFamily="34" charset="0"/>
                <a:ea typeface="Calibri" pitchFamily="34" charset="-122"/>
                <a:cs typeface="Calibri" pitchFamily="34" charset="-120"/>
              </a:rPr>
              <a:t>Marketing Division II / Carbon Black</a:t>
            </a:r>
            <a:endParaRPr lang="en-US" sz="2000" dirty="0"/>
          </a:p>
          <a:p>
            <a:pPr algn="l" indent="0" marL="0">
              <a:lnSpc>
                <a:spcPct val="112000"/>
              </a:lnSpc>
              <a:buNone/>
            </a:pPr>
            <a:r>
              <a:rPr lang="en-US" sz="1300" dirty="0">
                <a:solidFill>
                  <a:srgbClr val="1F2937"/>
                </a:solidFill>
                <a:latin typeface="Calibri" pitchFamily="34" charset="0"/>
                <a:ea typeface="Calibri" pitchFamily="34" charset="-122"/>
                <a:cs typeface="Calibri" pitchFamily="34" charset="-120"/>
              </a:rPr>
              <a:t>Keyuan Holding Group Co., Ltd.</a:t>
            </a:r>
            <a:endParaRPr lang="en-US" sz="2000" dirty="0"/>
          </a:p>
          <a:p>
            <a:pPr algn="l" indent="0" marL="0">
              <a:lnSpc>
                <a:spcPct val="112000"/>
              </a:lnSpc>
              <a:buNone/>
            </a:pPr>
            <a:r>
              <a:rPr lang="en-US" sz="1250" dirty="0">
                <a:solidFill>
                  <a:srgbClr val="1F2937"/>
                </a:solidFill>
                <a:latin typeface="Calibri" pitchFamily="34" charset="0"/>
                <a:ea typeface="Calibri" pitchFamily="34" charset="-122"/>
                <a:cs typeface="Calibri" pitchFamily="34" charset="-120"/>
              </a:rPr>
              <a:t>ZHEJIANG CHANGHONG BIOLOGICAL MATERIAL CO., LTD.</a:t>
            </a:r>
            <a:endParaRPr lang="en-US" sz="2000" dirty="0"/>
          </a:p>
        </p:txBody>
      </p:sp>
      <p:sp>
        <p:nvSpPr>
          <p:cNvPr id="6" name="Shape 4"/>
          <p:cNvSpPr/>
          <p:nvPr/>
        </p:nvSpPr>
        <p:spPr>
          <a:xfrm>
            <a:off x="7132320" y="3657600"/>
            <a:ext cx="0" cy="1316736"/>
          </a:xfrm>
          <a:prstGeom prst="line">
            <a:avLst/>
          </a:prstGeom>
          <a:noFill/>
          <a:ln w="12700">
            <a:solidFill>
              <a:srgbClr val="B9CFEA"/>
            </a:solidFill>
            <a:prstDash val="solid"/>
          </a:ln>
        </p:spPr>
      </p:sp>
      <p:sp>
        <p:nvSpPr>
          <p:cNvPr id="7" name="Text 5"/>
          <p:cNvSpPr txBox="1"/>
          <p:nvPr/>
        </p:nvSpPr>
        <p:spPr>
          <a:xfrm>
            <a:off x="7406640" y="3538728"/>
            <a:ext cx="3108960" cy="1554480"/>
          </a:xfrm>
          <a:prstGeom prst="rect">
            <a:avLst/>
          </a:prstGeom>
          <a:noFill/>
          <a:ln/>
        </p:spPr>
        <p:txBody>
          <a:bodyPr wrap="square" lIns="0" tIns="0" rIns="0" bIns="0" rtlCol="0" anchor="ctr"/>
          <a:lstStyle/>
          <a:p>
            <a:pPr algn="l" indent="0" marL="0">
              <a:lnSpc>
                <a:spcPct val="125000"/>
              </a:lnSpc>
              <a:buNone/>
            </a:pPr>
            <a:r>
              <a:rPr lang="en-US" sz="1300" b="1" dirty="0">
                <a:solidFill>
                  <a:srgbClr val="0B4DA2"/>
                </a:solidFill>
                <a:latin typeface="Calibri" pitchFamily="34" charset="0"/>
                <a:ea typeface="Calibri" pitchFamily="34" charset="-122"/>
                <a:cs typeface="Calibri" pitchFamily="34" charset="-120"/>
              </a:rPr>
              <a:t>Work Email: </a:t>
            </a:r>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gaoxz@kygroup.ltd</a:t>
            </a:r>
            <a:endParaRPr lang="en-US" sz="1300" dirty="0"/>
          </a:p>
          <a:p>
            <a:pPr algn="l" indent="0" marL="0">
              <a:lnSpc>
                <a:spcPct val="125000"/>
              </a:lnSpc>
              <a:buNone/>
            </a:pPr>
            <a:r>
              <a:rPr lang="en-US" sz="1300" b="1" dirty="0">
                <a:solidFill>
                  <a:srgbClr val="0B4DA2"/>
                </a:solidFill>
                <a:latin typeface="Calibri" pitchFamily="34" charset="0"/>
                <a:ea typeface="Calibri" pitchFamily="34" charset="-122"/>
                <a:cs typeface="Calibri" pitchFamily="34" charset="-120"/>
              </a:rPr>
              <a:t>Personal Email: </a:t>
            </a:r>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ish566002@gmail.com</a:t>
            </a:r>
            <a:endParaRPr lang="en-US" sz="1300" dirty="0"/>
          </a:p>
          <a:p>
            <a:pPr algn="l" indent="0" marL="0">
              <a:lnSpc>
                <a:spcPct val="125000"/>
              </a:lnSpc>
              <a:buNone/>
            </a:pPr>
            <a:r>
              <a:rPr lang="en-US" sz="1300" b="1" dirty="0">
                <a:solidFill>
                  <a:srgbClr val="0B4DA2"/>
                </a:solidFill>
                <a:latin typeface="Calibri" pitchFamily="34" charset="0"/>
                <a:ea typeface="Calibri" pitchFamily="34" charset="-122"/>
                <a:cs typeface="Calibri" pitchFamily="34" charset="-120"/>
              </a:rPr>
              <a:t>WhatsApp: </a:t>
            </a:r>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+44 7536 287291</a:t>
            </a:r>
            <a:endParaRPr lang="en-US" sz="1300" dirty="0"/>
          </a:p>
          <a:p>
            <a:pPr algn="l" indent="0" marL="0">
              <a:lnSpc>
                <a:spcPct val="125000"/>
              </a:lnSpc>
              <a:buNone/>
            </a:pPr>
            <a:r>
              <a:rPr lang="en-US" sz="1300" b="1" dirty="0">
                <a:solidFill>
                  <a:srgbClr val="0B4DA2"/>
                </a:solidFill>
                <a:latin typeface="Calibri" pitchFamily="34" charset="0"/>
                <a:ea typeface="Calibri" pitchFamily="34" charset="-122"/>
                <a:cs typeface="Calibri" pitchFamily="34" charset="-120"/>
              </a:rPr>
              <a:t>Mobile: </a:t>
            </a:r>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+86 15990233826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Zhejiang Changhong Biological Material Co.,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Changhong Carbon Black</dc:title>
  <dc:subject>Carbon black product presentation</dc:subject>
  <dc:creator>Xuzhe (Batiste) Gao</dc:creator>
  <cp:lastModifiedBy>Xuzhe (Batiste) Gao</cp:lastModifiedBy>
  <cp:revision>1</cp:revision>
  <dcterms:created xsi:type="dcterms:W3CDTF">2026-09-28T08:13:08Z</dcterms:created>
  <dcterms:modified xsi:type="dcterms:W3CDTF">2026-09-28T08:13:08Z</dcterms:modified>
</cp:coreProperties>
</file>